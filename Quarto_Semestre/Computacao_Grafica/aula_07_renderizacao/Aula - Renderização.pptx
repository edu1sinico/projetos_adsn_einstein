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85" r:id="rId2"/>
    <p:sldId id="286" r:id="rId3"/>
    <p:sldId id="287" r:id="rId4"/>
    <p:sldId id="288" r:id="rId5"/>
    <p:sldId id="289" r:id="rId6"/>
    <p:sldId id="291" r:id="rId7"/>
    <p:sldId id="290" r:id="rId8"/>
    <p:sldId id="292" r:id="rId9"/>
    <p:sldId id="293" r:id="rId10"/>
    <p:sldId id="294" r:id="rId11"/>
    <p:sldId id="295" r:id="rId12"/>
    <p:sldId id="296" r:id="rId13"/>
    <p:sldId id="297" r:id="rId14"/>
    <p:sldId id="298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72"/>
    <p:restoredTop sz="92212"/>
  </p:normalViewPr>
  <p:slideViewPr>
    <p:cSldViewPr snapToGrid="0" snapToObjects="1">
      <p:cViewPr varScale="1">
        <p:scale>
          <a:sx n="97" d="100"/>
          <a:sy n="97" d="100"/>
        </p:scale>
        <p:origin x="13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8" t="8122" b="4060"/>
          <a:stretch/>
        </p:blipFill>
        <p:spPr>
          <a:xfrm>
            <a:off x="0" y="1246910"/>
            <a:ext cx="12192000" cy="5650579"/>
          </a:xfrm>
          <a:prstGeom prst="rect">
            <a:avLst/>
          </a:prstGeom>
        </p:spPr>
      </p:pic>
      <p:sp>
        <p:nvSpPr>
          <p:cNvPr id="9" name="Retângulo 8"/>
          <p:cNvSpPr/>
          <p:nvPr userDrawn="1"/>
        </p:nvSpPr>
        <p:spPr>
          <a:xfrm>
            <a:off x="0" y="4"/>
            <a:ext cx="12192000" cy="612949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10" name="Retângulo 9"/>
          <p:cNvSpPr/>
          <p:nvPr userDrawn="1"/>
        </p:nvSpPr>
        <p:spPr>
          <a:xfrm>
            <a:off x="0" y="612949"/>
            <a:ext cx="12192000" cy="633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pic>
        <p:nvPicPr>
          <p:cNvPr id="17" name="Imagem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47" y="747161"/>
            <a:ext cx="343903" cy="267584"/>
          </a:xfrm>
          <a:prstGeom prst="rect">
            <a:avLst/>
          </a:prstGeom>
        </p:spPr>
      </p:pic>
      <p:sp>
        <p:nvSpPr>
          <p:cNvPr id="11" name="Retângulo 10"/>
          <p:cNvSpPr/>
          <p:nvPr userDrawn="1"/>
        </p:nvSpPr>
        <p:spPr>
          <a:xfrm>
            <a:off x="0" y="1266572"/>
            <a:ext cx="12192000" cy="5611091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12" name="Retângulo 8"/>
          <p:cNvSpPr/>
          <p:nvPr userDrawn="1"/>
        </p:nvSpPr>
        <p:spPr>
          <a:xfrm>
            <a:off x="0" y="1148708"/>
            <a:ext cx="6096000" cy="5709292"/>
          </a:xfrm>
          <a:custGeom>
            <a:avLst/>
            <a:gdLst>
              <a:gd name="connsiteX0" fmla="*/ 0 w 6096000"/>
              <a:gd name="connsiteY0" fmla="*/ 0 h 5709292"/>
              <a:gd name="connsiteX1" fmla="*/ 6096000 w 6096000"/>
              <a:gd name="connsiteY1" fmla="*/ 0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  <a:gd name="connsiteX0" fmla="*/ 0 w 6096000"/>
              <a:gd name="connsiteY0" fmla="*/ 0 h 5709292"/>
              <a:gd name="connsiteX1" fmla="*/ 2531918 w 6096000"/>
              <a:gd name="connsiteY1" fmla="*/ 31173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  <a:gd name="connsiteX0" fmla="*/ 0 w 6096000"/>
              <a:gd name="connsiteY0" fmla="*/ 0 h 5709292"/>
              <a:gd name="connsiteX1" fmla="*/ 2895600 w 6096000"/>
              <a:gd name="connsiteY1" fmla="*/ 10391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  <a:gd name="connsiteX0" fmla="*/ 0 w 6096000"/>
              <a:gd name="connsiteY0" fmla="*/ 0 h 5709292"/>
              <a:gd name="connsiteX1" fmla="*/ 2885210 w 6096000"/>
              <a:gd name="connsiteY1" fmla="*/ 0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5709292">
                <a:moveTo>
                  <a:pt x="0" y="0"/>
                </a:moveTo>
                <a:lnTo>
                  <a:pt x="2885210" y="0"/>
                </a:lnTo>
                <a:lnTo>
                  <a:pt x="6096000" y="5709292"/>
                </a:lnTo>
                <a:lnTo>
                  <a:pt x="0" y="5709292"/>
                </a:lnTo>
                <a:lnTo>
                  <a:pt x="0" y="0"/>
                </a:lnTo>
                <a:close/>
              </a:path>
            </a:pathLst>
          </a:cu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13" name="Retângulo 12"/>
          <p:cNvSpPr/>
          <p:nvPr userDrawn="1"/>
        </p:nvSpPr>
        <p:spPr>
          <a:xfrm>
            <a:off x="0" y="6316995"/>
            <a:ext cx="12192000" cy="156545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</p:spTree>
    <p:extLst>
      <p:ext uri="{BB962C8B-B14F-4D97-AF65-F5344CB8AC3E}">
        <p14:creationId xmlns:p14="http://schemas.microsoft.com/office/powerpoint/2010/main" val="4076070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Imagem 9"/>
          <p:cNvSpPr>
            <a:spLocks noGrp="1"/>
          </p:cNvSpPr>
          <p:nvPr>
            <p:ph type="pic" sz="quarter" idx="11"/>
          </p:nvPr>
        </p:nvSpPr>
        <p:spPr>
          <a:xfrm>
            <a:off x="6528050" y="1917585"/>
            <a:ext cx="4825753" cy="3743667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/>
            </a:lvl1pPr>
          </a:lstStyle>
          <a:p>
            <a:endParaRPr lang="pt-BR" dirty="0"/>
          </a:p>
        </p:txBody>
      </p:sp>
      <p:sp>
        <p:nvSpPr>
          <p:cNvPr id="10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6528048" y="5766104"/>
            <a:ext cx="4840053" cy="410863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2994" indent="0" algn="r">
              <a:lnSpc>
                <a:spcPct val="100000"/>
              </a:lnSpc>
              <a:spcBef>
                <a:spcPts val="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Fonte da imagem / ID da imagem</a:t>
            </a:r>
          </a:p>
        </p:txBody>
      </p:sp>
      <p:sp>
        <p:nvSpPr>
          <p:cNvPr id="11" name="Espaço Reservado para Texto 7"/>
          <p:cNvSpPr>
            <a:spLocks noGrp="1" noChangeAspect="1"/>
          </p:cNvSpPr>
          <p:nvPr>
            <p:ph type="body" sz="quarter" idx="14"/>
          </p:nvPr>
        </p:nvSpPr>
        <p:spPr>
          <a:xfrm>
            <a:off x="1415483" y="1514000"/>
            <a:ext cx="4741639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2"/>
          <p:cNvSpPr>
            <a:spLocks noGrp="1"/>
          </p:cNvSpPr>
          <p:nvPr>
            <p:ph type="body" sz="quarter" idx="15" hasCustomPrompt="1"/>
          </p:nvPr>
        </p:nvSpPr>
        <p:spPr>
          <a:xfrm>
            <a:off x="6528050" y="1514000"/>
            <a:ext cx="4825753" cy="40358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marR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pt-BR" sz="1800" b="1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marR="0" lvl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Figura X – Título da imagem</a:t>
            </a:r>
          </a:p>
        </p:txBody>
      </p:sp>
      <p:sp>
        <p:nvSpPr>
          <p:cNvPr id="12" name="Retângulo 11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6" name="Retângulo 15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7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874938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Imagem 9"/>
          <p:cNvSpPr>
            <a:spLocks noGrp="1"/>
          </p:cNvSpPr>
          <p:nvPr>
            <p:ph type="pic" sz="quarter" idx="16"/>
          </p:nvPr>
        </p:nvSpPr>
        <p:spPr>
          <a:xfrm>
            <a:off x="1313058" y="1917585"/>
            <a:ext cx="4825753" cy="3743667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/>
            </a:lvl1pPr>
          </a:lstStyle>
          <a:p>
            <a:endParaRPr lang="pt-BR" dirty="0"/>
          </a:p>
        </p:txBody>
      </p:sp>
      <p:sp>
        <p:nvSpPr>
          <p:cNvPr id="10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313056" y="5766104"/>
            <a:ext cx="4840053" cy="410863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2994" indent="0" algn="r">
              <a:lnSpc>
                <a:spcPct val="100000"/>
              </a:lnSpc>
              <a:spcBef>
                <a:spcPts val="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Fonte da imagem / ID da imagem</a:t>
            </a:r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7"/>
          </p:nvPr>
        </p:nvSpPr>
        <p:spPr>
          <a:xfrm>
            <a:off x="6528050" y="1514000"/>
            <a:ext cx="4741639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6" name="Espaço Reservado para Texto 2"/>
          <p:cNvSpPr>
            <a:spLocks noGrp="1"/>
          </p:cNvSpPr>
          <p:nvPr>
            <p:ph type="body" sz="quarter" idx="18" hasCustomPrompt="1"/>
          </p:nvPr>
        </p:nvSpPr>
        <p:spPr>
          <a:xfrm>
            <a:off x="1313058" y="1514000"/>
            <a:ext cx="4825753" cy="40358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marR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pt-BR" sz="1800" b="1" baseline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marR="0" lvl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 err="1"/>
              <a:t>FiguraX</a:t>
            </a:r>
            <a:r>
              <a:rPr lang="pt-BR" dirty="0"/>
              <a:t> – Título da imagem</a:t>
            </a:r>
          </a:p>
        </p:txBody>
      </p:sp>
      <p:sp>
        <p:nvSpPr>
          <p:cNvPr id="11" name="Retângulo 10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Retângulo 11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818451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Imagem Abaix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69" y="1510552"/>
            <a:ext cx="9941731" cy="1702424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0" name="Espaço Reservado para Imagem 9"/>
          <p:cNvSpPr>
            <a:spLocks noGrp="1"/>
          </p:cNvSpPr>
          <p:nvPr>
            <p:ph type="pic" sz="quarter" idx="11"/>
          </p:nvPr>
        </p:nvSpPr>
        <p:spPr>
          <a:xfrm>
            <a:off x="1426369" y="3761401"/>
            <a:ext cx="9941731" cy="1976745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/>
            </a:lvl1pPr>
          </a:lstStyle>
          <a:p>
            <a:endParaRPr lang="pt-BR" dirty="0"/>
          </a:p>
        </p:txBody>
      </p:sp>
      <p:sp>
        <p:nvSpPr>
          <p:cNvPr id="12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426369" y="5837705"/>
            <a:ext cx="9941731" cy="410863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indent="-243796" algn="r">
              <a:lnSpc>
                <a:spcPct val="113000"/>
              </a:lnSpc>
              <a:spcBef>
                <a:spcPts val="105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Fonte da imagem / ID da imagem</a:t>
            </a:r>
          </a:p>
        </p:txBody>
      </p:sp>
      <p:sp>
        <p:nvSpPr>
          <p:cNvPr id="15" name="Espaço Reservado para Texto 2"/>
          <p:cNvSpPr>
            <a:spLocks noGrp="1"/>
          </p:cNvSpPr>
          <p:nvPr>
            <p:ph type="body" sz="quarter" idx="15" hasCustomPrompt="1"/>
          </p:nvPr>
        </p:nvSpPr>
        <p:spPr>
          <a:xfrm>
            <a:off x="1426369" y="3356585"/>
            <a:ext cx="9941731" cy="40358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marR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pt-BR" sz="1800" b="1" baseline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marR="0" lvl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Figura X – Título da imagem</a:t>
            </a:r>
          </a:p>
        </p:txBody>
      </p:sp>
      <p:sp>
        <p:nvSpPr>
          <p:cNvPr id="11" name="Retângulo 10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4" name="Retângulo 13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B72BE9B6-FDC5-4241-9BD4-0D8A4E31A5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93280" y="277215"/>
            <a:ext cx="27559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89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022315" y="1775064"/>
            <a:ext cx="4725816" cy="4136845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1"/>
          </p:nvPr>
        </p:nvSpPr>
        <p:spPr>
          <a:xfrm>
            <a:off x="6217436" y="1734213"/>
            <a:ext cx="4725816" cy="4129759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B32DA44-49F0-E24F-BCF9-87F822A42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93280" y="277215"/>
            <a:ext cx="27559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764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Box 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910208" y="1510552"/>
            <a:ext cx="4741639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1"/>
          </p:nvPr>
        </p:nvSpPr>
        <p:spPr>
          <a:xfrm>
            <a:off x="6096002" y="1517662"/>
            <a:ext cx="4741639" cy="4143586"/>
          </a:xfrm>
          <a:solidFill>
            <a:schemeClr val="bg1">
              <a:lumMod val="75000"/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99758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Destaqu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838203" y="1712167"/>
            <a:ext cx="4741639" cy="4150696"/>
          </a:xfrm>
          <a:solidFill>
            <a:schemeClr val="bg1">
              <a:lumMod val="75000"/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1"/>
          </p:nvPr>
        </p:nvSpPr>
        <p:spPr>
          <a:xfrm>
            <a:off x="6023995" y="1719277"/>
            <a:ext cx="4741639" cy="414358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006853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5"/>
            <a:ext cx="9927431" cy="4510737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8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E46A203-F5C0-1245-8E4B-39AA5132B4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93280" y="277215"/>
            <a:ext cx="27559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111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Referênc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2"/>
            <a:ext cx="9927431" cy="4155038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426371" y="5665590"/>
            <a:ext cx="9927431" cy="504056"/>
          </a:xfrm>
        </p:spPr>
        <p:txBody>
          <a:bodyPr vert="horz" lIns="91440" tIns="45720" rIns="91440" bIns="45720" rtlCol="0">
            <a:noAutofit/>
          </a:bodyPr>
          <a:lstStyle>
            <a:lvl1pPr marL="0" indent="0" algn="r">
              <a:lnSpc>
                <a:spcPct val="113000"/>
              </a:lnSpc>
              <a:spcBef>
                <a:spcPts val="105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Referência do texto</a:t>
            </a:r>
          </a:p>
        </p:txBody>
      </p:sp>
      <p:sp>
        <p:nvSpPr>
          <p:cNvPr id="12" name="Retângulo 11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4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178969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Retângulo 11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838202" y="1454473"/>
            <a:ext cx="9927431" cy="1198368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611319" y="5691734"/>
            <a:ext cx="9152756" cy="574368"/>
          </a:xfrm>
        </p:spPr>
        <p:txBody>
          <a:bodyPr vert="horz" lIns="91440" tIns="45720" rIns="91440" bIns="45720" rtlCol="0">
            <a:noAutofit/>
          </a:bodyPr>
          <a:lstStyle>
            <a:lvl1pPr marL="0" indent="0" algn="r">
              <a:lnSpc>
                <a:spcPct val="113000"/>
              </a:lnSpc>
              <a:spcBef>
                <a:spcPts val="105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Referência da citação</a:t>
            </a:r>
          </a:p>
        </p:txBody>
      </p:sp>
      <p:sp>
        <p:nvSpPr>
          <p:cNvPr id="10" name="Espaço Reservado para Texto 2"/>
          <p:cNvSpPr>
            <a:spLocks noGrp="1"/>
          </p:cNvSpPr>
          <p:nvPr>
            <p:ph type="body" sz="quarter" idx="14" hasCustomPrompt="1"/>
          </p:nvPr>
        </p:nvSpPr>
        <p:spPr>
          <a:xfrm>
            <a:off x="1611319" y="2703439"/>
            <a:ext cx="9152756" cy="2915443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rgbClr val="000000"/>
                </a:solidFill>
              </a:defRPr>
            </a:lvl1pPr>
          </a:lstStyle>
          <a:p>
            <a:pPr lvl="0"/>
            <a:r>
              <a:rPr lang="pt-BR" dirty="0"/>
              <a:t>Clique para inserir citação.</a:t>
            </a:r>
          </a:p>
        </p:txBody>
      </p:sp>
      <p:sp>
        <p:nvSpPr>
          <p:cNvPr id="13" name="Retângulo 12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79149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Box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2"/>
            <a:ext cx="5029671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1" name="Espaço Reservado para Texto 12"/>
          <p:cNvSpPr>
            <a:spLocks noGrp="1"/>
          </p:cNvSpPr>
          <p:nvPr>
            <p:ph type="body" sz="quarter" idx="11" hasCustomPrompt="1"/>
          </p:nvPr>
        </p:nvSpPr>
        <p:spPr>
          <a:xfrm>
            <a:off x="6600057" y="1511346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lnSpc>
                <a:spcPct val="90000"/>
              </a:lnSpc>
              <a:spcBef>
                <a:spcPts val="750"/>
              </a:spcBef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7" name="Espaço Reservado para Texto 12"/>
          <p:cNvSpPr>
            <a:spLocks noGrp="1"/>
          </p:cNvSpPr>
          <p:nvPr>
            <p:ph type="body" sz="quarter" idx="12" hasCustomPrompt="1"/>
          </p:nvPr>
        </p:nvSpPr>
        <p:spPr>
          <a:xfrm>
            <a:off x="6600057" y="3073714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lnSpc>
                <a:spcPct val="90000"/>
              </a:lnSpc>
              <a:spcBef>
                <a:spcPts val="750"/>
              </a:spcBef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4" name="Espaço Reservado para Texto 12"/>
          <p:cNvSpPr>
            <a:spLocks noGrp="1"/>
          </p:cNvSpPr>
          <p:nvPr>
            <p:ph type="body" sz="quarter" idx="13" hasCustomPrompt="1"/>
          </p:nvPr>
        </p:nvSpPr>
        <p:spPr>
          <a:xfrm>
            <a:off x="6600057" y="4636082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lnSpc>
                <a:spcPct val="90000"/>
              </a:lnSpc>
              <a:spcBef>
                <a:spcPts val="750"/>
              </a:spcBef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0" name="Retângulo 9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Retângulo 11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5473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Box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2"/>
            <a:ext cx="9927431" cy="156316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1" name="Espaço Reservado para Texto 12"/>
          <p:cNvSpPr>
            <a:spLocks noGrp="1"/>
          </p:cNvSpPr>
          <p:nvPr>
            <p:ph type="body" sz="quarter" idx="11" hasCustomPrompt="1"/>
          </p:nvPr>
        </p:nvSpPr>
        <p:spPr>
          <a:xfrm>
            <a:off x="1426369" y="3333697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7" name="Espaço Reservado para Texto 12"/>
          <p:cNvSpPr>
            <a:spLocks noGrp="1"/>
          </p:cNvSpPr>
          <p:nvPr>
            <p:ph type="body" sz="quarter" idx="12" hasCustomPrompt="1"/>
          </p:nvPr>
        </p:nvSpPr>
        <p:spPr>
          <a:xfrm>
            <a:off x="6600056" y="3333697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0" name="Espaço Reservado para Texto 12"/>
          <p:cNvSpPr>
            <a:spLocks noGrp="1"/>
          </p:cNvSpPr>
          <p:nvPr>
            <p:ph type="body" sz="quarter" idx="14" hasCustomPrompt="1"/>
          </p:nvPr>
        </p:nvSpPr>
        <p:spPr>
          <a:xfrm>
            <a:off x="1426369" y="4612333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2" name="Espaço Reservado para Texto 12"/>
          <p:cNvSpPr>
            <a:spLocks noGrp="1"/>
          </p:cNvSpPr>
          <p:nvPr>
            <p:ph type="body" sz="quarter" idx="15" hasCustomPrompt="1"/>
          </p:nvPr>
        </p:nvSpPr>
        <p:spPr>
          <a:xfrm>
            <a:off x="6600056" y="4612333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3" name="Retângulo 12"/>
          <p:cNvSpPr/>
          <p:nvPr userDrawn="1"/>
        </p:nvSpPr>
        <p:spPr>
          <a:xfrm>
            <a:off x="0" y="6621752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4" name="Retângulo 13"/>
          <p:cNvSpPr/>
          <p:nvPr userDrawn="1"/>
        </p:nvSpPr>
        <p:spPr>
          <a:xfrm>
            <a:off x="0" y="6470709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Retângulo 14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9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2686726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v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707771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paço com libr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3069" y="3426942"/>
            <a:ext cx="4788931" cy="34418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16" name="Retângulo 15"/>
          <p:cNvSpPr/>
          <p:nvPr userDrawn="1"/>
        </p:nvSpPr>
        <p:spPr>
          <a:xfrm>
            <a:off x="8353869" y="4997810"/>
            <a:ext cx="2887332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350" dirty="0"/>
              <a:t>Área reservada para libras.</a:t>
            </a:r>
          </a:p>
        </p:txBody>
      </p:sp>
    </p:spTree>
    <p:extLst>
      <p:ext uri="{BB962C8B-B14F-4D97-AF65-F5344CB8AC3E}">
        <p14:creationId xmlns:p14="http://schemas.microsoft.com/office/powerpoint/2010/main" val="36606428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9/25/23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705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B4BEED-8A68-4722-9E32-77B5A92D9FCF}" type="datetimeFigureOut">
              <a:rPr lang="pt-BR" smtClean="0"/>
              <a:t>25/09/2023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69AD03-B9AA-4AC4-8737-AAAAC545CE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8471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D89335E-A121-8842-85AC-B83750E5CF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35869" y="1447052"/>
            <a:ext cx="9941731" cy="1702424"/>
          </a:xfrm>
        </p:spPr>
        <p:txBody>
          <a:bodyPr/>
          <a:lstStyle/>
          <a:p>
            <a:pPr algn="ctr"/>
            <a:r>
              <a:rPr lang="pt-BR" sz="5400" dirty="0"/>
              <a:t>Renderização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1D7575F-7300-F345-9C32-8CED948BD2B9}"/>
              </a:ext>
            </a:extLst>
          </p:cNvPr>
          <p:cNvSpPr txBox="1"/>
          <p:nvPr/>
        </p:nvSpPr>
        <p:spPr>
          <a:xfrm>
            <a:off x="3526929" y="3597198"/>
            <a:ext cx="5359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Prof. Thiago </a:t>
            </a:r>
            <a:r>
              <a:rPr lang="pt-BR" sz="4000" dirty="0" err="1"/>
              <a:t>Salhab</a:t>
            </a:r>
            <a:r>
              <a:rPr lang="pt-BR" sz="4000" dirty="0"/>
              <a:t> Alves</a:t>
            </a:r>
          </a:p>
        </p:txBody>
      </p:sp>
    </p:spTree>
    <p:extLst>
      <p:ext uri="{BB962C8B-B14F-4D97-AF65-F5344CB8AC3E}">
        <p14:creationId xmlns:p14="http://schemas.microsoft.com/office/powerpoint/2010/main" val="2776732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865CBF6-B076-E1F7-2713-7B7F00818A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pt-BR" b="0" i="0" dirty="0">
                <a:solidFill>
                  <a:srgbClr val="404040"/>
                </a:solidFill>
                <a:effectLst/>
              </a:rPr>
              <a:t>A renderização é o processo de criação de uma imagem em 2D (ou vídeo), a partir de sua cena em 3D. A aparência final desta imagem terá como base quatro fatores que o usuário pode controlar: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404040"/>
                </a:solidFill>
                <a:effectLst/>
              </a:rPr>
              <a:t> </a:t>
            </a:r>
            <a:r>
              <a:rPr lang="pt-BR" sz="2400" b="0" i="0" dirty="0">
                <a:solidFill>
                  <a:srgbClr val="404040"/>
                </a:solidFill>
                <a:effectLst/>
              </a:rPr>
              <a:t>Uma câmera;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400" b="0" i="0" dirty="0">
                <a:solidFill>
                  <a:srgbClr val="404040"/>
                </a:solidFill>
                <a:effectLst/>
              </a:rPr>
              <a:t> A iluminação em sua cena;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400" b="0" i="0" dirty="0">
                <a:solidFill>
                  <a:srgbClr val="404040"/>
                </a:solidFill>
                <a:effectLst/>
              </a:rPr>
              <a:t> Os materiais de cada objeto; </a:t>
            </a:r>
            <a:endParaRPr lang="pt-BR" sz="2400" dirty="0">
              <a:solidFill>
                <a:srgbClr val="40404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400" b="0" i="0" dirty="0">
                <a:solidFill>
                  <a:srgbClr val="404040"/>
                </a:solidFill>
                <a:effectLst/>
              </a:rPr>
              <a:t> Diversas configurações para a renderização (qualidade, tamanho da imagem, camadas, </a:t>
            </a:r>
            <a:r>
              <a:rPr lang="pt-BR" sz="2400" b="0" i="0" dirty="0" err="1">
                <a:solidFill>
                  <a:srgbClr val="404040"/>
                </a:solidFill>
                <a:effectLst/>
              </a:rPr>
              <a:t>etc</a:t>
            </a:r>
            <a:r>
              <a:rPr lang="pt-BR" sz="2400" b="0" i="0" dirty="0">
                <a:solidFill>
                  <a:srgbClr val="404040"/>
                </a:solidFill>
                <a:effectLst/>
              </a:rPr>
              <a:t>). 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744615F-9EE9-64D9-373F-66A8AE985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Renderização</a:t>
            </a:r>
          </a:p>
        </p:txBody>
      </p:sp>
    </p:spTree>
    <p:extLst>
      <p:ext uri="{BB962C8B-B14F-4D97-AF65-F5344CB8AC3E}">
        <p14:creationId xmlns:p14="http://schemas.microsoft.com/office/powerpoint/2010/main" val="1138119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3EB9E6FD-2B42-0D57-AB0F-BDCAB1D3FF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404040"/>
                </a:solidFill>
                <a:effectLst/>
              </a:rPr>
              <a:t>Seu computador irá realizar diversos cálculos complexos com base nestes fatores de maneira a fornecer a você sua imagem renderizada. Este processo pode levar algum tempo dependendo da complexidade da cena e do seu computador (hardware).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B963999-6CFC-0F29-4D8B-CBB2367F2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Renderização</a:t>
            </a:r>
          </a:p>
        </p:txBody>
      </p:sp>
    </p:spTree>
    <p:extLst>
      <p:ext uri="{BB962C8B-B14F-4D97-AF65-F5344CB8AC3E}">
        <p14:creationId xmlns:p14="http://schemas.microsoft.com/office/powerpoint/2010/main" val="1489043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5EFF42C-737F-6773-3CF5-6E6A965801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dirty="0"/>
              <a:t>Quando se trata de mecanismo de </a:t>
            </a:r>
            <a:r>
              <a:rPr lang="pt-PT" dirty="0" err="1"/>
              <a:t>renderização</a:t>
            </a:r>
            <a:r>
              <a:rPr lang="pt-PT" dirty="0"/>
              <a:t> (renderizador) no Blender, </a:t>
            </a:r>
            <a:r>
              <a:rPr lang="pt-PT" b="1" dirty="0" err="1"/>
              <a:t>Cycles</a:t>
            </a:r>
            <a:r>
              <a:rPr lang="pt-PT" dirty="0"/>
              <a:t> e </a:t>
            </a:r>
            <a:r>
              <a:rPr lang="pt-PT" b="1" dirty="0" err="1"/>
              <a:t>Eevee</a:t>
            </a:r>
            <a:r>
              <a:rPr lang="pt-PT" dirty="0"/>
              <a:t> não é mais um termo estranho para artistas do Blender.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b="1" dirty="0" err="1"/>
              <a:t>Cycles</a:t>
            </a:r>
            <a:r>
              <a:rPr lang="pt-PT" dirty="0"/>
              <a:t> é um renderizador offline que calcula dados 3D para criar cenas realistas, enquanto </a:t>
            </a:r>
            <a:r>
              <a:rPr lang="pt-PT" b="1" dirty="0" err="1"/>
              <a:t>Eevee</a:t>
            </a:r>
            <a:r>
              <a:rPr lang="pt-PT" dirty="0"/>
              <a:t> é um renderizador online que visa produzir imagens em tempo real.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dirty="0"/>
              <a:t>Cada renderizador tem suas próprias características únicas que tornam ambas as ferramentas de </a:t>
            </a:r>
            <a:r>
              <a:rPr lang="pt-PT" dirty="0" err="1"/>
              <a:t>renderização</a:t>
            </a:r>
            <a:r>
              <a:rPr lang="pt-PT" dirty="0"/>
              <a:t> úteis no Blender.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2C60819-0939-8193-5632-B9AFEEC7A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Renderização</a:t>
            </a:r>
          </a:p>
        </p:txBody>
      </p:sp>
    </p:spTree>
    <p:extLst>
      <p:ext uri="{BB962C8B-B14F-4D97-AF65-F5344CB8AC3E}">
        <p14:creationId xmlns:p14="http://schemas.microsoft.com/office/powerpoint/2010/main" val="331294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086EC41-D79B-778B-E091-7762003C90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22008" y="1289146"/>
            <a:ext cx="9927431" cy="4510737"/>
          </a:xfrm>
        </p:spPr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PT" dirty="0"/>
              <a:t>A grande diferença entre esses 2 renderizadores é que um renderizador é online e o outro é offline.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PT" dirty="0"/>
              <a:t>Como o </a:t>
            </a:r>
            <a:r>
              <a:rPr lang="pt-PT" b="1" dirty="0" err="1"/>
              <a:t>Eevee</a:t>
            </a:r>
            <a:r>
              <a:rPr lang="pt-PT" dirty="0"/>
              <a:t> é um renderizador online, você pode mover-se pela cena imediatamente, sem ter que esperar que quaisquer cálculos sejam concluídos para iluminação, materiais, etc.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152E4C9-DB11-0311-4222-1387728FF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Diferença entre </a:t>
            </a:r>
            <a:r>
              <a:rPr lang="pt-BR" dirty="0" err="1"/>
              <a:t>Cycles</a:t>
            </a:r>
            <a:r>
              <a:rPr lang="pt-BR" dirty="0"/>
              <a:t> e </a:t>
            </a:r>
            <a:r>
              <a:rPr lang="pt-BR" dirty="0" err="1"/>
              <a:t>Eeevee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7068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F641EBEE-F94D-6C98-70BF-622C0ACA1C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dirty="0"/>
              <a:t>Enquanto o mecanismo de </a:t>
            </a:r>
            <a:r>
              <a:rPr lang="pt-PT" dirty="0" err="1"/>
              <a:t>renderização</a:t>
            </a:r>
            <a:r>
              <a:rPr lang="pt-PT" dirty="0"/>
              <a:t> </a:t>
            </a:r>
            <a:r>
              <a:rPr lang="pt-PT" b="1" dirty="0" err="1"/>
              <a:t>Cycles</a:t>
            </a:r>
            <a:r>
              <a:rPr lang="pt-PT" dirty="0"/>
              <a:t> é um renderizador offline. Enquanto um renderizador offline passa por um processo de cálculo de iluminação, materiais e geometria de uma cena para produzir a imagem mais precisa possível, um renderizador online leva tempo para calcular.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5706FCA-870C-FDDF-8D7A-A3178E790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Diferença entre </a:t>
            </a:r>
            <a:r>
              <a:rPr lang="pt-BR" dirty="0" err="1"/>
              <a:t>Cycles</a:t>
            </a:r>
            <a:r>
              <a:rPr lang="pt-BR" dirty="0"/>
              <a:t> e </a:t>
            </a:r>
            <a:r>
              <a:rPr lang="pt-BR" dirty="0" err="1"/>
              <a:t>Eeevee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932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F1BD20D4-44AD-D25C-B29A-36F167C713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dirty="0"/>
              <a:t>Se você estiver utilizando o mecanismo de </a:t>
            </a:r>
            <a:r>
              <a:rPr lang="pt-PT" dirty="0" err="1"/>
              <a:t>renderização</a:t>
            </a:r>
            <a:r>
              <a:rPr lang="pt-PT" dirty="0"/>
              <a:t> </a:t>
            </a:r>
            <a:r>
              <a:rPr lang="pt-PT" b="1" dirty="0" err="1"/>
              <a:t>Eevee</a:t>
            </a:r>
            <a:r>
              <a:rPr lang="pt-PT" dirty="0"/>
              <a:t>, poderá mover-se pela cena quase em tempo real.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dirty="0"/>
              <a:t>Por outro lado, </a:t>
            </a:r>
            <a:r>
              <a:rPr lang="pt-PT" b="1" dirty="0" err="1"/>
              <a:t>Cycles</a:t>
            </a:r>
            <a:r>
              <a:rPr lang="pt-PT" dirty="0"/>
              <a:t> devem processar muito mais dados cada vez que você faz uma alteração ou move a janela de visualização.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dirty="0"/>
              <a:t>E sem a opção de eliminação de ruído da janela de visualização, seria impossível orbitar sua visão enquanto mantinha sua cena livre de ruído.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FE8CD51B-EE22-70C4-DD3E-112DBABF1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Diferença entre </a:t>
            </a:r>
            <a:r>
              <a:rPr lang="pt-BR" dirty="0" err="1"/>
              <a:t>Cycles</a:t>
            </a:r>
            <a:r>
              <a:rPr lang="pt-BR" dirty="0"/>
              <a:t> e </a:t>
            </a:r>
            <a:r>
              <a:rPr lang="pt-BR" dirty="0" err="1"/>
              <a:t>Eeevee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2779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8F1E886-0711-1DCE-8561-1AD1682A5B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b="1" dirty="0" err="1"/>
              <a:t>Cycles</a:t>
            </a:r>
            <a:r>
              <a:rPr lang="pt-PT" dirty="0"/>
              <a:t> é uma solução de </a:t>
            </a:r>
            <a:r>
              <a:rPr lang="pt-PT" dirty="0" err="1"/>
              <a:t>renderização</a:t>
            </a:r>
            <a:r>
              <a:rPr lang="pt-PT" dirty="0"/>
              <a:t> de rastreamento de caminho imparcial e baseada fisicamente para o Blender. Ele pode ser usado pela CPU ou GPU para criar sequências e animações finais impressionantes.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dirty="0"/>
              <a:t>Ao contrário do </a:t>
            </a:r>
            <a:r>
              <a:rPr lang="pt-PT" b="1" dirty="0" err="1"/>
              <a:t>Eevee</a:t>
            </a:r>
            <a:r>
              <a:rPr lang="pt-PT" dirty="0"/>
              <a:t>, ele suporta apenas GPU. Além de tudo isso, </a:t>
            </a:r>
            <a:r>
              <a:rPr lang="pt-PT" b="1" dirty="0" err="1"/>
              <a:t>Cycles</a:t>
            </a:r>
            <a:r>
              <a:rPr lang="pt-PT" dirty="0"/>
              <a:t> é um dos motores mais flexíveis usados ​​em software 3D moderno. Também possui um plug-in externo que pode ser utilizado por outros softwares como Cinema 4D e </a:t>
            </a:r>
            <a:r>
              <a:rPr lang="pt-PT" dirty="0" err="1"/>
              <a:t>Maya</a:t>
            </a:r>
            <a:r>
              <a:rPr lang="pt-PT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1AD8FCD-E12B-80EF-C578-F3B9A369C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 é mais fácil de usar?</a:t>
            </a:r>
          </a:p>
        </p:txBody>
      </p:sp>
    </p:spTree>
    <p:extLst>
      <p:ext uri="{BB962C8B-B14F-4D97-AF65-F5344CB8AC3E}">
        <p14:creationId xmlns:p14="http://schemas.microsoft.com/office/powerpoint/2010/main" val="1828230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14F48C7-9A02-E501-DEF6-7F96986010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dirty="0"/>
              <a:t>Para artistas que desejam usar muitos softwares em seus projetos ao mesmo tempo, usar o </a:t>
            </a:r>
            <a:r>
              <a:rPr lang="pt-PT" b="1" dirty="0" err="1"/>
              <a:t>Cycles</a:t>
            </a:r>
            <a:r>
              <a:rPr lang="pt-PT" dirty="0"/>
              <a:t> é um ponto forte.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b="1" dirty="0" err="1"/>
              <a:t>Eevee</a:t>
            </a:r>
            <a:r>
              <a:rPr lang="pt-PT" dirty="0"/>
              <a:t> foi uma das maiores adições ao Blender recentemente. Além disso, é um mecanismo de </a:t>
            </a:r>
            <a:r>
              <a:rPr lang="pt-PT" dirty="0" err="1"/>
              <a:t>renderização</a:t>
            </a:r>
            <a:r>
              <a:rPr lang="pt-PT" dirty="0"/>
              <a:t> em tempo real que utiliza tecnologia semelhante às utilizadas pelos motores de jogos. 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6F64E00-05C6-86E4-82BA-16861C8DB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 é mais fácil de usar?</a:t>
            </a:r>
          </a:p>
        </p:txBody>
      </p:sp>
    </p:spTree>
    <p:extLst>
      <p:ext uri="{BB962C8B-B14F-4D97-AF65-F5344CB8AC3E}">
        <p14:creationId xmlns:p14="http://schemas.microsoft.com/office/powerpoint/2010/main" val="328931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370D5A23-5C28-BDB0-902B-0C06C4F174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i="1" dirty="0" err="1"/>
              <a:t>Physically</a:t>
            </a:r>
            <a:r>
              <a:rPr lang="pt-PT" i="1" dirty="0"/>
              <a:t> </a:t>
            </a:r>
            <a:r>
              <a:rPr lang="pt-PT" i="1" dirty="0" err="1"/>
              <a:t>based</a:t>
            </a:r>
            <a:r>
              <a:rPr lang="pt-PT" i="1" dirty="0"/>
              <a:t> </a:t>
            </a:r>
            <a:r>
              <a:rPr lang="pt-PT" i="1" dirty="0" err="1"/>
              <a:t>rendering</a:t>
            </a:r>
            <a:r>
              <a:rPr lang="pt-PT" i="1" dirty="0"/>
              <a:t> </a:t>
            </a:r>
            <a:r>
              <a:rPr lang="pt-PT" dirty="0"/>
              <a:t>(PBR) pode ser criada em tempo real usando este mecanismo baseado fisicamente e utilizada como renderizador. </a:t>
            </a:r>
            <a:r>
              <a:rPr lang="pt-PT" dirty="0" err="1"/>
              <a:t>Eevee</a:t>
            </a:r>
            <a:r>
              <a:rPr lang="pt-PT" dirty="0"/>
              <a:t> tem melhor desempenho quando usado para efeitos visuais e animação. 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6515929-61B9-8388-6C3A-F70FB95C6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 é mais fácil de usar?</a:t>
            </a:r>
          </a:p>
        </p:txBody>
      </p:sp>
    </p:spTree>
    <p:extLst>
      <p:ext uri="{BB962C8B-B14F-4D97-AF65-F5344CB8AC3E}">
        <p14:creationId xmlns:p14="http://schemas.microsoft.com/office/powerpoint/2010/main" val="4180587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2685EB76-84E5-B2B2-B885-239F7C4AE5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PT" dirty="0"/>
              <a:t>Pela análise, podemos ver que o </a:t>
            </a:r>
            <a:r>
              <a:rPr lang="pt-PT" b="1" dirty="0" err="1"/>
              <a:t>Cycles</a:t>
            </a:r>
            <a:r>
              <a:rPr lang="pt-PT" b="1" dirty="0"/>
              <a:t> </a:t>
            </a:r>
            <a:r>
              <a:rPr lang="pt-PT" dirty="0"/>
              <a:t>é mais fácil de usar do que o </a:t>
            </a:r>
            <a:r>
              <a:rPr lang="pt-PT" b="1" dirty="0" err="1"/>
              <a:t>Eevee</a:t>
            </a:r>
            <a:r>
              <a:rPr lang="pt-PT" dirty="0"/>
              <a:t>. </a:t>
            </a:r>
          </a:p>
          <a:p>
            <a:r>
              <a:rPr lang="pt-PT" dirty="0"/>
              <a:t>Com </a:t>
            </a:r>
            <a:r>
              <a:rPr lang="pt-PT" b="1" dirty="0" err="1"/>
              <a:t>Cycles</a:t>
            </a:r>
            <a:r>
              <a:rPr lang="pt-PT" dirty="0"/>
              <a:t>, você pode usar vários cartões para acelerar sua </a:t>
            </a:r>
            <a:r>
              <a:rPr lang="pt-PT" dirty="0" err="1"/>
              <a:t>renderização</a:t>
            </a:r>
            <a:r>
              <a:rPr lang="pt-PT" dirty="0"/>
              <a:t>, enquanto o </a:t>
            </a:r>
            <a:r>
              <a:rPr lang="pt-PT" b="1" dirty="0" err="1"/>
              <a:t>Eevee</a:t>
            </a:r>
            <a:r>
              <a:rPr lang="pt-PT" dirty="0"/>
              <a:t> precisa ajustar configurações </a:t>
            </a:r>
            <a:r>
              <a:rPr lang="pt-PT" dirty="0" err="1"/>
              <a:t>espe</a:t>
            </a:r>
            <a:r>
              <a:rPr lang="pt-PT" dirty="0"/>
              <a:t> ciais para poder </a:t>
            </a:r>
            <a:r>
              <a:rPr lang="pt-PT" dirty="0" err="1"/>
              <a:t>renderizar</a:t>
            </a:r>
            <a:r>
              <a:rPr lang="pt-PT" dirty="0"/>
              <a:t> vários cartões. </a:t>
            </a:r>
          </a:p>
          <a:p>
            <a:r>
              <a:rPr lang="pt-PT" dirty="0"/>
              <a:t>Isso pode ser um pouco difícil para iniciantes que desejam aprender a </a:t>
            </a:r>
            <a:r>
              <a:rPr lang="pt-PT" dirty="0" err="1"/>
              <a:t>renderizar</a:t>
            </a:r>
            <a:r>
              <a:rPr lang="pt-PT" dirty="0"/>
              <a:t> com o Blender.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C2DC972-DD26-FA91-B532-8B87FF010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 é mais fácil de usar?</a:t>
            </a:r>
          </a:p>
        </p:txBody>
      </p:sp>
    </p:spTree>
    <p:extLst>
      <p:ext uri="{BB962C8B-B14F-4D97-AF65-F5344CB8AC3E}">
        <p14:creationId xmlns:p14="http://schemas.microsoft.com/office/powerpoint/2010/main" val="4176388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C7F84AB-2D16-6150-98D6-DE53689AA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PT" dirty="0"/>
              <a:t>Além disso, </a:t>
            </a:r>
            <a:r>
              <a:rPr lang="pt-PT" b="1" dirty="0" err="1"/>
              <a:t>Cycles</a:t>
            </a:r>
            <a:r>
              <a:rPr lang="pt-PT" dirty="0"/>
              <a:t> também é um renderizador flexível, que pode ser combinado com alguns softwares excelentes como Cinema 4D e </a:t>
            </a:r>
            <a:r>
              <a:rPr lang="pt-PT" dirty="0" err="1"/>
              <a:t>Maya</a:t>
            </a:r>
            <a:r>
              <a:rPr lang="pt-PT" dirty="0"/>
              <a:t>, muito adequados para criação de filmes ou trabalhos de animação.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FF90F93-1BB6-89A2-30B9-42805AB40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 é mais fácil de usar?</a:t>
            </a:r>
          </a:p>
        </p:txBody>
      </p:sp>
    </p:spTree>
    <p:extLst>
      <p:ext uri="{BB962C8B-B14F-4D97-AF65-F5344CB8AC3E}">
        <p14:creationId xmlns:p14="http://schemas.microsoft.com/office/powerpoint/2010/main" val="2036459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A416A35-A528-6262-E1A9-6435AA07AC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PT" b="1" dirty="0" err="1"/>
              <a:t>Cycles</a:t>
            </a:r>
            <a:r>
              <a:rPr lang="pt-PT" dirty="0"/>
              <a:t> é a solução perfeita se seus projetos frequentemente contêm cenários realistas, como interiores de casas ou paisagens encantadoras. Além disso, é um renderizador de rastreamento de raio, portanto, as </a:t>
            </a:r>
            <a:r>
              <a:rPr lang="pt-PT" dirty="0" err="1"/>
              <a:t>renderizações</a:t>
            </a:r>
            <a:r>
              <a:rPr lang="pt-PT" dirty="0"/>
              <a:t> demoram mais para serem produzidas, mas são significativamente mais precisas e realistas.</a:t>
            </a:r>
          </a:p>
          <a:p>
            <a:r>
              <a:rPr lang="pt-PT" dirty="0"/>
              <a:t>A precisão e o realismo de </a:t>
            </a:r>
            <a:r>
              <a:rPr lang="pt-PT" b="1" dirty="0" err="1"/>
              <a:t>Cycles</a:t>
            </a:r>
            <a:r>
              <a:rPr lang="pt-PT" dirty="0"/>
              <a:t> podem ser mais úteis em cenas complicadas com vários objetos feitos de vários materiais, como paredes de concreto ou tijolos, texturas mais complexas, múltiplas fontes de luz e fundos complexos.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F30DE871-AA45-6810-D78B-AA95D79CF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Qual </a:t>
            </a:r>
            <a:r>
              <a:rPr lang="pt-BR" dirty="0" err="1"/>
              <a:t>renderizador</a:t>
            </a:r>
            <a:r>
              <a:rPr lang="pt-BR" dirty="0"/>
              <a:t> devo usar?</a:t>
            </a:r>
          </a:p>
        </p:txBody>
      </p:sp>
    </p:spTree>
    <p:extLst>
      <p:ext uri="{BB962C8B-B14F-4D97-AF65-F5344CB8AC3E}">
        <p14:creationId xmlns:p14="http://schemas.microsoft.com/office/powerpoint/2010/main" val="3634340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054FC41-A051-1776-96ED-312F813EAE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PT" b="1" dirty="0" err="1"/>
              <a:t>Eevee</a:t>
            </a:r>
            <a:r>
              <a:rPr lang="pt-PT" dirty="0"/>
              <a:t> é adequado para cenas que possuem objetos </a:t>
            </a:r>
            <a:r>
              <a:rPr lang="pt-PT" dirty="0" err="1"/>
              <a:t>low-poly</a:t>
            </a:r>
            <a:r>
              <a:rPr lang="pt-PT" dirty="0"/>
              <a:t> (objetos com poucos polígonos), geralmente contendo itens “básicos”. </a:t>
            </a:r>
          </a:p>
          <a:p>
            <a:r>
              <a:rPr lang="pt-PT" dirty="0"/>
              <a:t>O </a:t>
            </a:r>
            <a:r>
              <a:rPr lang="pt-PT" b="1" dirty="0" err="1"/>
              <a:t>Eevee</a:t>
            </a:r>
            <a:r>
              <a:rPr lang="pt-PT" dirty="0"/>
              <a:t> </a:t>
            </a:r>
            <a:r>
              <a:rPr lang="pt-PT" dirty="0" err="1"/>
              <a:t>renderiza</a:t>
            </a:r>
            <a:r>
              <a:rPr lang="pt-PT" dirty="0"/>
              <a:t> sua cena tão bem quanto o </a:t>
            </a:r>
            <a:r>
              <a:rPr lang="pt-PT" b="1" dirty="0" err="1"/>
              <a:t>Cycles</a:t>
            </a:r>
            <a:r>
              <a:rPr lang="pt-PT" dirty="0"/>
              <a:t>, mas muito mais rápido porque as cenas de baixo polígono normalmente não têm qualidade </a:t>
            </a:r>
            <a:r>
              <a:rPr lang="pt-PT" dirty="0" err="1"/>
              <a:t>fotorrealista</a:t>
            </a:r>
            <a:r>
              <a:rPr lang="pt-PT" dirty="0"/>
              <a:t>. Portanto, o </a:t>
            </a:r>
            <a:r>
              <a:rPr lang="pt-PT" b="1" dirty="0" err="1"/>
              <a:t>Eevee</a:t>
            </a:r>
            <a:r>
              <a:rPr lang="pt-PT" dirty="0"/>
              <a:t> funciona melhor em cenas pequenas com fundos descomplicados e inclui elementos como cubos coloridos que reduzem o tempo de </a:t>
            </a:r>
            <a:r>
              <a:rPr lang="pt-PT" dirty="0" err="1"/>
              <a:t>renderização</a:t>
            </a:r>
            <a:r>
              <a:rPr lang="pt-PT" dirty="0"/>
              <a:t>.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3427936-2B5D-E327-2C27-178AB89E1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 </a:t>
            </a:r>
            <a:r>
              <a:rPr lang="pt-BR" dirty="0" err="1"/>
              <a:t>renderizador</a:t>
            </a:r>
            <a:r>
              <a:rPr lang="pt-BR" dirty="0"/>
              <a:t> devo usar?</a:t>
            </a:r>
          </a:p>
        </p:txBody>
      </p:sp>
    </p:spTree>
    <p:extLst>
      <p:ext uri="{BB962C8B-B14F-4D97-AF65-F5344CB8AC3E}">
        <p14:creationId xmlns:p14="http://schemas.microsoft.com/office/powerpoint/2010/main" val="1974108312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1943</TotalTime>
  <Words>850</Words>
  <Application>Microsoft Macintosh PowerPoint</Application>
  <PresentationFormat>Widescreen</PresentationFormat>
  <Paragraphs>43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1_Tema do Office</vt:lpstr>
      <vt:lpstr>Apresentação do PowerPoint</vt:lpstr>
      <vt:lpstr>Renderização</vt:lpstr>
      <vt:lpstr>Renderização</vt:lpstr>
      <vt:lpstr>Renderização</vt:lpstr>
      <vt:lpstr>Diferença entre Cycles e Eeevee</vt:lpstr>
      <vt:lpstr>Diferença entre Cycles e Eeevee</vt:lpstr>
      <vt:lpstr>Diferença entre Cycles e Eeevee</vt:lpstr>
      <vt:lpstr>Qual é mais fácil de usar?</vt:lpstr>
      <vt:lpstr>Qual é mais fácil de usar?</vt:lpstr>
      <vt:lpstr>Qual é mais fácil de usar?</vt:lpstr>
      <vt:lpstr>Qual é mais fácil de usar?</vt:lpstr>
      <vt:lpstr>Qual é mais fácil de usar?</vt:lpstr>
      <vt:lpstr>Qual renderizador devo usar?</vt:lpstr>
      <vt:lpstr>Qual renderizador devo usar?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Thiago Salhab Alves</dc:creator>
  <cp:lastModifiedBy>Thiago Salhab Alves</cp:lastModifiedBy>
  <cp:revision>79</cp:revision>
  <dcterms:created xsi:type="dcterms:W3CDTF">2019-06-26T14:54:25Z</dcterms:created>
  <dcterms:modified xsi:type="dcterms:W3CDTF">2023-09-25T21:21:06Z</dcterms:modified>
</cp:coreProperties>
</file>