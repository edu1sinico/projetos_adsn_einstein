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2926080"/>
            <a:ext cx="5486400" cy="5486400"/>
          </a:xfrm>
          <a:prstGeom prst="ellipse">
            <a:avLst/>
          </a:prstGeom>
          <a:solidFill>
            <a:srgbClr val="065A82">
              <a:alpha val="30000"/>
            </a:srgbClr>
          </a:solidFill>
          <a:ln/>
        </p:spPr>
      </p:sp>
      <p:sp>
        <p:nvSpPr>
          <p:cNvPr id="3" name="Shape 1"/>
          <p:cNvSpPr/>
          <p:nvPr/>
        </p:nvSpPr>
        <p:spPr>
          <a:xfrm>
            <a:off x="10241280" y="4206240"/>
            <a:ext cx="3657600" cy="3657600"/>
          </a:xfrm>
          <a:prstGeom prst="ellipse">
            <a:avLst/>
          </a:prstGeom>
          <a:solidFill>
            <a:srgbClr val="1C7293">
              <a:alpha val="45000"/>
            </a:srgbClr>
          </a:solidFill>
          <a:ln/>
        </p:spPr>
      </p:sp>
      <p:sp>
        <p:nvSpPr>
          <p:cNvPr id="4" name="Text 2"/>
          <p:cNvSpPr/>
          <p:nvPr/>
        </p:nvSpPr>
        <p:spPr>
          <a:xfrm>
            <a:off x="731520" y="1371600"/>
            <a:ext cx="7315200" cy="45720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AULA 2 — CLOUD &amp; DEVOPS</a:t>
            </a:r>
            <a:endParaRPr lang="en-US" sz="1600" dirty="0"/>
          </a:p>
        </p:txBody>
      </p:sp>
      <p:sp>
        <p:nvSpPr>
          <p:cNvPr id="5" name="Text 3"/>
          <p:cNvSpPr/>
          <p:nvPr/>
        </p:nvSpPr>
        <p:spPr>
          <a:xfrm>
            <a:off x="731520" y="1874520"/>
            <a:ext cx="8686800" cy="2194560"/>
          </a:xfrm>
          <a:prstGeom prst="rect">
            <a:avLst/>
          </a:prstGeom>
          <a:noFill/>
          <a:ln/>
        </p:spPr>
        <p:txBody>
          <a:bodyPr wrap="square" rtlCol="0" anchor="ctr"/>
          <a:lstStyle/>
          <a:p>
            <a:pPr indent="0" marL="0">
              <a:lnSpc>
                <a:spcPct val="105000"/>
              </a:lnSpc>
              <a:buNone/>
            </a:pPr>
            <a:r>
              <a:rPr lang="en-US" sz="4400" b="1" dirty="0">
                <a:solidFill>
                  <a:srgbClr val="FFFFFF"/>
                </a:solidFill>
                <a:latin typeface="Calibri" pitchFamily="34" charset="0"/>
                <a:ea typeface="Calibri" pitchFamily="34" charset="-122"/>
                <a:cs typeface="Calibri" pitchFamily="34" charset="-120"/>
              </a:rPr>
              <a:t>Explorando e Operando</a:t>
            </a:r>
            <a:endParaRPr lang="en-US" sz="4400" dirty="0"/>
          </a:p>
          <a:p>
            <a:pPr indent="0" marL="0">
              <a:lnSpc>
                <a:spcPct val="105000"/>
              </a:lnSpc>
              <a:buNone/>
            </a:pPr>
            <a:r>
              <a:rPr lang="en-US" sz="4400" b="1" dirty="0">
                <a:solidFill>
                  <a:srgbClr val="FFFFFF"/>
                </a:solidFill>
                <a:latin typeface="Calibri" pitchFamily="34" charset="0"/>
                <a:ea typeface="Calibri" pitchFamily="34" charset="-122"/>
                <a:cs typeface="Calibri" pitchFamily="34" charset="-120"/>
              </a:rPr>
              <a:t>o Sistema Linux</a:t>
            </a:r>
            <a:endParaRPr lang="en-US" sz="4400" dirty="0"/>
          </a:p>
        </p:txBody>
      </p:sp>
      <p:sp>
        <p:nvSpPr>
          <p:cNvPr id="6" name="Text 4"/>
          <p:cNvSpPr/>
          <p:nvPr/>
        </p:nvSpPr>
        <p:spPr>
          <a:xfrm>
            <a:off x="731520" y="3977640"/>
            <a:ext cx="7589520" cy="822960"/>
          </a:xfrm>
          <a:prstGeom prst="rect">
            <a:avLst/>
          </a:prstGeom>
          <a:noFill/>
          <a:ln/>
        </p:spPr>
        <p:txBody>
          <a:bodyPr wrap="square" rtlCol="0" anchor="ctr"/>
          <a:lstStyle/>
          <a:p>
            <a:pPr indent="0" marL="0">
              <a:buNone/>
            </a:pPr>
            <a:r>
              <a:rPr lang="en-US" sz="1800" dirty="0">
                <a:solidFill>
                  <a:srgbClr val="C7D9E3"/>
                </a:solidFill>
                <a:latin typeface="Calibri" pitchFamily="34" charset="0"/>
                <a:ea typeface="Calibri" pitchFamily="34" charset="-122"/>
                <a:cs typeface="Calibri" pitchFamily="34" charset="-120"/>
              </a:rPr>
              <a:t>Navegação, manipulação de arquivos, edição, redirecionamento, pipes e gerenciamento de pacotes no Linux Mint</a:t>
            </a:r>
            <a:endParaRPr lang="en-US" sz="1800" dirty="0"/>
          </a:p>
        </p:txBody>
      </p:sp>
      <p:sp>
        <p:nvSpPr>
          <p:cNvPr id="7" name="Shape 5"/>
          <p:cNvSpPr/>
          <p:nvPr/>
        </p:nvSpPr>
        <p:spPr>
          <a:xfrm>
            <a:off x="731520" y="5029200"/>
            <a:ext cx="2011680" cy="0"/>
          </a:xfrm>
          <a:prstGeom prst="line">
            <a:avLst/>
          </a:prstGeom>
          <a:noFill/>
          <a:ln w="38100">
            <a:solidFill>
              <a:srgbClr val="1C7293"/>
            </a:solidFill>
            <a:prstDash val="solid"/>
          </a:ln>
        </p:spPr>
      </p:sp>
      <p:sp>
        <p:nvSpPr>
          <p:cNvPr id="8" name="Text 6"/>
          <p:cNvSpPr/>
          <p:nvPr/>
        </p:nvSpPr>
        <p:spPr>
          <a:xfrm>
            <a:off x="731520" y="5166360"/>
            <a:ext cx="7315200" cy="365760"/>
          </a:xfrm>
          <a:prstGeom prst="rect">
            <a:avLst/>
          </a:prstGeom>
          <a:noFill/>
          <a:ln/>
        </p:spPr>
        <p:txBody>
          <a:bodyPr wrap="square" rtlCol="0" anchor="ctr"/>
          <a:lstStyle/>
          <a:p>
            <a:pPr indent="0" marL="0">
              <a:buNone/>
            </a:pPr>
            <a:r>
              <a:rPr lang="en-US" sz="1300" dirty="0">
                <a:solidFill>
                  <a:srgbClr val="8FA6B3"/>
                </a:solidFill>
                <a:latin typeface="Calibri" pitchFamily="34" charset="0"/>
                <a:ea typeface="Calibri" pitchFamily="34" charset="-122"/>
                <a:cs typeface="Calibri" pitchFamily="34" charset="-120"/>
              </a:rPr>
              <a:t>Análise e Desenvolvimento de Sistemas  •  Linux Mint no VirtualBox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O QUE VAMOS VER HOJE</a:t>
            </a:r>
            <a:endParaRPr lang="en-US" sz="1400" dirty="0"/>
          </a:p>
        </p:txBody>
      </p:sp>
      <p:sp>
        <p:nvSpPr>
          <p:cNvPr id="3" name="Text 1"/>
          <p:cNvSpPr/>
          <p:nvPr/>
        </p:nvSpPr>
        <p:spPr>
          <a:xfrm>
            <a:off x="640080" y="868680"/>
            <a:ext cx="10515600" cy="640080"/>
          </a:xfrm>
          <a:prstGeom prst="rect">
            <a:avLst/>
          </a:prstGeom>
          <a:noFill/>
          <a:ln/>
        </p:spPr>
        <p:txBody>
          <a:bodyPr wrap="square" rtlCol="0" anchor="ctr"/>
          <a:lstStyle/>
          <a:p>
            <a:pPr indent="0" marL="0">
              <a:buNone/>
            </a:pPr>
            <a:r>
              <a:rPr lang="en-US" sz="3000" b="1" dirty="0">
                <a:solidFill>
                  <a:srgbClr val="21295C"/>
                </a:solidFill>
                <a:latin typeface="Calibri" pitchFamily="34" charset="0"/>
                <a:ea typeface="Calibri" pitchFamily="34" charset="-122"/>
                <a:cs typeface="Calibri" pitchFamily="34" charset="-120"/>
              </a:rPr>
              <a:t>Da organização do sistema à automação com comandos</a:t>
            </a:r>
            <a:endParaRPr lang="en-US" sz="3000" dirty="0"/>
          </a:p>
        </p:txBody>
      </p:sp>
      <p:sp>
        <p:nvSpPr>
          <p:cNvPr id="4" name="Shape 2"/>
          <p:cNvSpPr/>
          <p:nvPr/>
        </p:nvSpPr>
        <p:spPr>
          <a:xfrm>
            <a:off x="640080" y="187452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5" name="Text 3"/>
          <p:cNvSpPr/>
          <p:nvPr/>
        </p:nvSpPr>
        <p:spPr>
          <a:xfrm>
            <a:off x="868680" y="203911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868680" y="249631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FHS do Linux</a:t>
            </a:r>
            <a:endParaRPr lang="en-US" sz="1500" dirty="0"/>
          </a:p>
        </p:txBody>
      </p:sp>
      <p:sp>
        <p:nvSpPr>
          <p:cNvPr id="7" name="Text 5"/>
          <p:cNvSpPr/>
          <p:nvPr/>
        </p:nvSpPr>
        <p:spPr>
          <a:xfrm>
            <a:off x="868680" y="289864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A lógica por trás dos diretórios do sistema</a:t>
            </a:r>
            <a:endParaRPr lang="en-US" sz="1150" dirty="0"/>
          </a:p>
        </p:txBody>
      </p:sp>
      <p:sp>
        <p:nvSpPr>
          <p:cNvPr id="8" name="Shape 6"/>
          <p:cNvSpPr/>
          <p:nvPr/>
        </p:nvSpPr>
        <p:spPr>
          <a:xfrm>
            <a:off x="4297680" y="187452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9" name="Text 7"/>
          <p:cNvSpPr/>
          <p:nvPr/>
        </p:nvSpPr>
        <p:spPr>
          <a:xfrm>
            <a:off x="4526280" y="203911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4526280" y="249631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Navegação</a:t>
            </a:r>
            <a:endParaRPr lang="en-US" sz="1500" dirty="0"/>
          </a:p>
        </p:txBody>
      </p:sp>
      <p:sp>
        <p:nvSpPr>
          <p:cNvPr id="11" name="Text 9"/>
          <p:cNvSpPr/>
          <p:nvPr/>
        </p:nvSpPr>
        <p:spPr>
          <a:xfrm>
            <a:off x="4526280" y="289864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Andar pelo sistema de arquivos via terminal</a:t>
            </a:r>
            <a:endParaRPr lang="en-US" sz="1150" dirty="0"/>
          </a:p>
        </p:txBody>
      </p:sp>
      <p:sp>
        <p:nvSpPr>
          <p:cNvPr id="12" name="Shape 10"/>
          <p:cNvSpPr/>
          <p:nvPr/>
        </p:nvSpPr>
        <p:spPr>
          <a:xfrm>
            <a:off x="7955280" y="187452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13" name="Text 11"/>
          <p:cNvSpPr/>
          <p:nvPr/>
        </p:nvSpPr>
        <p:spPr>
          <a:xfrm>
            <a:off x="8183880" y="203911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8183880" y="249631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Manipulação de arquivos</a:t>
            </a:r>
            <a:endParaRPr lang="en-US" sz="1500" dirty="0"/>
          </a:p>
        </p:txBody>
      </p:sp>
      <p:sp>
        <p:nvSpPr>
          <p:cNvPr id="15" name="Text 13"/>
          <p:cNvSpPr/>
          <p:nvPr/>
        </p:nvSpPr>
        <p:spPr>
          <a:xfrm>
            <a:off x="8183880" y="289864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Criar, copiar, mover e remover</a:t>
            </a:r>
            <a:endParaRPr lang="en-US" sz="1150" dirty="0"/>
          </a:p>
        </p:txBody>
      </p:sp>
      <p:sp>
        <p:nvSpPr>
          <p:cNvPr id="16" name="Shape 14"/>
          <p:cNvSpPr/>
          <p:nvPr/>
        </p:nvSpPr>
        <p:spPr>
          <a:xfrm>
            <a:off x="640080" y="374904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17" name="Text 15"/>
          <p:cNvSpPr/>
          <p:nvPr/>
        </p:nvSpPr>
        <p:spPr>
          <a:xfrm>
            <a:off x="868680" y="391363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868680" y="437083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Visualização e edição</a:t>
            </a:r>
            <a:endParaRPr lang="en-US" sz="1500" dirty="0"/>
          </a:p>
        </p:txBody>
      </p:sp>
      <p:sp>
        <p:nvSpPr>
          <p:cNvPr id="19" name="Text 17"/>
          <p:cNvSpPr/>
          <p:nvPr/>
        </p:nvSpPr>
        <p:spPr>
          <a:xfrm>
            <a:off x="868680" y="477316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Ler e editar conteúdo sem interface gráfica</a:t>
            </a:r>
            <a:endParaRPr lang="en-US" sz="1150" dirty="0"/>
          </a:p>
        </p:txBody>
      </p:sp>
      <p:sp>
        <p:nvSpPr>
          <p:cNvPr id="20" name="Shape 18"/>
          <p:cNvSpPr/>
          <p:nvPr/>
        </p:nvSpPr>
        <p:spPr>
          <a:xfrm>
            <a:off x="4297680" y="374904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21" name="Text 19"/>
          <p:cNvSpPr/>
          <p:nvPr/>
        </p:nvSpPr>
        <p:spPr>
          <a:xfrm>
            <a:off x="4526280" y="391363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4526280" y="437083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Redirecionamento e pipes</a:t>
            </a:r>
            <a:endParaRPr lang="en-US" sz="1500" dirty="0"/>
          </a:p>
        </p:txBody>
      </p:sp>
      <p:sp>
        <p:nvSpPr>
          <p:cNvPr id="23" name="Text 21"/>
          <p:cNvSpPr/>
          <p:nvPr/>
        </p:nvSpPr>
        <p:spPr>
          <a:xfrm>
            <a:off x="4526280" y="477316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Conectar comandos entre si</a:t>
            </a:r>
            <a:endParaRPr lang="en-US" sz="1150" dirty="0"/>
          </a:p>
        </p:txBody>
      </p:sp>
      <p:sp>
        <p:nvSpPr>
          <p:cNvPr id="24" name="Shape 22"/>
          <p:cNvSpPr/>
          <p:nvPr/>
        </p:nvSpPr>
        <p:spPr>
          <a:xfrm>
            <a:off x="7955280" y="3749040"/>
            <a:ext cx="3337560" cy="1554480"/>
          </a:xfrm>
          <a:prstGeom prst="roundRect">
            <a:avLst>
              <a:gd name="adj" fmla="val 4706"/>
            </a:avLst>
          </a:prstGeom>
          <a:solidFill>
            <a:srgbClr val="FFFFFF"/>
          </a:solidFill>
          <a:ln w="12700">
            <a:solidFill>
              <a:srgbClr val="DDE6EA"/>
            </a:solidFill>
            <a:prstDash val="solid"/>
          </a:ln>
          <a:effectLst>
            <a:outerShdw sx="100000" sy="100000" kx="0" ky="0" algn="bl" rotWithShape="0" blurRad="76200" dist="25400" dir="5400000">
              <a:srgbClr val="1B2B38">
                <a:alpha val="12000"/>
              </a:srgbClr>
            </a:outerShdw>
          </a:effectLst>
        </p:spPr>
      </p:sp>
      <p:sp>
        <p:nvSpPr>
          <p:cNvPr id="25" name="Text 23"/>
          <p:cNvSpPr/>
          <p:nvPr/>
        </p:nvSpPr>
        <p:spPr>
          <a:xfrm>
            <a:off x="8183880" y="3913632"/>
            <a:ext cx="1097280" cy="457200"/>
          </a:xfrm>
          <a:prstGeom prst="rect">
            <a:avLst/>
          </a:prstGeom>
          <a:noFill/>
          <a:ln/>
        </p:spPr>
        <p:txBody>
          <a:bodyPr wrap="square" lIns="0" tIns="0" rIns="0" bIns="0" rtlCol="0" anchor="ctr"/>
          <a:lstStyle/>
          <a:p>
            <a:pPr indent="0" marL="0">
              <a:buNone/>
            </a:pPr>
            <a:r>
              <a:rPr lang="en-US" sz="2200" b="1" dirty="0">
                <a:solidFill>
                  <a:srgbClr val="1C7293"/>
                </a:solidFill>
                <a:latin typeface="Calibri" pitchFamily="34" charset="0"/>
                <a:ea typeface="Calibri" pitchFamily="34" charset="-122"/>
                <a:cs typeface="Calibri" pitchFamily="34" charset="-120"/>
              </a:rPr>
              <a:t>06</a:t>
            </a:r>
            <a:endParaRPr lang="en-US" sz="2200" dirty="0"/>
          </a:p>
        </p:txBody>
      </p:sp>
      <p:sp>
        <p:nvSpPr>
          <p:cNvPr id="26" name="Text 24"/>
          <p:cNvSpPr/>
          <p:nvPr/>
        </p:nvSpPr>
        <p:spPr>
          <a:xfrm>
            <a:off x="8183880" y="4370832"/>
            <a:ext cx="2880360" cy="45720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Atualização e instalação</a:t>
            </a:r>
            <a:endParaRPr lang="en-US" sz="1500" dirty="0"/>
          </a:p>
        </p:txBody>
      </p:sp>
      <p:sp>
        <p:nvSpPr>
          <p:cNvPr id="27" name="Text 25"/>
          <p:cNvSpPr/>
          <p:nvPr/>
        </p:nvSpPr>
        <p:spPr>
          <a:xfrm>
            <a:off x="8183880" y="4773168"/>
            <a:ext cx="2880360" cy="457200"/>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Manter o sistema e instalar ferramentas</a:t>
            </a:r>
            <a:endParaRPr lang="en-US" sz="1150" dirty="0"/>
          </a:p>
        </p:txBody>
      </p:sp>
      <p:sp>
        <p:nvSpPr>
          <p:cNvPr id="28" name="Text 26"/>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fhs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1 · FHS DO LINUX</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Onde ficam os programas, as configurações e os logs de um sistema Linux — e por que essa organização é tão previsível?</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Um analista de DevOps investigando por que uma aplicação da iFood parou de responder não abre um "Explorador de Arquivos" clicando ao acaso. Ele sabe, de cor, que os logs ficam em /var/log, as configurações em /etc, e os binários em /usr/bin — em qualquer servidor Linux do mundo.</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1 · FHS DO LINUX</a:t>
            </a:r>
            <a:endParaRPr lang="en-US" sz="1400" dirty="0"/>
          </a:p>
        </p:txBody>
      </p:sp>
      <p:sp>
        <p:nvSpPr>
          <p:cNvPr id="3" name="Text 1"/>
          <p:cNvSpPr/>
          <p:nvPr/>
        </p:nvSpPr>
        <p:spPr>
          <a:xfrm>
            <a:off x="640080" y="868680"/>
            <a:ext cx="10515600" cy="640080"/>
          </a:xfrm>
          <a:prstGeom prst="rect">
            <a:avLst/>
          </a:prstGeom>
          <a:noFill/>
          <a:ln/>
        </p:spPr>
        <p:txBody>
          <a:bodyPr wrap="square" rtlCol="0" anchor="ctr"/>
          <a:lstStyle/>
          <a:p>
            <a:pPr indent="0" marL="0">
              <a:buNone/>
            </a:pPr>
            <a:r>
              <a:rPr lang="en-US" sz="2800" b="1" dirty="0">
                <a:solidFill>
                  <a:srgbClr val="21295C"/>
                </a:solidFill>
                <a:latin typeface="Calibri" pitchFamily="34" charset="0"/>
                <a:ea typeface="Calibri" pitchFamily="34" charset="-122"/>
                <a:cs typeface="Calibri" pitchFamily="34" charset="-120"/>
              </a:rPr>
              <a:t>FHS: Filesystem Hierarchy Standard</a:t>
            </a:r>
            <a:endParaRPr lang="en-US" sz="2800" dirty="0"/>
          </a:p>
        </p:txBody>
      </p:sp>
      <p:sp>
        <p:nvSpPr>
          <p:cNvPr id="4" name="Text 2"/>
          <p:cNvSpPr/>
          <p:nvPr/>
        </p:nvSpPr>
        <p:spPr>
          <a:xfrm>
            <a:off x="640080" y="1554480"/>
            <a:ext cx="10515600" cy="822960"/>
          </a:xfrm>
          <a:prstGeom prst="rect">
            <a:avLst/>
          </a:prstGeom>
          <a:noFill/>
          <a:ln/>
        </p:spPr>
        <p:txBody>
          <a:bodyPr wrap="square" rtlCol="0" anchor="ctr"/>
          <a:lstStyle/>
          <a:p>
            <a:pPr indent="0" marL="0">
              <a:lnSpc>
                <a:spcPct val="120000"/>
              </a:lnSpc>
              <a:buNone/>
            </a:pPr>
            <a:r>
              <a:rPr lang="en-US" sz="1500" dirty="0">
                <a:solidFill>
                  <a:srgbClr val="5A6B78"/>
                </a:solidFill>
                <a:latin typeface="Calibri" pitchFamily="34" charset="0"/>
                <a:ea typeface="Calibri" pitchFamily="34" charset="-122"/>
                <a:cs typeface="Calibri" pitchFamily="34" charset="-120"/>
              </a:rPr>
              <a:t>Um padrão mantido pela Linux Foundation que define que tipo de arquivo mora em qual diretório — garantindo que Linux Mint, Ubuntu, Debian e até o Linux dentro de um container Docker compartilhem a mesma estrutura previsível.</a:t>
            </a:r>
            <a:endParaRPr lang="en-US" sz="1500" dirty="0"/>
          </a:p>
        </p:txBody>
      </p:sp>
      <p:sp>
        <p:nvSpPr>
          <p:cNvPr id="5" name="Shape 3"/>
          <p:cNvSpPr/>
          <p:nvPr/>
        </p:nvSpPr>
        <p:spPr>
          <a:xfrm>
            <a:off x="640080" y="2514600"/>
            <a:ext cx="10881360" cy="1188720"/>
          </a:xfrm>
          <a:prstGeom prst="roundRect">
            <a:avLst>
              <a:gd name="adj" fmla="val 6154"/>
            </a:avLst>
          </a:prstGeom>
          <a:solidFill>
            <a:srgbClr val="21295C"/>
          </a:solidFill>
          <a:ln/>
        </p:spPr>
      </p:sp>
      <p:sp>
        <p:nvSpPr>
          <p:cNvPr id="6" name="Text 4"/>
          <p:cNvSpPr/>
          <p:nvPr/>
        </p:nvSpPr>
        <p:spPr>
          <a:xfrm>
            <a:off x="914400" y="2697480"/>
            <a:ext cx="914400" cy="822960"/>
          </a:xfrm>
          <a:prstGeom prst="rect">
            <a:avLst/>
          </a:prstGeom>
          <a:noFill/>
          <a:ln/>
        </p:spPr>
        <p:txBody>
          <a:bodyPr wrap="square" rtlCol="0" anchor="ctr"/>
          <a:lstStyle/>
          <a:p>
            <a:pPr indent="0" marL="0">
              <a:buNone/>
            </a:pPr>
            <a:r>
              <a:rPr lang="en-US" sz="4000" b="1" dirty="0">
                <a:solidFill>
                  <a:srgbClr val="8FD3E8"/>
                </a:solidFill>
                <a:latin typeface="Consolas" pitchFamily="34" charset="0"/>
                <a:ea typeface="Consolas" pitchFamily="34" charset="-122"/>
                <a:cs typeface="Consolas" pitchFamily="34" charset="-120"/>
              </a:rPr>
              <a:t>/</a:t>
            </a:r>
            <a:endParaRPr lang="en-US" sz="4000" dirty="0"/>
          </a:p>
        </p:txBody>
      </p:sp>
      <p:sp>
        <p:nvSpPr>
          <p:cNvPr id="7" name="Text 5"/>
          <p:cNvSpPr/>
          <p:nvPr/>
        </p:nvSpPr>
        <p:spPr>
          <a:xfrm>
            <a:off x="1920240" y="2514600"/>
            <a:ext cx="9326880" cy="1188720"/>
          </a:xfrm>
          <a:prstGeom prst="rect">
            <a:avLst/>
          </a:prstGeom>
          <a:noFill/>
          <a:ln/>
        </p:spPr>
        <p:txBody>
          <a:bodyPr wrap="square"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Tudo no Linux começa em um único diretório: a raiz. Todos os outros diretórios são "galhos" dela.</a:t>
            </a:r>
            <a:endParaRPr lang="en-US" sz="1600" dirty="0"/>
          </a:p>
        </p:txBody>
      </p:sp>
      <p:sp>
        <p:nvSpPr>
          <p:cNvPr id="8" name="Shape 6"/>
          <p:cNvSpPr/>
          <p:nvPr/>
        </p:nvSpPr>
        <p:spPr>
          <a:xfrm>
            <a:off x="640080" y="3977640"/>
            <a:ext cx="2606040" cy="2103120"/>
          </a:xfrm>
          <a:prstGeom prst="roundRect">
            <a:avLst>
              <a:gd name="adj" fmla="val 3478"/>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9" name="Text 7"/>
          <p:cNvSpPr/>
          <p:nvPr/>
        </p:nvSpPr>
        <p:spPr>
          <a:xfrm>
            <a:off x="822960" y="4160520"/>
            <a:ext cx="2240280" cy="502920"/>
          </a:xfrm>
          <a:prstGeom prst="rect">
            <a:avLst/>
          </a:prstGeom>
          <a:noFill/>
          <a:ln/>
        </p:spPr>
        <p:txBody>
          <a:bodyPr wrap="square" lIns="0" tIns="0" rIns="0" bIns="0" rtlCol="0" anchor="ctr"/>
          <a:lstStyle/>
          <a:p>
            <a:pPr indent="0" marL="0">
              <a:buNone/>
            </a:pPr>
            <a:r>
              <a:rPr lang="en-US" sz="2200" b="1" dirty="0">
                <a:solidFill>
                  <a:srgbClr val="1C7293"/>
                </a:solidFill>
                <a:latin typeface="Consolas" pitchFamily="34" charset="0"/>
                <a:ea typeface="Consolas" pitchFamily="34" charset="-122"/>
                <a:cs typeface="Consolas" pitchFamily="34" charset="-120"/>
              </a:rPr>
              <a:t>/etc</a:t>
            </a:r>
            <a:endParaRPr lang="en-US" sz="2200" dirty="0"/>
          </a:p>
        </p:txBody>
      </p:sp>
      <p:sp>
        <p:nvSpPr>
          <p:cNvPr id="10" name="Text 8"/>
          <p:cNvSpPr/>
          <p:nvPr/>
        </p:nvSpPr>
        <p:spPr>
          <a:xfrm>
            <a:off x="822960" y="4754880"/>
            <a:ext cx="2240280" cy="1188720"/>
          </a:xfrm>
          <a:prstGeom prst="rect">
            <a:avLst/>
          </a:prstGeom>
          <a:noFill/>
          <a:ln/>
        </p:spPr>
        <p:txBody>
          <a:bodyPr wrap="square" lIns="0" tIns="0" rIns="0" bIns="0" rtlCol="0" anchor="ctr"/>
          <a:lstStyle/>
          <a:p>
            <a:pPr indent="0" marL="0">
              <a:lnSpc>
                <a:spcPct val="120000"/>
              </a:lnSpc>
              <a:buNone/>
            </a:pPr>
            <a:r>
              <a:rPr lang="en-US" sz="1300" dirty="0">
                <a:solidFill>
                  <a:srgbClr val="1E2430"/>
                </a:solidFill>
                <a:latin typeface="Calibri" pitchFamily="34" charset="0"/>
                <a:ea typeface="Calibri" pitchFamily="34" charset="-122"/>
                <a:cs typeface="Calibri" pitchFamily="34" charset="-120"/>
              </a:rPr>
              <a:t>Configurações do sistema e dos serviços</a:t>
            </a:r>
            <a:endParaRPr lang="en-US" sz="1300" dirty="0"/>
          </a:p>
        </p:txBody>
      </p:sp>
      <p:sp>
        <p:nvSpPr>
          <p:cNvPr id="11" name="Shape 9"/>
          <p:cNvSpPr/>
          <p:nvPr/>
        </p:nvSpPr>
        <p:spPr>
          <a:xfrm>
            <a:off x="3474720" y="3977640"/>
            <a:ext cx="2606040" cy="2103120"/>
          </a:xfrm>
          <a:prstGeom prst="roundRect">
            <a:avLst>
              <a:gd name="adj" fmla="val 3478"/>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2" name="Text 10"/>
          <p:cNvSpPr/>
          <p:nvPr/>
        </p:nvSpPr>
        <p:spPr>
          <a:xfrm>
            <a:off x="3657600" y="4160520"/>
            <a:ext cx="2240280" cy="502920"/>
          </a:xfrm>
          <a:prstGeom prst="rect">
            <a:avLst/>
          </a:prstGeom>
          <a:noFill/>
          <a:ln/>
        </p:spPr>
        <p:txBody>
          <a:bodyPr wrap="square" lIns="0" tIns="0" rIns="0" bIns="0" rtlCol="0" anchor="ctr"/>
          <a:lstStyle/>
          <a:p>
            <a:pPr indent="0" marL="0">
              <a:buNone/>
            </a:pPr>
            <a:r>
              <a:rPr lang="en-US" sz="2200" b="1" dirty="0">
                <a:solidFill>
                  <a:srgbClr val="1C7293"/>
                </a:solidFill>
                <a:latin typeface="Consolas" pitchFamily="34" charset="0"/>
                <a:ea typeface="Consolas" pitchFamily="34" charset="-122"/>
                <a:cs typeface="Consolas" pitchFamily="34" charset="-120"/>
              </a:rPr>
              <a:t>/home</a:t>
            </a:r>
            <a:endParaRPr lang="en-US" sz="2200" dirty="0"/>
          </a:p>
        </p:txBody>
      </p:sp>
      <p:sp>
        <p:nvSpPr>
          <p:cNvPr id="13" name="Text 11"/>
          <p:cNvSpPr/>
          <p:nvPr/>
        </p:nvSpPr>
        <p:spPr>
          <a:xfrm>
            <a:off x="3657600" y="4754880"/>
            <a:ext cx="2240280" cy="1188720"/>
          </a:xfrm>
          <a:prstGeom prst="rect">
            <a:avLst/>
          </a:prstGeom>
          <a:noFill/>
          <a:ln/>
        </p:spPr>
        <p:txBody>
          <a:bodyPr wrap="square" lIns="0" tIns="0" rIns="0" bIns="0" rtlCol="0" anchor="ctr"/>
          <a:lstStyle/>
          <a:p>
            <a:pPr indent="0" marL="0">
              <a:lnSpc>
                <a:spcPct val="120000"/>
              </a:lnSpc>
              <a:buNone/>
            </a:pPr>
            <a:r>
              <a:rPr lang="en-US" sz="1300" dirty="0">
                <a:solidFill>
                  <a:srgbClr val="1E2430"/>
                </a:solidFill>
                <a:latin typeface="Calibri" pitchFamily="34" charset="0"/>
                <a:ea typeface="Calibri" pitchFamily="34" charset="-122"/>
                <a:cs typeface="Calibri" pitchFamily="34" charset="-120"/>
              </a:rPr>
              <a:t>Diretório pessoal de cada usuário</a:t>
            </a:r>
            <a:endParaRPr lang="en-US" sz="1300" dirty="0"/>
          </a:p>
        </p:txBody>
      </p:sp>
      <p:sp>
        <p:nvSpPr>
          <p:cNvPr id="14" name="Shape 12"/>
          <p:cNvSpPr/>
          <p:nvPr/>
        </p:nvSpPr>
        <p:spPr>
          <a:xfrm>
            <a:off x="6309360" y="3977640"/>
            <a:ext cx="2606040" cy="2103120"/>
          </a:xfrm>
          <a:prstGeom prst="roundRect">
            <a:avLst>
              <a:gd name="adj" fmla="val 3478"/>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5" name="Text 13"/>
          <p:cNvSpPr/>
          <p:nvPr/>
        </p:nvSpPr>
        <p:spPr>
          <a:xfrm>
            <a:off x="6492240" y="4160520"/>
            <a:ext cx="2240280" cy="502920"/>
          </a:xfrm>
          <a:prstGeom prst="rect">
            <a:avLst/>
          </a:prstGeom>
          <a:noFill/>
          <a:ln/>
        </p:spPr>
        <p:txBody>
          <a:bodyPr wrap="square" lIns="0" tIns="0" rIns="0" bIns="0" rtlCol="0" anchor="ctr"/>
          <a:lstStyle/>
          <a:p>
            <a:pPr indent="0" marL="0">
              <a:buNone/>
            </a:pPr>
            <a:r>
              <a:rPr lang="en-US" sz="2200" b="1" dirty="0">
                <a:solidFill>
                  <a:srgbClr val="1C7293"/>
                </a:solidFill>
                <a:latin typeface="Consolas" pitchFamily="34" charset="0"/>
                <a:ea typeface="Consolas" pitchFamily="34" charset="-122"/>
                <a:cs typeface="Consolas" pitchFamily="34" charset="-120"/>
              </a:rPr>
              <a:t>/var</a:t>
            </a:r>
            <a:endParaRPr lang="en-US" sz="2200" dirty="0"/>
          </a:p>
        </p:txBody>
      </p:sp>
      <p:sp>
        <p:nvSpPr>
          <p:cNvPr id="16" name="Text 14"/>
          <p:cNvSpPr/>
          <p:nvPr/>
        </p:nvSpPr>
        <p:spPr>
          <a:xfrm>
            <a:off x="6492240" y="4754880"/>
            <a:ext cx="2240280" cy="1188720"/>
          </a:xfrm>
          <a:prstGeom prst="rect">
            <a:avLst/>
          </a:prstGeom>
          <a:noFill/>
          <a:ln/>
        </p:spPr>
        <p:txBody>
          <a:bodyPr wrap="square" lIns="0" tIns="0" rIns="0" bIns="0" rtlCol="0" anchor="ctr"/>
          <a:lstStyle/>
          <a:p>
            <a:pPr indent="0" marL="0">
              <a:lnSpc>
                <a:spcPct val="120000"/>
              </a:lnSpc>
              <a:buNone/>
            </a:pPr>
            <a:r>
              <a:rPr lang="en-US" sz="1300" dirty="0">
                <a:solidFill>
                  <a:srgbClr val="1E2430"/>
                </a:solidFill>
                <a:latin typeface="Calibri" pitchFamily="34" charset="0"/>
                <a:ea typeface="Calibri" pitchFamily="34" charset="-122"/>
                <a:cs typeface="Calibri" pitchFamily="34" charset="-120"/>
              </a:rPr>
              <a:t>Dados que variam: logs, filas, cache</a:t>
            </a:r>
            <a:endParaRPr lang="en-US" sz="1300" dirty="0"/>
          </a:p>
        </p:txBody>
      </p:sp>
      <p:sp>
        <p:nvSpPr>
          <p:cNvPr id="17" name="Shape 15"/>
          <p:cNvSpPr/>
          <p:nvPr/>
        </p:nvSpPr>
        <p:spPr>
          <a:xfrm>
            <a:off x="9144000" y="3977640"/>
            <a:ext cx="2606040" cy="2103120"/>
          </a:xfrm>
          <a:prstGeom prst="roundRect">
            <a:avLst>
              <a:gd name="adj" fmla="val 3478"/>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8" name="Text 16"/>
          <p:cNvSpPr/>
          <p:nvPr/>
        </p:nvSpPr>
        <p:spPr>
          <a:xfrm>
            <a:off x="9326880" y="4160520"/>
            <a:ext cx="2240280" cy="502920"/>
          </a:xfrm>
          <a:prstGeom prst="rect">
            <a:avLst/>
          </a:prstGeom>
          <a:noFill/>
          <a:ln/>
        </p:spPr>
        <p:txBody>
          <a:bodyPr wrap="square" lIns="0" tIns="0" rIns="0" bIns="0" rtlCol="0" anchor="ctr"/>
          <a:lstStyle/>
          <a:p>
            <a:pPr indent="0" marL="0">
              <a:buNone/>
            </a:pPr>
            <a:r>
              <a:rPr lang="en-US" sz="2200" b="1" dirty="0">
                <a:solidFill>
                  <a:srgbClr val="1C7293"/>
                </a:solidFill>
                <a:latin typeface="Consolas" pitchFamily="34" charset="0"/>
                <a:ea typeface="Consolas" pitchFamily="34" charset="-122"/>
                <a:cs typeface="Consolas" pitchFamily="34" charset="-120"/>
              </a:rPr>
              <a:t>/usr</a:t>
            </a:r>
            <a:endParaRPr lang="en-US" sz="2200" dirty="0"/>
          </a:p>
        </p:txBody>
      </p:sp>
      <p:sp>
        <p:nvSpPr>
          <p:cNvPr id="19" name="Text 17"/>
          <p:cNvSpPr/>
          <p:nvPr/>
        </p:nvSpPr>
        <p:spPr>
          <a:xfrm>
            <a:off x="9326880" y="4754880"/>
            <a:ext cx="2240280" cy="1188720"/>
          </a:xfrm>
          <a:prstGeom prst="rect">
            <a:avLst/>
          </a:prstGeom>
          <a:noFill/>
          <a:ln/>
        </p:spPr>
        <p:txBody>
          <a:bodyPr wrap="square" lIns="0" tIns="0" rIns="0" bIns="0" rtlCol="0" anchor="ctr"/>
          <a:lstStyle/>
          <a:p>
            <a:pPr indent="0" marL="0">
              <a:lnSpc>
                <a:spcPct val="120000"/>
              </a:lnSpc>
              <a:buNone/>
            </a:pPr>
            <a:r>
              <a:rPr lang="en-US" sz="1300" dirty="0">
                <a:solidFill>
                  <a:srgbClr val="1E2430"/>
                </a:solidFill>
                <a:latin typeface="Calibri" pitchFamily="34" charset="0"/>
                <a:ea typeface="Calibri" pitchFamily="34" charset="-122"/>
                <a:cs typeface="Calibri" pitchFamily="34" charset="-120"/>
              </a:rPr>
              <a:t>Maior parte dos programas do sistema</a:t>
            </a:r>
            <a:endParaRPr lang="en-US" sz="1300" dirty="0"/>
          </a:p>
        </p:txBody>
      </p:sp>
      <p:sp>
        <p:nvSpPr>
          <p:cNvPr id="20" name="Text 18"/>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1 · FHS DO LINUX</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Mapa completo dos diretórios essenciais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4572000"/>
        </p:xfrm>
        <a:graphic>
          <a:graphicData uri="http://schemas.openxmlformats.org/drawingml/2006/table">
            <a:tbl>
              <a:tblPr/>
              <a:tblGrid>
                <a:gridCol w="2926080"/>
                <a:gridCol w="7955280"/>
              </a:tblGrid>
              <a:tr h="415636">
                <a:tc>
                  <a:txBody>
                    <a:bodyPr/>
                    <a:lstStyle/>
                    <a:p>
                      <a:pPr indent="0" marL="0">
                        <a:buNone/>
                      </a:pPr>
                      <a:r>
                        <a:rPr lang="en-US" sz="1400" b="1" dirty="0">
                          <a:solidFill>
                            <a:srgbClr val="FFFFFF"/>
                          </a:solidFill>
                        </a:rPr>
                        <a:t>Diretório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rPr>
                        <a:t>Função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/bin, /sbin</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Comandos essenciais e administrativos</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/boot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Arquivos para o Linux iniciar (kernel, bootloader)</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/dev</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Dispositivos de hardware representados como arquivos</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/lib</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Bibliotecas compartilhadas pelos programas</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/media, /mnt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Pontos de montagem de discos e pendrives</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/opt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Software de terceiros instalado manualmente</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/proc</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Sistema de arquivos virtual do kernel</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/root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Diretório pessoal do superusuário (root)</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/tmp</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Arquivos temporários, apagados a cada reinício</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415636">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/srv</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Dados de serviços que o servidor oferece</a:t>
                      </a:r>
                      <a:endParaRPr lang="en-US" sz="13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bl>
          </a:graphicData>
        </a:graphic>
      </p:graphicFrame>
      <p:sp>
        <p:nvSpPr>
          <p:cNvPr id="5" name="Text 2"/>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navegacao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2 · NAVEGAÇÃO</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Se não há ícones para clicar, como alguém "anda" pelas pastas de um sistema usando apenas texto?</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Times de DevOps administram dezenas de servidores sem interface gráfica nenhuma — apenas acesso remoto via SSH. Um engenheiro conectado a um servidor de produção precisa saber, de memória, os comandos que o levam exatamente onde precisa ir, da forma mais rápida possível.</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2 · NAVEGAÇÃO</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Comandos essenciais para se mover no sistema</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4572000"/>
        </p:xfrm>
        <a:graphic>
          <a:graphicData uri="http://schemas.openxmlformats.org/drawingml/2006/table">
            <a:tbl>
              <a:tblPr/>
              <a:tblGrid>
                <a:gridCol w="3291840"/>
                <a:gridCol w="7589520"/>
              </a:tblGrid>
              <a:tr h="571500">
                <a:tc>
                  <a:txBody>
                    <a:bodyPr/>
                    <a:lstStyle/>
                    <a:p>
                      <a:pPr indent="0" marL="0">
                        <a:buNone/>
                      </a:pPr>
                      <a:r>
                        <a:rPr lang="en-US" sz="1400" b="1" dirty="0">
                          <a:solidFill>
                            <a:srgbClr val="FFFFFF"/>
                          </a:solidFill>
                        </a:rPr>
                        <a:t>Comando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rPr>
                        <a:t>Função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pwd</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Mostra em qual pasta você está agora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cd &lt;pasta&gt;</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Muda para a pasta indicada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cd ..</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Sobe um nível (pasta "pai")</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cd ~</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Vai direto para o seu diretório pessoal</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cd -</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Volta para a última pasta em que você estava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ls -la</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Lista o conteúdo, incluindo arquivos ocultos</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71500">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ls -lh</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Lista com tamanhos legíveis (KB, MB)</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5" name="Text 2"/>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2 · NAVEGAÇÃO</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Caminhos absolutos x caminhos relativos</a:t>
            </a:r>
            <a:endParaRPr lang="en-US" sz="2600" dirty="0"/>
          </a:p>
        </p:txBody>
      </p:sp>
      <p:sp>
        <p:nvSpPr>
          <p:cNvPr id="4" name="Shape 2"/>
          <p:cNvSpPr/>
          <p:nvPr/>
        </p:nvSpPr>
        <p:spPr>
          <a:xfrm>
            <a:off x="640080" y="1783080"/>
            <a:ext cx="5212080" cy="3200400"/>
          </a:xfrm>
          <a:prstGeom prst="roundRect">
            <a:avLst>
              <a:gd name="adj" fmla="val 2286"/>
            </a:avLst>
          </a:prstGeom>
          <a:solidFill>
            <a:srgbClr val="21295C"/>
          </a:solidFill>
          <a:ln/>
        </p:spPr>
      </p:sp>
      <p:sp>
        <p:nvSpPr>
          <p:cNvPr id="5" name="Text 3"/>
          <p:cNvSpPr/>
          <p:nvPr/>
        </p:nvSpPr>
        <p:spPr>
          <a:xfrm>
            <a:off x="914400" y="2057400"/>
            <a:ext cx="4663440" cy="365760"/>
          </a:xfrm>
          <a:prstGeom prst="rect">
            <a:avLst/>
          </a:prstGeom>
          <a:noFill/>
          <a:ln/>
        </p:spPr>
        <p:txBody>
          <a:bodyPr wrap="square" rtlCol="0" anchor="ctr"/>
          <a:lstStyle/>
          <a:p>
            <a:pPr indent="0" marL="0">
              <a:buNone/>
            </a:pPr>
            <a:r>
              <a:rPr lang="en-US" sz="1400" b="1" spc="150" kern="0" dirty="0">
                <a:solidFill>
                  <a:srgbClr val="8FD3E8"/>
                </a:solidFill>
                <a:latin typeface="Calibri" pitchFamily="34" charset="0"/>
                <a:ea typeface="Calibri" pitchFamily="34" charset="-122"/>
                <a:cs typeface="Calibri" pitchFamily="34" charset="-120"/>
              </a:rPr>
              <a:t>CAMINHO ABSOLUTO</a:t>
            </a:r>
            <a:endParaRPr lang="en-US" sz="1400" dirty="0"/>
          </a:p>
        </p:txBody>
      </p:sp>
      <p:sp>
        <p:nvSpPr>
          <p:cNvPr id="6" name="Text 4"/>
          <p:cNvSpPr/>
          <p:nvPr/>
        </p:nvSpPr>
        <p:spPr>
          <a:xfrm>
            <a:off x="914400" y="2514600"/>
            <a:ext cx="4663440" cy="914400"/>
          </a:xfrm>
          <a:prstGeom prst="rect">
            <a:avLst/>
          </a:prstGeom>
          <a:noFill/>
          <a:ln/>
        </p:spPr>
        <p:txBody>
          <a:bodyPr wrap="square" rtlCol="0" anchor="ctr"/>
          <a:lstStyle/>
          <a:p>
            <a:pPr indent="0" marL="0">
              <a:lnSpc>
                <a:spcPct val="120000"/>
              </a:lnSpc>
              <a:buNone/>
            </a:pPr>
            <a:r>
              <a:rPr lang="en-US" sz="1450" dirty="0">
                <a:solidFill>
                  <a:srgbClr val="E7EEF2"/>
                </a:solidFill>
                <a:latin typeface="Calibri" pitchFamily="34" charset="0"/>
                <a:ea typeface="Calibri" pitchFamily="34" charset="-122"/>
                <a:cs typeface="Calibri" pitchFamily="34" charset="-120"/>
              </a:rPr>
              <a:t>Começa sempre a partir da raiz /. Funciona de qualquer lugar do sistema.</a:t>
            </a:r>
            <a:endParaRPr lang="en-US" sz="1450" dirty="0"/>
          </a:p>
        </p:txBody>
      </p:sp>
      <p:sp>
        <p:nvSpPr>
          <p:cNvPr id="7" name="Shape 5"/>
          <p:cNvSpPr/>
          <p:nvPr/>
        </p:nvSpPr>
        <p:spPr>
          <a:xfrm>
            <a:off x="914400" y="3566160"/>
            <a:ext cx="4663440" cy="548640"/>
          </a:xfrm>
          <a:prstGeom prst="roundRect">
            <a:avLst>
              <a:gd name="adj" fmla="val 10000"/>
            </a:avLst>
          </a:prstGeom>
          <a:solidFill>
            <a:srgbClr val="FFFFFF">
              <a:alpha val="10000"/>
            </a:srgbClr>
          </a:solidFill>
          <a:ln/>
        </p:spPr>
      </p:sp>
      <p:sp>
        <p:nvSpPr>
          <p:cNvPr id="8" name="Text 6"/>
          <p:cNvSpPr/>
          <p:nvPr/>
        </p:nvSpPr>
        <p:spPr>
          <a:xfrm>
            <a:off x="1051560" y="3566160"/>
            <a:ext cx="4389120" cy="548640"/>
          </a:xfrm>
          <a:prstGeom prst="rect">
            <a:avLst/>
          </a:prstGeom>
          <a:noFill/>
          <a:ln/>
        </p:spPr>
        <p:txBody>
          <a:bodyPr wrap="square" rtlCol="0" anchor="ctr"/>
          <a:lstStyle/>
          <a:p>
            <a:pPr indent="0" marL="0">
              <a:buNone/>
            </a:pPr>
            <a:r>
              <a:rPr lang="en-US" sz="1400" dirty="0">
                <a:solidFill>
                  <a:srgbClr val="8FD3E8"/>
                </a:solidFill>
                <a:latin typeface="Consolas" pitchFamily="34" charset="0"/>
                <a:ea typeface="Consolas" pitchFamily="34" charset="-122"/>
                <a:cs typeface="Consolas" pitchFamily="34" charset="-120"/>
              </a:rPr>
              <a:t>cd /home/aluno/projetos</a:t>
            </a:r>
            <a:endParaRPr lang="en-US" sz="1400" dirty="0"/>
          </a:p>
        </p:txBody>
      </p:sp>
      <p:sp>
        <p:nvSpPr>
          <p:cNvPr id="9" name="Shape 7"/>
          <p:cNvSpPr/>
          <p:nvPr/>
        </p:nvSpPr>
        <p:spPr>
          <a:xfrm>
            <a:off x="6309360" y="1783080"/>
            <a:ext cx="5212080" cy="3200400"/>
          </a:xfrm>
          <a:prstGeom prst="roundRect">
            <a:avLst>
              <a:gd name="adj" fmla="val 2286"/>
            </a:avLst>
          </a:prstGeom>
          <a:solidFill>
            <a:srgbClr val="1C7293"/>
          </a:solidFill>
          <a:ln/>
        </p:spPr>
      </p:sp>
      <p:sp>
        <p:nvSpPr>
          <p:cNvPr id="10" name="Text 8"/>
          <p:cNvSpPr/>
          <p:nvPr/>
        </p:nvSpPr>
        <p:spPr>
          <a:xfrm>
            <a:off x="6583680" y="2057400"/>
            <a:ext cx="4663440" cy="365760"/>
          </a:xfrm>
          <a:prstGeom prst="rect">
            <a:avLst/>
          </a:prstGeom>
          <a:noFill/>
          <a:ln/>
        </p:spPr>
        <p:txBody>
          <a:bodyPr wrap="square" rtlCol="0" anchor="ctr"/>
          <a:lstStyle/>
          <a:p>
            <a:pPr indent="0" marL="0">
              <a:buNone/>
            </a:pPr>
            <a:r>
              <a:rPr lang="en-US" sz="1400" b="1" spc="150" kern="0" dirty="0">
                <a:solidFill>
                  <a:srgbClr val="FFFFFF"/>
                </a:solidFill>
                <a:latin typeface="Calibri" pitchFamily="34" charset="0"/>
                <a:ea typeface="Calibri" pitchFamily="34" charset="-122"/>
                <a:cs typeface="Calibri" pitchFamily="34" charset="-120"/>
              </a:rPr>
              <a:t>CAMINHO RELATIVO</a:t>
            </a:r>
            <a:endParaRPr lang="en-US" sz="1400" dirty="0"/>
          </a:p>
        </p:txBody>
      </p:sp>
      <p:sp>
        <p:nvSpPr>
          <p:cNvPr id="11" name="Text 9"/>
          <p:cNvSpPr/>
          <p:nvPr/>
        </p:nvSpPr>
        <p:spPr>
          <a:xfrm>
            <a:off x="6583680" y="2514600"/>
            <a:ext cx="4663440" cy="914400"/>
          </a:xfrm>
          <a:prstGeom prst="rect">
            <a:avLst/>
          </a:prstGeom>
          <a:noFill/>
          <a:ln/>
        </p:spPr>
        <p:txBody>
          <a:bodyPr wrap="square"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Parte de onde você está agora. Muda de resultado dependendo da pasta atual.</a:t>
            </a:r>
            <a:endParaRPr lang="en-US" sz="1450" dirty="0"/>
          </a:p>
        </p:txBody>
      </p:sp>
      <p:sp>
        <p:nvSpPr>
          <p:cNvPr id="12" name="Shape 10"/>
          <p:cNvSpPr/>
          <p:nvPr/>
        </p:nvSpPr>
        <p:spPr>
          <a:xfrm>
            <a:off x="6583680" y="3566160"/>
            <a:ext cx="4663440" cy="548640"/>
          </a:xfrm>
          <a:prstGeom prst="roundRect">
            <a:avLst>
              <a:gd name="adj" fmla="val 10000"/>
            </a:avLst>
          </a:prstGeom>
          <a:solidFill>
            <a:srgbClr val="FFFFFF">
              <a:alpha val="15000"/>
            </a:srgbClr>
          </a:solidFill>
          <a:ln/>
        </p:spPr>
      </p:sp>
      <p:sp>
        <p:nvSpPr>
          <p:cNvPr id="13" name="Text 11"/>
          <p:cNvSpPr/>
          <p:nvPr/>
        </p:nvSpPr>
        <p:spPr>
          <a:xfrm>
            <a:off x="6720840" y="3566160"/>
            <a:ext cx="4389120" cy="548640"/>
          </a:xfrm>
          <a:prstGeom prst="rect">
            <a:avLst/>
          </a:prstGeom>
          <a:noFill/>
          <a:ln/>
        </p:spPr>
        <p:txBody>
          <a:bodyPr wrap="square"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cd projetos</a:t>
            </a:r>
            <a:endParaRPr lang="en-US" sz="1400" dirty="0"/>
          </a:p>
        </p:txBody>
      </p:sp>
      <p:sp>
        <p:nvSpPr>
          <p:cNvPr id="14" name="Shape 12"/>
          <p:cNvSpPr/>
          <p:nvPr/>
        </p:nvSpPr>
        <p:spPr>
          <a:xfrm>
            <a:off x="640080" y="5257800"/>
            <a:ext cx="10881360" cy="1051560"/>
          </a:xfrm>
          <a:prstGeom prst="roundRect">
            <a:avLst>
              <a:gd name="adj" fmla="val 6957"/>
            </a:avLst>
          </a:prstGeom>
          <a:solidFill>
            <a:srgbClr val="F4F8FA"/>
          </a:solidFill>
          <a:ln w="12700">
            <a:solidFill>
              <a:srgbClr val="DDE6EA"/>
            </a:solidFill>
            <a:prstDash val="solid"/>
          </a:ln>
        </p:spPr>
      </p:sp>
      <p:sp>
        <p:nvSpPr>
          <p:cNvPr id="15" name="Text 13"/>
          <p:cNvSpPr/>
          <p:nvPr/>
        </p:nvSpPr>
        <p:spPr>
          <a:xfrm>
            <a:off x="914400" y="5394960"/>
            <a:ext cx="2743200" cy="320040"/>
          </a:xfrm>
          <a:prstGeom prst="rect">
            <a:avLst/>
          </a:prstGeom>
          <a:noFill/>
          <a:ln/>
        </p:spPr>
        <p:txBody>
          <a:bodyPr wrap="square" rtlCol="0" anchor="ctr"/>
          <a:lstStyle/>
          <a:p>
            <a:pPr indent="0" marL="0">
              <a:buNone/>
            </a:pPr>
            <a:r>
              <a:rPr lang="en-US" sz="1200" b="1" spc="150" kern="0" dirty="0">
                <a:solidFill>
                  <a:srgbClr val="1C7293"/>
                </a:solidFill>
                <a:latin typeface="Calibri" pitchFamily="34" charset="0"/>
                <a:ea typeface="Calibri" pitchFamily="34" charset="-122"/>
                <a:cs typeface="Calibri" pitchFamily="34" charset="-120"/>
              </a:rPr>
              <a:t>ANALOGIA</a:t>
            </a:r>
            <a:endParaRPr lang="en-US" sz="1200" dirty="0"/>
          </a:p>
        </p:txBody>
      </p:sp>
      <p:sp>
        <p:nvSpPr>
          <p:cNvPr id="16" name="Text 14"/>
          <p:cNvSpPr/>
          <p:nvPr/>
        </p:nvSpPr>
        <p:spPr>
          <a:xfrm>
            <a:off x="914400" y="5669280"/>
            <a:ext cx="10332720" cy="548640"/>
          </a:xfrm>
          <a:prstGeom prst="rect">
            <a:avLst/>
          </a:prstGeom>
          <a:noFill/>
          <a:ln/>
        </p:spPr>
        <p:txBody>
          <a:bodyPr wrap="square" rtlCol="0" anchor="ctr"/>
          <a:lstStyle/>
          <a:p>
            <a:pPr indent="0" marL="0">
              <a:buNone/>
            </a:pPr>
            <a:r>
              <a:rPr lang="en-US" sz="1350" i="1" dirty="0">
                <a:solidFill>
                  <a:srgbClr val="1E2430"/>
                </a:solidFill>
                <a:latin typeface="Calibri" pitchFamily="34" charset="0"/>
                <a:ea typeface="Calibri" pitchFamily="34" charset="-122"/>
                <a:cs typeface="Calibri" pitchFamily="34" charset="-120"/>
              </a:rPr>
              <a:t>Um caminho absoluto é como dar um endereço completo com CEP. Um caminho relativo é como dizer "vire a próxima esquina" — só funciona se você já estiver no ponto de partida certo.</a:t>
            </a:r>
            <a:endParaRPr lang="en-US" sz="1350" dirty="0"/>
          </a:p>
        </p:txBody>
      </p:sp>
      <p:sp>
        <p:nvSpPr>
          <p:cNvPr id="17" name="Text 15"/>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manipulacao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3 · MANIPULAÇÃO DE ARQUIVOS</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Como organizar, duplicar, mover ou apagar arquivos sem nunca clicar em um botão do mouse?</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Ao configurar um novo projeto de infraestrutura como código, o primeiro passo de qualquer profissional é sempre o mesmo: criar a estrutura de pastas, copiar arquivos de modelo e organizar tudo — por linha de comando. Em um servidor remoto, é a única opção disponível.</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3 · MANIPULAÇÃO DE ARQUIVOS</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Criar, copiar, mover e remover</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3703320"/>
        </p:xfrm>
        <a:graphic>
          <a:graphicData uri="http://schemas.openxmlformats.org/drawingml/2006/table">
            <a:tbl>
              <a:tblPr/>
              <a:tblGrid>
                <a:gridCol w="3291840"/>
                <a:gridCol w="7589520"/>
              </a:tblGrid>
              <a:tr h="529046">
                <a:tc>
                  <a:txBody>
                    <a:bodyPr/>
                    <a:lstStyle/>
                    <a:p>
                      <a:pPr indent="0" marL="0">
                        <a:buNone/>
                      </a:pPr>
                      <a:r>
                        <a:rPr lang="en-US" sz="1400" b="1" dirty="0">
                          <a:solidFill>
                            <a:srgbClr val="FFFFFF"/>
                          </a:solidFill>
                        </a:rPr>
                        <a:t>Comando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rPr>
                        <a:t>Função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mkdir -p</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Cria diretórios aninhados de uma vez</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touch</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Cria um arquivo vazio</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cp / cp -r</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Copia um arquivo / copia uma pasta inteira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mv</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Move ou renomeia um arquivo/pasta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rm / rm -r</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Remove um arquivo / remove uma pasta e conteúdo</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29046">
                <a:tc>
                  <a:txBody>
                    <a:bodyPr/>
                    <a:lstStyle/>
                    <a:p>
                      <a:pPr indent="0" marL="0">
                        <a:buNone/>
                      </a:pPr>
                      <a:r>
                        <a:rPr lang="en-US" sz="1400" b="1" dirty="0">
                          <a:solidFill>
                            <a:srgbClr val="1C7293"/>
                          </a:solidFill>
                          <a:latin typeface="Consolas" pitchFamily="34" charset="0"/>
                          <a:ea typeface="Consolas" pitchFamily="34" charset="-122"/>
                          <a:cs typeface="Consolas" pitchFamily="34" charset="-120"/>
                        </a:rPr>
                        <a:t>rmdir</a:t>
                      </a:r>
                      <a:endParaRPr lang="en-US" sz="14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Remove uma pasta, apenas se estiver vazia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bl>
          </a:graphicData>
        </a:graphic>
      </p:graphicFrame>
      <p:sp>
        <p:nvSpPr>
          <p:cNvPr id="5" name="Shape 2"/>
          <p:cNvSpPr/>
          <p:nvPr/>
        </p:nvSpPr>
        <p:spPr>
          <a:xfrm>
            <a:off x="640080" y="5486400"/>
            <a:ext cx="10881360" cy="868680"/>
          </a:xfrm>
          <a:prstGeom prst="roundRect">
            <a:avLst>
              <a:gd name="adj" fmla="val 8421"/>
            </a:avLst>
          </a:prstGeom>
          <a:solidFill>
            <a:srgbClr val="FDEDE7"/>
          </a:solidFill>
          <a:ln w="12700">
            <a:solidFill>
              <a:srgbClr val="E3A88F"/>
            </a:solidFill>
            <a:prstDash val="solid"/>
          </a:ln>
        </p:spPr>
      </p:sp>
      <p:pic>
        <p:nvPicPr>
          <p:cNvPr id="6" name="Image 0" descr="icon_alerta_navy.png">    </p:cNvPr>
          <p:cNvPicPr>
            <a:picLocks noChangeAspect="1"/>
          </p:cNvPicPr>
          <p:nvPr/>
        </p:nvPicPr>
        <p:blipFill>
          <a:blip r:embed="rId1"/>
          <a:stretch>
            <a:fillRect/>
          </a:stretch>
        </p:blipFill>
        <p:spPr>
          <a:xfrm>
            <a:off x="868680" y="5669280"/>
            <a:ext cx="457200" cy="457200"/>
          </a:xfrm>
          <a:prstGeom prst="rect">
            <a:avLst/>
          </a:prstGeom>
        </p:spPr>
      </p:pic>
      <p:sp>
        <p:nvSpPr>
          <p:cNvPr id="7" name="Text 3"/>
          <p:cNvSpPr/>
          <p:nvPr/>
        </p:nvSpPr>
        <p:spPr>
          <a:xfrm>
            <a:off x="1463040" y="5486400"/>
            <a:ext cx="9784080" cy="868680"/>
          </a:xfrm>
          <a:prstGeom prst="rect">
            <a:avLst/>
          </a:prstGeom>
          <a:noFill/>
          <a:ln/>
        </p:spPr>
        <p:txBody>
          <a:bodyPr wrap="square" rtlCol="0" anchor="ctr"/>
          <a:lstStyle/>
          <a:p>
            <a:pPr indent="0" marL="0">
              <a:lnSpc>
                <a:spcPct val="115000"/>
              </a:lnSpc>
              <a:buNone/>
            </a:pPr>
            <a:r>
              <a:rPr lang="en-US" sz="1300" dirty="0">
                <a:solidFill>
                  <a:srgbClr val="8A3A1E"/>
                </a:solidFill>
                <a:latin typeface="Calibri" pitchFamily="34" charset="0"/>
                <a:ea typeface="Calibri" pitchFamily="34" charset="-122"/>
                <a:cs typeface="Calibri" pitchFamily="34" charset="-120"/>
              </a:rPr>
              <a:t>Atenção: o Linux não tem lixeira no terminal. Um rm -r mal digitado apaga arquivos de forma permanente. Confira sempre com pwd e ls antes de um comando destrutivo.</a:t>
            </a:r>
            <a:endParaRPr lang="en-US" sz="1300" dirty="0"/>
          </a:p>
        </p:txBody>
      </p:sp>
      <p:sp>
        <p:nvSpPr>
          <p:cNvPr id="8" name="Text 4"/>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edicao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4 · VISUALIZAÇÃO E EDIÇÃO</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Como ler o conteúdo de um arquivo de log com milhares de linhas, sem precisar abrir um editor gráfico?</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Ao investigar uma falha em produção, o arquivo de log pode ter milhares de linhas. Abrir tudo de uma vez seria inviável — o profissional precisa de ferramentas que mostrem só um pedaço por vez, ou que naveguem direto até o erro mais recente.</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4 · VISUALIZAÇÃO E EDIÇÃO</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Ler e editar conteúdo no terminal</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6309360" cy="3794760"/>
        </p:xfrm>
        <a:graphic>
          <a:graphicData uri="http://schemas.openxmlformats.org/drawingml/2006/table">
            <a:tbl>
              <a:tblPr/>
              <a:tblGrid>
                <a:gridCol w="2103120"/>
                <a:gridCol w="4206240"/>
              </a:tblGrid>
              <a:tr h="632460">
                <a:tc>
                  <a:txBody>
                    <a:bodyPr/>
                    <a:lstStyle/>
                    <a:p>
                      <a:pPr indent="0" marL="0">
                        <a:buNone/>
                      </a:pPr>
                      <a:r>
                        <a:rPr lang="en-US" sz="1350" b="1" dirty="0">
                          <a:solidFill>
                            <a:srgbClr val="FFFFFF"/>
                          </a:solidFill>
                        </a:rPr>
                        <a:t>Comando</a:t>
                      </a:r>
                      <a:endParaRPr lang="en-US" sz="1350" dirty="0"/>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c>
                  <a:txBody>
                    <a:bodyPr/>
                    <a:lstStyle/>
                    <a:p>
                      <a:pPr indent="0" marL="0">
                        <a:buNone/>
                      </a:pPr>
                      <a:r>
                        <a:rPr lang="en-US" sz="1350" b="1" dirty="0">
                          <a:solidFill>
                            <a:srgbClr val="FFFFFF"/>
                          </a:solidFill>
                        </a:rPr>
                        <a:t>Função</a:t>
                      </a:r>
                      <a:endParaRPr lang="en-US" sz="1350" dirty="0"/>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r>
              <a:tr h="63246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cat</a:t>
                      </a:r>
                      <a:endParaRPr lang="en-US" sz="1300" dirty="0">
                        <a:latin typeface="Consolas" charset="0"/>
                        <a:ea typeface="Consolas" charset="0"/>
                        <a:cs typeface="Consolas"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Mostra o conteúdo inteiro do arquivo</a:t>
                      </a:r>
                      <a:endParaRPr lang="en-US" sz="1300" dirty="0">
                        <a:latin typeface="Calibri" charset="0"/>
                        <a:ea typeface="Calibri" charset="0"/>
                        <a:cs typeface="Calibri"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63246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less</a:t>
                      </a:r>
                      <a:endParaRPr lang="en-US" sz="1300" dirty="0">
                        <a:latin typeface="Consolas" charset="0"/>
                        <a:ea typeface="Consolas" charset="0"/>
                        <a:cs typeface="Consolas"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Mostra o conteúdo página por página, navegável</a:t>
                      </a:r>
                      <a:endParaRPr lang="en-US" sz="1300" dirty="0">
                        <a:latin typeface="Calibri" charset="0"/>
                        <a:ea typeface="Calibri" charset="0"/>
                        <a:cs typeface="Calibri"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63246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head -n 5</a:t>
                      </a:r>
                      <a:endParaRPr lang="en-US" sz="1300" dirty="0">
                        <a:latin typeface="Consolas" charset="0"/>
                        <a:ea typeface="Consolas" charset="0"/>
                        <a:cs typeface="Consolas"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Mostra as 5 primeiras linhas</a:t>
                      </a:r>
                      <a:endParaRPr lang="en-US" sz="1300" dirty="0">
                        <a:latin typeface="Calibri" charset="0"/>
                        <a:ea typeface="Calibri" charset="0"/>
                        <a:cs typeface="Calibri"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63246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tail -n 20</a:t>
                      </a:r>
                      <a:endParaRPr lang="en-US" sz="1300" dirty="0">
                        <a:latin typeface="Consolas" charset="0"/>
                        <a:ea typeface="Consolas" charset="0"/>
                        <a:cs typeface="Consolas"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Mostra as 20 últimas linhas</a:t>
                      </a:r>
                      <a:endParaRPr lang="en-US" sz="1300" dirty="0">
                        <a:latin typeface="Calibri" charset="0"/>
                        <a:ea typeface="Calibri" charset="0"/>
                        <a:cs typeface="Calibri"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63246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tail -f</a:t>
                      </a:r>
                      <a:endParaRPr lang="en-US" sz="1300" dirty="0">
                        <a:latin typeface="Consolas" charset="0"/>
                        <a:ea typeface="Consolas" charset="0"/>
                        <a:cs typeface="Consolas"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300" dirty="0">
                          <a:solidFill>
                            <a:srgbClr val="1E2430"/>
                          </a:solidFill>
                          <a:latin typeface="Calibri" pitchFamily="34" charset="0"/>
                          <a:ea typeface="Calibri" pitchFamily="34" charset="-122"/>
                          <a:cs typeface="Calibri" pitchFamily="34" charset="-120"/>
                        </a:rPr>
                        <a:t>Acompanha o arquivo em tempo real</a:t>
                      </a:r>
                      <a:endParaRPr lang="en-US" sz="1300" dirty="0">
                        <a:latin typeface="Calibri" charset="0"/>
                        <a:ea typeface="Calibri" charset="0"/>
                        <a:cs typeface="Calibri" charset="0"/>
                      </a:endParaRPr>
                    </a:p>
                  </a:txBody>
                  <a:tcPr marL="101600" marR="1016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5" name="Shape 2"/>
          <p:cNvSpPr/>
          <p:nvPr/>
        </p:nvSpPr>
        <p:spPr>
          <a:xfrm>
            <a:off x="7223760" y="1600200"/>
            <a:ext cx="4297680" cy="3794760"/>
          </a:xfrm>
          <a:prstGeom prst="roundRect">
            <a:avLst>
              <a:gd name="adj" fmla="val 1928"/>
            </a:avLst>
          </a:prstGeom>
          <a:solidFill>
            <a:srgbClr val="21295C"/>
          </a:solidFill>
          <a:ln/>
        </p:spPr>
      </p:sp>
      <p:sp>
        <p:nvSpPr>
          <p:cNvPr id="6" name="Text 3"/>
          <p:cNvSpPr/>
          <p:nvPr/>
        </p:nvSpPr>
        <p:spPr>
          <a:xfrm>
            <a:off x="7498080" y="1828800"/>
            <a:ext cx="3749040" cy="365760"/>
          </a:xfrm>
          <a:prstGeom prst="rect">
            <a:avLst/>
          </a:prstGeom>
          <a:noFill/>
          <a:ln/>
        </p:spPr>
        <p:txBody>
          <a:bodyPr wrap="square" rtlCol="0" anchor="ctr"/>
          <a:lstStyle/>
          <a:p>
            <a:pPr indent="0" marL="0">
              <a:buNone/>
            </a:pPr>
            <a:r>
              <a:rPr lang="en-US" sz="1300" b="1" spc="100" kern="0" dirty="0">
                <a:solidFill>
                  <a:srgbClr val="8FD3E8"/>
                </a:solidFill>
                <a:latin typeface="Calibri" pitchFamily="34" charset="0"/>
                <a:ea typeface="Calibri" pitchFamily="34" charset="-122"/>
                <a:cs typeface="Calibri" pitchFamily="34" charset="-120"/>
              </a:rPr>
              <a:t>EDITANDO COM O NANO</a:t>
            </a:r>
            <a:endParaRPr lang="en-US" sz="1300" dirty="0"/>
          </a:p>
        </p:txBody>
      </p:sp>
      <p:sp>
        <p:nvSpPr>
          <p:cNvPr id="7" name="Shape 4"/>
          <p:cNvSpPr/>
          <p:nvPr/>
        </p:nvSpPr>
        <p:spPr>
          <a:xfrm>
            <a:off x="7498080" y="2331720"/>
            <a:ext cx="1463040" cy="457200"/>
          </a:xfrm>
          <a:prstGeom prst="roundRect">
            <a:avLst>
              <a:gd name="adj" fmla="val 10000"/>
            </a:avLst>
          </a:prstGeom>
          <a:solidFill>
            <a:srgbClr val="FFFFFF">
              <a:alpha val="10000"/>
            </a:srgbClr>
          </a:solidFill>
          <a:ln/>
        </p:spPr>
      </p:sp>
      <p:sp>
        <p:nvSpPr>
          <p:cNvPr id="8" name="Text 5"/>
          <p:cNvSpPr/>
          <p:nvPr/>
        </p:nvSpPr>
        <p:spPr>
          <a:xfrm>
            <a:off x="7498080" y="2331720"/>
            <a:ext cx="1463040" cy="457200"/>
          </a:xfrm>
          <a:prstGeom prst="rect">
            <a:avLst/>
          </a:prstGeom>
          <a:noFill/>
          <a:ln/>
        </p:spPr>
        <p:txBody>
          <a:bodyPr wrap="square" rtlCol="0" anchor="ctr"/>
          <a:lstStyle/>
          <a:p>
            <a:pPr algn="ctr" indent="0" marL="0">
              <a:buNone/>
            </a:pPr>
            <a:r>
              <a:rPr lang="en-US" sz="1250" dirty="0">
                <a:solidFill>
                  <a:srgbClr val="8FD3E8"/>
                </a:solidFill>
                <a:latin typeface="Consolas" pitchFamily="34" charset="0"/>
                <a:ea typeface="Consolas" pitchFamily="34" charset="-122"/>
                <a:cs typeface="Consolas" pitchFamily="34" charset="-120"/>
              </a:rPr>
              <a:t>Ctrl + O</a:t>
            </a:r>
            <a:endParaRPr lang="en-US" sz="1250" dirty="0"/>
          </a:p>
        </p:txBody>
      </p:sp>
      <p:sp>
        <p:nvSpPr>
          <p:cNvPr id="9" name="Text 6"/>
          <p:cNvSpPr/>
          <p:nvPr/>
        </p:nvSpPr>
        <p:spPr>
          <a:xfrm>
            <a:off x="9098280" y="2331720"/>
            <a:ext cx="2423160" cy="457200"/>
          </a:xfrm>
          <a:prstGeom prst="rect">
            <a:avLst/>
          </a:prstGeom>
          <a:noFill/>
          <a:ln/>
        </p:spPr>
        <p:txBody>
          <a:bodyPr wrap="square" rtlCol="0" anchor="ctr"/>
          <a:lstStyle/>
          <a:p>
            <a:pPr indent="0" marL="0">
              <a:buNone/>
            </a:pPr>
            <a:r>
              <a:rPr lang="en-US" sz="1250" dirty="0">
                <a:solidFill>
                  <a:srgbClr val="E7EEF2"/>
                </a:solidFill>
                <a:latin typeface="Calibri" pitchFamily="34" charset="0"/>
                <a:ea typeface="Calibri" pitchFamily="34" charset="-122"/>
                <a:cs typeface="Calibri" pitchFamily="34" charset="-120"/>
              </a:rPr>
              <a:t>Salva o arquivo</a:t>
            </a:r>
            <a:endParaRPr lang="en-US" sz="1250" dirty="0"/>
          </a:p>
        </p:txBody>
      </p:sp>
      <p:sp>
        <p:nvSpPr>
          <p:cNvPr id="10" name="Shape 7"/>
          <p:cNvSpPr/>
          <p:nvPr/>
        </p:nvSpPr>
        <p:spPr>
          <a:xfrm>
            <a:off x="7498080" y="3017520"/>
            <a:ext cx="1463040" cy="457200"/>
          </a:xfrm>
          <a:prstGeom prst="roundRect">
            <a:avLst>
              <a:gd name="adj" fmla="val 10000"/>
            </a:avLst>
          </a:prstGeom>
          <a:solidFill>
            <a:srgbClr val="FFFFFF">
              <a:alpha val="10000"/>
            </a:srgbClr>
          </a:solidFill>
          <a:ln/>
        </p:spPr>
      </p:sp>
      <p:sp>
        <p:nvSpPr>
          <p:cNvPr id="11" name="Text 8"/>
          <p:cNvSpPr/>
          <p:nvPr/>
        </p:nvSpPr>
        <p:spPr>
          <a:xfrm>
            <a:off x="7498080" y="3017520"/>
            <a:ext cx="1463040" cy="457200"/>
          </a:xfrm>
          <a:prstGeom prst="rect">
            <a:avLst/>
          </a:prstGeom>
          <a:noFill/>
          <a:ln/>
        </p:spPr>
        <p:txBody>
          <a:bodyPr wrap="square" rtlCol="0" anchor="ctr"/>
          <a:lstStyle/>
          <a:p>
            <a:pPr algn="ctr" indent="0" marL="0">
              <a:buNone/>
            </a:pPr>
            <a:r>
              <a:rPr lang="en-US" sz="1250" dirty="0">
                <a:solidFill>
                  <a:srgbClr val="8FD3E8"/>
                </a:solidFill>
                <a:latin typeface="Consolas" pitchFamily="34" charset="0"/>
                <a:ea typeface="Consolas" pitchFamily="34" charset="-122"/>
                <a:cs typeface="Consolas" pitchFamily="34" charset="-120"/>
              </a:rPr>
              <a:t>Ctrl + X</a:t>
            </a:r>
            <a:endParaRPr lang="en-US" sz="1250" dirty="0"/>
          </a:p>
        </p:txBody>
      </p:sp>
      <p:sp>
        <p:nvSpPr>
          <p:cNvPr id="12" name="Text 9"/>
          <p:cNvSpPr/>
          <p:nvPr/>
        </p:nvSpPr>
        <p:spPr>
          <a:xfrm>
            <a:off x="9098280" y="3017520"/>
            <a:ext cx="2423160" cy="457200"/>
          </a:xfrm>
          <a:prstGeom prst="rect">
            <a:avLst/>
          </a:prstGeom>
          <a:noFill/>
          <a:ln/>
        </p:spPr>
        <p:txBody>
          <a:bodyPr wrap="square" rtlCol="0" anchor="ctr"/>
          <a:lstStyle/>
          <a:p>
            <a:pPr indent="0" marL="0">
              <a:buNone/>
            </a:pPr>
            <a:r>
              <a:rPr lang="en-US" sz="1250" dirty="0">
                <a:solidFill>
                  <a:srgbClr val="E7EEF2"/>
                </a:solidFill>
                <a:latin typeface="Calibri" pitchFamily="34" charset="0"/>
                <a:ea typeface="Calibri" pitchFamily="34" charset="-122"/>
                <a:cs typeface="Calibri" pitchFamily="34" charset="-120"/>
              </a:rPr>
              <a:t>Sai do editor</a:t>
            </a:r>
            <a:endParaRPr lang="en-US" sz="1250" dirty="0"/>
          </a:p>
        </p:txBody>
      </p:sp>
      <p:sp>
        <p:nvSpPr>
          <p:cNvPr id="13" name="Shape 10"/>
          <p:cNvSpPr/>
          <p:nvPr/>
        </p:nvSpPr>
        <p:spPr>
          <a:xfrm>
            <a:off x="7498080" y="3703320"/>
            <a:ext cx="1463040" cy="457200"/>
          </a:xfrm>
          <a:prstGeom prst="roundRect">
            <a:avLst>
              <a:gd name="adj" fmla="val 10000"/>
            </a:avLst>
          </a:prstGeom>
          <a:solidFill>
            <a:srgbClr val="FFFFFF">
              <a:alpha val="10000"/>
            </a:srgbClr>
          </a:solidFill>
          <a:ln/>
        </p:spPr>
      </p:sp>
      <p:sp>
        <p:nvSpPr>
          <p:cNvPr id="14" name="Text 11"/>
          <p:cNvSpPr/>
          <p:nvPr/>
        </p:nvSpPr>
        <p:spPr>
          <a:xfrm>
            <a:off x="7498080" y="3703320"/>
            <a:ext cx="1463040" cy="457200"/>
          </a:xfrm>
          <a:prstGeom prst="rect">
            <a:avLst/>
          </a:prstGeom>
          <a:noFill/>
          <a:ln/>
        </p:spPr>
        <p:txBody>
          <a:bodyPr wrap="square" rtlCol="0" anchor="ctr"/>
          <a:lstStyle/>
          <a:p>
            <a:pPr algn="ctr" indent="0" marL="0">
              <a:buNone/>
            </a:pPr>
            <a:r>
              <a:rPr lang="en-US" sz="1250" dirty="0">
                <a:solidFill>
                  <a:srgbClr val="8FD3E8"/>
                </a:solidFill>
                <a:latin typeface="Consolas" pitchFamily="34" charset="0"/>
                <a:ea typeface="Consolas" pitchFamily="34" charset="-122"/>
                <a:cs typeface="Consolas" pitchFamily="34" charset="-120"/>
              </a:rPr>
              <a:t>Ctrl + K</a:t>
            </a:r>
            <a:endParaRPr lang="en-US" sz="1250" dirty="0"/>
          </a:p>
        </p:txBody>
      </p:sp>
      <p:sp>
        <p:nvSpPr>
          <p:cNvPr id="15" name="Text 12"/>
          <p:cNvSpPr/>
          <p:nvPr/>
        </p:nvSpPr>
        <p:spPr>
          <a:xfrm>
            <a:off x="9098280" y="3703320"/>
            <a:ext cx="2423160" cy="457200"/>
          </a:xfrm>
          <a:prstGeom prst="rect">
            <a:avLst/>
          </a:prstGeom>
          <a:noFill/>
          <a:ln/>
        </p:spPr>
        <p:txBody>
          <a:bodyPr wrap="square" rtlCol="0" anchor="ctr"/>
          <a:lstStyle/>
          <a:p>
            <a:pPr indent="0" marL="0">
              <a:buNone/>
            </a:pPr>
            <a:r>
              <a:rPr lang="en-US" sz="1250" dirty="0">
                <a:solidFill>
                  <a:srgbClr val="E7EEF2"/>
                </a:solidFill>
                <a:latin typeface="Calibri" pitchFamily="34" charset="0"/>
                <a:ea typeface="Calibri" pitchFamily="34" charset="-122"/>
                <a:cs typeface="Calibri" pitchFamily="34" charset="-120"/>
              </a:rPr>
              <a:t>Recorta a linha atual</a:t>
            </a:r>
            <a:endParaRPr lang="en-US" sz="1250" dirty="0"/>
          </a:p>
        </p:txBody>
      </p:sp>
      <p:sp>
        <p:nvSpPr>
          <p:cNvPr id="16" name="Shape 13"/>
          <p:cNvSpPr/>
          <p:nvPr/>
        </p:nvSpPr>
        <p:spPr>
          <a:xfrm>
            <a:off x="7498080" y="4389120"/>
            <a:ext cx="1463040" cy="457200"/>
          </a:xfrm>
          <a:prstGeom prst="roundRect">
            <a:avLst>
              <a:gd name="adj" fmla="val 10000"/>
            </a:avLst>
          </a:prstGeom>
          <a:solidFill>
            <a:srgbClr val="FFFFFF">
              <a:alpha val="10000"/>
            </a:srgbClr>
          </a:solidFill>
          <a:ln/>
        </p:spPr>
      </p:sp>
      <p:sp>
        <p:nvSpPr>
          <p:cNvPr id="17" name="Text 14"/>
          <p:cNvSpPr/>
          <p:nvPr/>
        </p:nvSpPr>
        <p:spPr>
          <a:xfrm>
            <a:off x="7498080" y="4389120"/>
            <a:ext cx="1463040" cy="457200"/>
          </a:xfrm>
          <a:prstGeom prst="rect">
            <a:avLst/>
          </a:prstGeom>
          <a:noFill/>
          <a:ln/>
        </p:spPr>
        <p:txBody>
          <a:bodyPr wrap="square" rtlCol="0" anchor="ctr"/>
          <a:lstStyle/>
          <a:p>
            <a:pPr algn="ctr" indent="0" marL="0">
              <a:buNone/>
            </a:pPr>
            <a:r>
              <a:rPr lang="en-US" sz="1250" dirty="0">
                <a:solidFill>
                  <a:srgbClr val="8FD3E8"/>
                </a:solidFill>
                <a:latin typeface="Consolas" pitchFamily="34" charset="0"/>
                <a:ea typeface="Consolas" pitchFamily="34" charset="-122"/>
                <a:cs typeface="Consolas" pitchFamily="34" charset="-120"/>
              </a:rPr>
              <a:t>Ctrl + U</a:t>
            </a:r>
            <a:endParaRPr lang="en-US" sz="1250" dirty="0"/>
          </a:p>
        </p:txBody>
      </p:sp>
      <p:sp>
        <p:nvSpPr>
          <p:cNvPr id="18" name="Text 15"/>
          <p:cNvSpPr/>
          <p:nvPr/>
        </p:nvSpPr>
        <p:spPr>
          <a:xfrm>
            <a:off x="9098280" y="4389120"/>
            <a:ext cx="2423160" cy="457200"/>
          </a:xfrm>
          <a:prstGeom prst="rect">
            <a:avLst/>
          </a:prstGeom>
          <a:noFill/>
          <a:ln/>
        </p:spPr>
        <p:txBody>
          <a:bodyPr wrap="square" rtlCol="0" anchor="ctr"/>
          <a:lstStyle/>
          <a:p>
            <a:pPr indent="0" marL="0">
              <a:buNone/>
            </a:pPr>
            <a:r>
              <a:rPr lang="en-US" sz="1250" dirty="0">
                <a:solidFill>
                  <a:srgbClr val="E7EEF2"/>
                </a:solidFill>
                <a:latin typeface="Calibri" pitchFamily="34" charset="0"/>
                <a:ea typeface="Calibri" pitchFamily="34" charset="-122"/>
                <a:cs typeface="Calibri" pitchFamily="34" charset="-120"/>
              </a:rPr>
              <a:t>Cola a linha recortada</a:t>
            </a:r>
            <a:endParaRPr lang="en-US" sz="1250" dirty="0"/>
          </a:p>
        </p:txBody>
      </p:sp>
      <p:sp>
        <p:nvSpPr>
          <p:cNvPr id="19" name="Text 16"/>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pipes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5 · REDIRECIONAMENTO E PIPES</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E se, em vez de só ler a saída de um comando na tela, eu quisesse salvá-la em um arquivo — ou usá-la como entrada de outro comando?</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Um pipeline de CI/CD não exibe o resultado dos testes só na tela — ele redireciona a saída para um arquivo de log, e depois filtra esse log em busca da palavra "ERROR" para decidir se o pipeline passa ou falha. Tudo isso encadeando comandos simples.</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5 · REDIRECIONAMENTO E PIPES</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Operadores de redirecionamento</a:t>
            </a:r>
            <a:endParaRPr lang="en-US" sz="2600" dirty="0"/>
          </a:p>
        </p:txBody>
      </p:sp>
      <p:sp>
        <p:nvSpPr>
          <p:cNvPr id="4" name="Shape 2"/>
          <p:cNvSpPr/>
          <p:nvPr/>
        </p:nvSpPr>
        <p:spPr>
          <a:xfrm>
            <a:off x="640080" y="1737360"/>
            <a:ext cx="10881360" cy="1188720"/>
          </a:xfrm>
          <a:prstGeom prst="roundRect">
            <a:avLst>
              <a:gd name="adj" fmla="val 6154"/>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5" name="Shape 3"/>
          <p:cNvSpPr/>
          <p:nvPr/>
        </p:nvSpPr>
        <p:spPr>
          <a:xfrm>
            <a:off x="868680" y="1965960"/>
            <a:ext cx="1005840" cy="731520"/>
          </a:xfrm>
          <a:prstGeom prst="roundRect">
            <a:avLst>
              <a:gd name="adj" fmla="val 7500"/>
            </a:avLst>
          </a:prstGeom>
          <a:solidFill>
            <a:srgbClr val="21295C"/>
          </a:solidFill>
          <a:ln/>
        </p:spPr>
      </p:sp>
      <p:sp>
        <p:nvSpPr>
          <p:cNvPr id="6" name="Text 4"/>
          <p:cNvSpPr/>
          <p:nvPr/>
        </p:nvSpPr>
        <p:spPr>
          <a:xfrm>
            <a:off x="868680" y="1965960"/>
            <a:ext cx="1005840" cy="731520"/>
          </a:xfrm>
          <a:prstGeom prst="rect">
            <a:avLst/>
          </a:prstGeom>
          <a:noFill/>
          <a:ln/>
        </p:spPr>
        <p:txBody>
          <a:bodyPr wrap="square" rtlCol="0" anchor="ctr"/>
          <a:lstStyle/>
          <a:p>
            <a:pPr algn="ctr" indent="0" marL="0">
              <a:buNone/>
            </a:pPr>
            <a:r>
              <a:rPr lang="en-US" sz="2600" b="1" dirty="0">
                <a:solidFill>
                  <a:srgbClr val="8FD3E8"/>
                </a:solidFill>
                <a:latin typeface="Consolas" pitchFamily="34" charset="0"/>
                <a:ea typeface="Consolas" pitchFamily="34" charset="-122"/>
                <a:cs typeface="Consolas" pitchFamily="34" charset="-120"/>
              </a:rPr>
              <a:t>&gt;</a:t>
            </a:r>
            <a:endParaRPr lang="en-US" sz="2600" dirty="0"/>
          </a:p>
        </p:txBody>
      </p:sp>
      <p:sp>
        <p:nvSpPr>
          <p:cNvPr id="7" name="Text 5"/>
          <p:cNvSpPr/>
          <p:nvPr/>
        </p:nvSpPr>
        <p:spPr>
          <a:xfrm>
            <a:off x="2148840" y="1901952"/>
            <a:ext cx="4663440" cy="868680"/>
          </a:xfrm>
          <a:prstGeom prst="rect">
            <a:avLst/>
          </a:prstGeom>
          <a:noFill/>
          <a:ln/>
        </p:spPr>
        <p:txBody>
          <a:bodyPr wrap="square" rtlCol="0" anchor="ctr"/>
          <a:lstStyle/>
          <a:p>
            <a:pPr indent="0" marL="0">
              <a:lnSpc>
                <a:spcPct val="115000"/>
              </a:lnSpc>
              <a:buNone/>
            </a:pPr>
            <a:r>
              <a:rPr lang="en-US" sz="1400" dirty="0">
                <a:solidFill>
                  <a:srgbClr val="1E2430"/>
                </a:solidFill>
                <a:latin typeface="Calibri" pitchFamily="34" charset="0"/>
                <a:ea typeface="Calibri" pitchFamily="34" charset="-122"/>
                <a:cs typeface="Calibri" pitchFamily="34" charset="-120"/>
              </a:rPr>
              <a:t>Redireciona a saída para um arquivo, substituindo o conteúdo</a:t>
            </a:r>
            <a:endParaRPr lang="en-US" sz="1400" dirty="0"/>
          </a:p>
        </p:txBody>
      </p:sp>
      <p:sp>
        <p:nvSpPr>
          <p:cNvPr id="8" name="Shape 6"/>
          <p:cNvSpPr/>
          <p:nvPr/>
        </p:nvSpPr>
        <p:spPr>
          <a:xfrm>
            <a:off x="6995160" y="1965960"/>
            <a:ext cx="4251960" cy="731520"/>
          </a:xfrm>
          <a:prstGeom prst="roundRect">
            <a:avLst>
              <a:gd name="adj" fmla="val 7500"/>
            </a:avLst>
          </a:prstGeom>
          <a:solidFill>
            <a:srgbClr val="F4F8FA"/>
          </a:solidFill>
          <a:ln w="12700">
            <a:solidFill>
              <a:srgbClr val="DDE6EA"/>
            </a:solidFill>
            <a:prstDash val="solid"/>
          </a:ln>
        </p:spPr>
      </p:sp>
      <p:sp>
        <p:nvSpPr>
          <p:cNvPr id="9" name="Text 7"/>
          <p:cNvSpPr/>
          <p:nvPr/>
        </p:nvSpPr>
        <p:spPr>
          <a:xfrm>
            <a:off x="7178040" y="1965960"/>
            <a:ext cx="3931920" cy="731520"/>
          </a:xfrm>
          <a:prstGeom prst="rect">
            <a:avLst/>
          </a:prstGeom>
          <a:noFill/>
          <a:ln/>
        </p:spPr>
        <p:txBody>
          <a:bodyPr wrap="square" rtlCol="0" anchor="ctr"/>
          <a:lstStyle/>
          <a:p>
            <a:pPr indent="0" marL="0">
              <a:buNone/>
            </a:pPr>
            <a:r>
              <a:rPr lang="en-US" sz="1300" dirty="0">
                <a:solidFill>
                  <a:srgbClr val="1C7293"/>
                </a:solidFill>
                <a:latin typeface="Consolas" pitchFamily="34" charset="0"/>
                <a:ea typeface="Consolas" pitchFamily="34" charset="-122"/>
                <a:cs typeface="Consolas" pitchFamily="34" charset="-120"/>
              </a:rPr>
              <a:t>ls -la &gt; lista.txt</a:t>
            </a:r>
            <a:endParaRPr lang="en-US" sz="1300" dirty="0"/>
          </a:p>
        </p:txBody>
      </p:sp>
      <p:sp>
        <p:nvSpPr>
          <p:cNvPr id="10" name="Shape 8"/>
          <p:cNvSpPr/>
          <p:nvPr/>
        </p:nvSpPr>
        <p:spPr>
          <a:xfrm>
            <a:off x="640080" y="3154680"/>
            <a:ext cx="10881360" cy="1188720"/>
          </a:xfrm>
          <a:prstGeom prst="roundRect">
            <a:avLst>
              <a:gd name="adj" fmla="val 6154"/>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1" name="Shape 9"/>
          <p:cNvSpPr/>
          <p:nvPr/>
        </p:nvSpPr>
        <p:spPr>
          <a:xfrm>
            <a:off x="868680" y="3383280"/>
            <a:ext cx="1005840" cy="731520"/>
          </a:xfrm>
          <a:prstGeom prst="roundRect">
            <a:avLst>
              <a:gd name="adj" fmla="val 7500"/>
            </a:avLst>
          </a:prstGeom>
          <a:solidFill>
            <a:srgbClr val="21295C"/>
          </a:solidFill>
          <a:ln/>
        </p:spPr>
      </p:sp>
      <p:sp>
        <p:nvSpPr>
          <p:cNvPr id="12" name="Text 10"/>
          <p:cNvSpPr/>
          <p:nvPr/>
        </p:nvSpPr>
        <p:spPr>
          <a:xfrm>
            <a:off x="868680" y="3383280"/>
            <a:ext cx="1005840" cy="731520"/>
          </a:xfrm>
          <a:prstGeom prst="rect">
            <a:avLst/>
          </a:prstGeom>
          <a:noFill/>
          <a:ln/>
        </p:spPr>
        <p:txBody>
          <a:bodyPr wrap="square" rtlCol="0" anchor="ctr"/>
          <a:lstStyle/>
          <a:p>
            <a:pPr algn="ctr" indent="0" marL="0">
              <a:buNone/>
            </a:pPr>
            <a:r>
              <a:rPr lang="en-US" sz="2600" b="1" dirty="0">
                <a:solidFill>
                  <a:srgbClr val="8FD3E8"/>
                </a:solidFill>
                <a:latin typeface="Consolas" pitchFamily="34" charset="0"/>
                <a:ea typeface="Consolas" pitchFamily="34" charset="-122"/>
                <a:cs typeface="Consolas" pitchFamily="34" charset="-120"/>
              </a:rPr>
              <a:t>&gt;&gt;</a:t>
            </a:r>
            <a:endParaRPr lang="en-US" sz="2600" dirty="0"/>
          </a:p>
        </p:txBody>
      </p:sp>
      <p:sp>
        <p:nvSpPr>
          <p:cNvPr id="13" name="Text 11"/>
          <p:cNvSpPr/>
          <p:nvPr/>
        </p:nvSpPr>
        <p:spPr>
          <a:xfrm>
            <a:off x="2148840" y="3319272"/>
            <a:ext cx="4663440" cy="868680"/>
          </a:xfrm>
          <a:prstGeom prst="rect">
            <a:avLst/>
          </a:prstGeom>
          <a:noFill/>
          <a:ln/>
        </p:spPr>
        <p:txBody>
          <a:bodyPr wrap="square" rtlCol="0" anchor="ctr"/>
          <a:lstStyle/>
          <a:p>
            <a:pPr indent="0" marL="0">
              <a:lnSpc>
                <a:spcPct val="115000"/>
              </a:lnSpc>
              <a:buNone/>
            </a:pPr>
            <a:r>
              <a:rPr lang="en-US" sz="1400" dirty="0">
                <a:solidFill>
                  <a:srgbClr val="1E2430"/>
                </a:solidFill>
                <a:latin typeface="Calibri" pitchFamily="34" charset="0"/>
                <a:ea typeface="Calibri" pitchFamily="34" charset="-122"/>
                <a:cs typeface="Calibri" pitchFamily="34" charset="-120"/>
              </a:rPr>
              <a:t>Redireciona a saída, adicionando ao final do arquivo</a:t>
            </a:r>
            <a:endParaRPr lang="en-US" sz="1400" dirty="0"/>
          </a:p>
        </p:txBody>
      </p:sp>
      <p:sp>
        <p:nvSpPr>
          <p:cNvPr id="14" name="Shape 12"/>
          <p:cNvSpPr/>
          <p:nvPr/>
        </p:nvSpPr>
        <p:spPr>
          <a:xfrm>
            <a:off x="6995160" y="3383280"/>
            <a:ext cx="4251960" cy="731520"/>
          </a:xfrm>
          <a:prstGeom prst="roundRect">
            <a:avLst>
              <a:gd name="adj" fmla="val 7500"/>
            </a:avLst>
          </a:prstGeom>
          <a:solidFill>
            <a:srgbClr val="F4F8FA"/>
          </a:solidFill>
          <a:ln w="12700">
            <a:solidFill>
              <a:srgbClr val="DDE6EA"/>
            </a:solidFill>
            <a:prstDash val="solid"/>
          </a:ln>
        </p:spPr>
      </p:sp>
      <p:sp>
        <p:nvSpPr>
          <p:cNvPr id="15" name="Text 13"/>
          <p:cNvSpPr/>
          <p:nvPr/>
        </p:nvSpPr>
        <p:spPr>
          <a:xfrm>
            <a:off x="7178040" y="3383280"/>
            <a:ext cx="3931920" cy="731520"/>
          </a:xfrm>
          <a:prstGeom prst="rect">
            <a:avLst/>
          </a:prstGeom>
          <a:noFill/>
          <a:ln/>
        </p:spPr>
        <p:txBody>
          <a:bodyPr wrap="square" rtlCol="0" anchor="ctr"/>
          <a:lstStyle/>
          <a:p>
            <a:pPr indent="0" marL="0">
              <a:buNone/>
            </a:pPr>
            <a:r>
              <a:rPr lang="en-US" sz="1300" dirty="0">
                <a:solidFill>
                  <a:srgbClr val="1C7293"/>
                </a:solidFill>
                <a:latin typeface="Consolas" pitchFamily="34" charset="0"/>
                <a:ea typeface="Consolas" pitchFamily="34" charset="-122"/>
                <a:cs typeface="Consolas" pitchFamily="34" charset="-120"/>
              </a:rPr>
              <a:t>echo "nova linha" &gt;&gt; lista.txt</a:t>
            </a:r>
            <a:endParaRPr lang="en-US" sz="1300" dirty="0"/>
          </a:p>
        </p:txBody>
      </p:sp>
      <p:sp>
        <p:nvSpPr>
          <p:cNvPr id="16" name="Shape 14"/>
          <p:cNvSpPr/>
          <p:nvPr/>
        </p:nvSpPr>
        <p:spPr>
          <a:xfrm>
            <a:off x="640080" y="4572000"/>
            <a:ext cx="10881360" cy="1188720"/>
          </a:xfrm>
          <a:prstGeom prst="roundRect">
            <a:avLst>
              <a:gd name="adj" fmla="val 6154"/>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7" name="Shape 15"/>
          <p:cNvSpPr/>
          <p:nvPr/>
        </p:nvSpPr>
        <p:spPr>
          <a:xfrm>
            <a:off x="868680" y="4800600"/>
            <a:ext cx="1005840" cy="731520"/>
          </a:xfrm>
          <a:prstGeom prst="roundRect">
            <a:avLst>
              <a:gd name="adj" fmla="val 7500"/>
            </a:avLst>
          </a:prstGeom>
          <a:solidFill>
            <a:srgbClr val="21295C"/>
          </a:solidFill>
          <a:ln/>
        </p:spPr>
      </p:sp>
      <p:sp>
        <p:nvSpPr>
          <p:cNvPr id="18" name="Text 16"/>
          <p:cNvSpPr/>
          <p:nvPr/>
        </p:nvSpPr>
        <p:spPr>
          <a:xfrm>
            <a:off x="868680" y="4800600"/>
            <a:ext cx="1005840" cy="731520"/>
          </a:xfrm>
          <a:prstGeom prst="rect">
            <a:avLst/>
          </a:prstGeom>
          <a:noFill/>
          <a:ln/>
        </p:spPr>
        <p:txBody>
          <a:bodyPr wrap="square" rtlCol="0" anchor="ctr"/>
          <a:lstStyle/>
          <a:p>
            <a:pPr algn="ctr" indent="0" marL="0">
              <a:buNone/>
            </a:pPr>
            <a:r>
              <a:rPr lang="en-US" sz="2600" b="1" dirty="0">
                <a:solidFill>
                  <a:srgbClr val="8FD3E8"/>
                </a:solidFill>
                <a:latin typeface="Consolas" pitchFamily="34" charset="0"/>
                <a:ea typeface="Consolas" pitchFamily="34" charset="-122"/>
                <a:cs typeface="Consolas" pitchFamily="34" charset="-120"/>
              </a:rPr>
              <a:t>&lt;</a:t>
            </a:r>
            <a:endParaRPr lang="en-US" sz="2600" dirty="0"/>
          </a:p>
        </p:txBody>
      </p:sp>
      <p:sp>
        <p:nvSpPr>
          <p:cNvPr id="19" name="Text 17"/>
          <p:cNvSpPr/>
          <p:nvPr/>
        </p:nvSpPr>
        <p:spPr>
          <a:xfrm>
            <a:off x="2148840" y="4736592"/>
            <a:ext cx="4663440" cy="868680"/>
          </a:xfrm>
          <a:prstGeom prst="rect">
            <a:avLst/>
          </a:prstGeom>
          <a:noFill/>
          <a:ln/>
        </p:spPr>
        <p:txBody>
          <a:bodyPr wrap="square" rtlCol="0" anchor="ctr"/>
          <a:lstStyle/>
          <a:p>
            <a:pPr indent="0" marL="0">
              <a:lnSpc>
                <a:spcPct val="115000"/>
              </a:lnSpc>
              <a:buNone/>
            </a:pPr>
            <a:r>
              <a:rPr lang="en-US" sz="1400" dirty="0">
                <a:solidFill>
                  <a:srgbClr val="1E2430"/>
                </a:solidFill>
                <a:latin typeface="Calibri" pitchFamily="34" charset="0"/>
                <a:ea typeface="Calibri" pitchFamily="34" charset="-122"/>
                <a:cs typeface="Calibri" pitchFamily="34" charset="-120"/>
              </a:rPr>
              <a:t>Usa o conteúdo de um arquivo como entrada de um comando</a:t>
            </a:r>
            <a:endParaRPr lang="en-US" sz="1400" dirty="0"/>
          </a:p>
        </p:txBody>
      </p:sp>
      <p:sp>
        <p:nvSpPr>
          <p:cNvPr id="20" name="Shape 18"/>
          <p:cNvSpPr/>
          <p:nvPr/>
        </p:nvSpPr>
        <p:spPr>
          <a:xfrm>
            <a:off x="6995160" y="4800600"/>
            <a:ext cx="4251960" cy="731520"/>
          </a:xfrm>
          <a:prstGeom prst="roundRect">
            <a:avLst>
              <a:gd name="adj" fmla="val 7500"/>
            </a:avLst>
          </a:prstGeom>
          <a:solidFill>
            <a:srgbClr val="F4F8FA"/>
          </a:solidFill>
          <a:ln w="12700">
            <a:solidFill>
              <a:srgbClr val="DDE6EA"/>
            </a:solidFill>
            <a:prstDash val="solid"/>
          </a:ln>
        </p:spPr>
      </p:sp>
      <p:sp>
        <p:nvSpPr>
          <p:cNvPr id="21" name="Text 19"/>
          <p:cNvSpPr/>
          <p:nvPr/>
        </p:nvSpPr>
        <p:spPr>
          <a:xfrm>
            <a:off x="7178040" y="4800600"/>
            <a:ext cx="3931920" cy="731520"/>
          </a:xfrm>
          <a:prstGeom prst="rect">
            <a:avLst/>
          </a:prstGeom>
          <a:noFill/>
          <a:ln/>
        </p:spPr>
        <p:txBody>
          <a:bodyPr wrap="square" rtlCol="0" anchor="ctr"/>
          <a:lstStyle/>
          <a:p>
            <a:pPr indent="0" marL="0">
              <a:buNone/>
            </a:pPr>
            <a:r>
              <a:rPr lang="en-US" sz="1300" dirty="0">
                <a:solidFill>
                  <a:srgbClr val="1C7293"/>
                </a:solidFill>
                <a:latin typeface="Consolas" pitchFamily="34" charset="0"/>
                <a:ea typeface="Consolas" pitchFamily="34" charset="-122"/>
                <a:cs typeface="Consolas" pitchFamily="34" charset="-120"/>
              </a:rPr>
              <a:t>sort &lt; numeros.txt</a:t>
            </a:r>
            <a:endParaRPr lang="en-US" sz="1300" dirty="0"/>
          </a:p>
        </p:txBody>
      </p:sp>
      <p:sp>
        <p:nvSpPr>
          <p:cNvPr id="22" name="Text 20"/>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5 · REDIRECIONAMENTO E PIPES</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Pipes: conectando comandos com |</a:t>
            </a:r>
            <a:endParaRPr lang="en-US" sz="2600" dirty="0"/>
          </a:p>
        </p:txBody>
      </p:sp>
      <p:sp>
        <p:nvSpPr>
          <p:cNvPr id="4" name="Text 2"/>
          <p:cNvSpPr/>
          <p:nvPr/>
        </p:nvSpPr>
        <p:spPr>
          <a:xfrm>
            <a:off x="640080" y="1508760"/>
            <a:ext cx="10515600" cy="685800"/>
          </a:xfrm>
          <a:prstGeom prst="rect">
            <a:avLst/>
          </a:prstGeom>
          <a:noFill/>
          <a:ln/>
        </p:spPr>
        <p:txBody>
          <a:bodyPr wrap="square" rtlCol="0" anchor="ctr"/>
          <a:lstStyle/>
          <a:p>
            <a:pPr indent="0" marL="0">
              <a:lnSpc>
                <a:spcPct val="120000"/>
              </a:lnSpc>
              <a:buNone/>
            </a:pPr>
            <a:r>
              <a:rPr lang="en-US" sz="1450" dirty="0">
                <a:solidFill>
                  <a:srgbClr val="5A6B78"/>
                </a:solidFill>
                <a:latin typeface="Calibri" pitchFamily="34" charset="0"/>
                <a:ea typeface="Calibri" pitchFamily="34" charset="-122"/>
                <a:cs typeface="Calibri" pitchFamily="34" charset="-120"/>
              </a:rPr>
              <a:t>O pipe conecta a saída de um comando diretamente à entrada do próximo, sem precisar de um arquivo intermediário. Leia da esquerda para a direita, como uma linha de produção.</a:t>
            </a:r>
            <a:endParaRPr lang="en-US" sz="1450" dirty="0"/>
          </a:p>
        </p:txBody>
      </p:sp>
      <p:sp>
        <p:nvSpPr>
          <p:cNvPr id="5" name="Shape 3"/>
          <p:cNvSpPr/>
          <p:nvPr/>
        </p:nvSpPr>
        <p:spPr>
          <a:xfrm>
            <a:off x="640080" y="2377440"/>
            <a:ext cx="10881360" cy="1005840"/>
          </a:xfrm>
          <a:prstGeom prst="roundRect">
            <a:avLst>
              <a:gd name="adj" fmla="val 7273"/>
            </a:avLst>
          </a:prstGeom>
          <a:solidFill>
            <a:srgbClr val="21295C"/>
          </a:solidFill>
          <a:ln/>
        </p:spPr>
      </p:sp>
      <p:sp>
        <p:nvSpPr>
          <p:cNvPr id="6" name="Text 4"/>
          <p:cNvSpPr/>
          <p:nvPr/>
        </p:nvSpPr>
        <p:spPr>
          <a:xfrm>
            <a:off x="914400" y="2377440"/>
            <a:ext cx="10332720" cy="1005840"/>
          </a:xfrm>
          <a:prstGeom prst="rect">
            <a:avLst/>
          </a:prstGeom>
          <a:noFill/>
          <a:ln/>
        </p:spPr>
        <p:txBody>
          <a:bodyPr wrap="square" rtlCol="0" anchor="ctr"/>
          <a:lstStyle/>
          <a:p>
            <a:pPr indent="0" marL="0">
              <a:buNone/>
            </a:pPr>
            <a:r>
              <a:rPr lang="en-US" sz="2000" b="1" dirty="0">
                <a:solidFill>
                  <a:srgbClr val="8FD3E8"/>
                </a:solidFill>
                <a:latin typeface="Consolas" pitchFamily="34" charset="0"/>
                <a:ea typeface="Consolas" pitchFamily="34" charset="-122"/>
                <a:cs typeface="Consolas" pitchFamily="34" charset="-120"/>
              </a:rPr>
              <a:t>cat /var/log/syslog | grep "error"</a:t>
            </a:r>
            <a:endParaRPr lang="en-US" sz="2000" dirty="0"/>
          </a:p>
        </p:txBody>
      </p:sp>
      <p:sp>
        <p:nvSpPr>
          <p:cNvPr id="7" name="Shape 5"/>
          <p:cNvSpPr/>
          <p:nvPr/>
        </p:nvSpPr>
        <p:spPr>
          <a:xfrm>
            <a:off x="640080" y="3703320"/>
            <a:ext cx="3337560" cy="1371600"/>
          </a:xfrm>
          <a:prstGeom prst="roundRect">
            <a:avLst>
              <a:gd name="adj" fmla="val 5333"/>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8" name="Text 6"/>
          <p:cNvSpPr/>
          <p:nvPr/>
        </p:nvSpPr>
        <p:spPr>
          <a:xfrm>
            <a:off x="822960" y="3867912"/>
            <a:ext cx="2971800" cy="457200"/>
          </a:xfrm>
          <a:prstGeom prst="rect">
            <a:avLst/>
          </a:prstGeom>
          <a:noFill/>
          <a:ln/>
        </p:spPr>
        <p:txBody>
          <a:bodyPr wrap="square" lIns="0" tIns="0" rIns="0" bIns="0" rtlCol="0" anchor="ctr"/>
          <a:lstStyle/>
          <a:p>
            <a:pPr indent="0" marL="0">
              <a:buNone/>
            </a:pPr>
            <a:r>
              <a:rPr lang="en-US" sz="1700" b="1" dirty="0">
                <a:solidFill>
                  <a:srgbClr val="1C7293"/>
                </a:solidFill>
                <a:latin typeface="Consolas" pitchFamily="34" charset="0"/>
                <a:ea typeface="Consolas" pitchFamily="34" charset="-122"/>
                <a:cs typeface="Consolas" pitchFamily="34" charset="-120"/>
              </a:rPr>
              <a:t>cat</a:t>
            </a:r>
            <a:endParaRPr lang="en-US" sz="1700" dirty="0"/>
          </a:p>
        </p:txBody>
      </p:sp>
      <p:sp>
        <p:nvSpPr>
          <p:cNvPr id="9" name="Text 7"/>
          <p:cNvSpPr/>
          <p:nvPr/>
        </p:nvSpPr>
        <p:spPr>
          <a:xfrm>
            <a:off x="822960" y="4361688"/>
            <a:ext cx="2971800" cy="640080"/>
          </a:xfrm>
          <a:prstGeom prst="rect">
            <a:avLst/>
          </a:prstGeom>
          <a:noFill/>
          <a:ln/>
        </p:spPr>
        <p:txBody>
          <a:bodyPr wrap="square" lIns="0" tIns="0" rIns="0" bIns="0" rtlCol="0" anchor="ctr"/>
          <a:lstStyle/>
          <a:p>
            <a:pPr indent="0" marL="0">
              <a:lnSpc>
                <a:spcPct val="115000"/>
              </a:lnSpc>
              <a:buNone/>
            </a:pPr>
            <a:r>
              <a:rPr lang="en-US" sz="1250" dirty="0">
                <a:solidFill>
                  <a:srgbClr val="1E2430"/>
                </a:solidFill>
                <a:latin typeface="Calibri" pitchFamily="34" charset="0"/>
                <a:ea typeface="Calibri" pitchFamily="34" charset="-122"/>
                <a:cs typeface="Calibri" pitchFamily="34" charset="-120"/>
              </a:rPr>
              <a:t>Lê o conteúdo do arquivo</a:t>
            </a:r>
            <a:endParaRPr lang="en-US" sz="1250" dirty="0"/>
          </a:p>
        </p:txBody>
      </p:sp>
      <p:sp>
        <p:nvSpPr>
          <p:cNvPr id="10" name="Shape 8"/>
          <p:cNvSpPr/>
          <p:nvPr/>
        </p:nvSpPr>
        <p:spPr>
          <a:xfrm>
            <a:off x="4411980" y="3703320"/>
            <a:ext cx="3337560" cy="1371600"/>
          </a:xfrm>
          <a:prstGeom prst="roundRect">
            <a:avLst>
              <a:gd name="adj" fmla="val 5333"/>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1" name="Text 9"/>
          <p:cNvSpPr/>
          <p:nvPr/>
        </p:nvSpPr>
        <p:spPr>
          <a:xfrm>
            <a:off x="4594860" y="3867912"/>
            <a:ext cx="2971800" cy="457200"/>
          </a:xfrm>
          <a:prstGeom prst="rect">
            <a:avLst/>
          </a:prstGeom>
          <a:noFill/>
          <a:ln/>
        </p:spPr>
        <p:txBody>
          <a:bodyPr wrap="square" lIns="0" tIns="0" rIns="0" bIns="0" rtlCol="0" anchor="ctr"/>
          <a:lstStyle/>
          <a:p>
            <a:pPr indent="0" marL="0">
              <a:buNone/>
            </a:pPr>
            <a:r>
              <a:rPr lang="en-US" sz="1700" b="1" dirty="0">
                <a:solidFill>
                  <a:srgbClr val="1C7293"/>
                </a:solidFill>
                <a:latin typeface="Consolas" pitchFamily="34" charset="0"/>
                <a:ea typeface="Consolas" pitchFamily="34" charset="-122"/>
                <a:cs typeface="Consolas" pitchFamily="34" charset="-120"/>
              </a:rPr>
              <a:t>|</a:t>
            </a:r>
            <a:endParaRPr lang="en-US" sz="1700" dirty="0"/>
          </a:p>
        </p:txBody>
      </p:sp>
      <p:sp>
        <p:nvSpPr>
          <p:cNvPr id="12" name="Text 10"/>
          <p:cNvSpPr/>
          <p:nvPr/>
        </p:nvSpPr>
        <p:spPr>
          <a:xfrm>
            <a:off x="4594860" y="4361688"/>
            <a:ext cx="2971800" cy="640080"/>
          </a:xfrm>
          <a:prstGeom prst="rect">
            <a:avLst/>
          </a:prstGeom>
          <a:noFill/>
          <a:ln/>
        </p:spPr>
        <p:txBody>
          <a:bodyPr wrap="square" lIns="0" tIns="0" rIns="0" bIns="0" rtlCol="0" anchor="ctr"/>
          <a:lstStyle/>
          <a:p>
            <a:pPr indent="0" marL="0">
              <a:lnSpc>
                <a:spcPct val="115000"/>
              </a:lnSpc>
              <a:buNone/>
            </a:pPr>
            <a:r>
              <a:rPr lang="en-US" sz="1250" dirty="0">
                <a:solidFill>
                  <a:srgbClr val="1E2430"/>
                </a:solidFill>
                <a:latin typeface="Calibri" pitchFamily="34" charset="0"/>
                <a:ea typeface="Calibri" pitchFamily="34" charset="-122"/>
                <a:cs typeface="Calibri" pitchFamily="34" charset="-120"/>
              </a:rPr>
              <a:t>Envia essa saída para o próximo comando</a:t>
            </a:r>
            <a:endParaRPr lang="en-US" sz="1250" dirty="0"/>
          </a:p>
        </p:txBody>
      </p:sp>
      <p:sp>
        <p:nvSpPr>
          <p:cNvPr id="13" name="Shape 11"/>
          <p:cNvSpPr/>
          <p:nvPr/>
        </p:nvSpPr>
        <p:spPr>
          <a:xfrm>
            <a:off x="8183880" y="3703320"/>
            <a:ext cx="3337560" cy="1371600"/>
          </a:xfrm>
          <a:prstGeom prst="roundRect">
            <a:avLst>
              <a:gd name="adj" fmla="val 5333"/>
            </a:avLst>
          </a:prstGeom>
          <a:solidFill>
            <a:srgbClr val="FFFFFF"/>
          </a:solidFill>
          <a:ln w="12700">
            <a:solidFill>
              <a:srgbClr val="DDE6EA"/>
            </a:solidFill>
            <a:prstDash val="solid"/>
          </a:ln>
          <a:effectLst>
            <a:outerShdw sx="100000" sy="100000" kx="0" ky="0" algn="bl" rotWithShape="0" blurRad="63500" dist="25400" dir="5400000">
              <a:srgbClr val="1B2B38">
                <a:alpha val="10000"/>
              </a:srgbClr>
            </a:outerShdw>
          </a:effectLst>
        </p:spPr>
      </p:sp>
      <p:sp>
        <p:nvSpPr>
          <p:cNvPr id="14" name="Text 12"/>
          <p:cNvSpPr/>
          <p:nvPr/>
        </p:nvSpPr>
        <p:spPr>
          <a:xfrm>
            <a:off x="8366760" y="3867912"/>
            <a:ext cx="2971800" cy="457200"/>
          </a:xfrm>
          <a:prstGeom prst="rect">
            <a:avLst/>
          </a:prstGeom>
          <a:noFill/>
          <a:ln/>
        </p:spPr>
        <p:txBody>
          <a:bodyPr wrap="square" lIns="0" tIns="0" rIns="0" bIns="0" rtlCol="0" anchor="ctr"/>
          <a:lstStyle/>
          <a:p>
            <a:pPr indent="0" marL="0">
              <a:buNone/>
            </a:pPr>
            <a:r>
              <a:rPr lang="en-US" sz="1700" b="1" dirty="0">
                <a:solidFill>
                  <a:srgbClr val="1C7293"/>
                </a:solidFill>
                <a:latin typeface="Consolas" pitchFamily="34" charset="0"/>
                <a:ea typeface="Consolas" pitchFamily="34" charset="-122"/>
                <a:cs typeface="Consolas" pitchFamily="34" charset="-120"/>
              </a:rPr>
              <a:t>grep "error"</a:t>
            </a:r>
            <a:endParaRPr lang="en-US" sz="1700" dirty="0"/>
          </a:p>
        </p:txBody>
      </p:sp>
      <p:sp>
        <p:nvSpPr>
          <p:cNvPr id="15" name="Text 13"/>
          <p:cNvSpPr/>
          <p:nvPr/>
        </p:nvSpPr>
        <p:spPr>
          <a:xfrm>
            <a:off x="8366760" y="4361688"/>
            <a:ext cx="2971800" cy="640080"/>
          </a:xfrm>
          <a:prstGeom prst="rect">
            <a:avLst/>
          </a:prstGeom>
          <a:noFill/>
          <a:ln/>
        </p:spPr>
        <p:txBody>
          <a:bodyPr wrap="square" lIns="0" tIns="0" rIns="0" bIns="0" rtlCol="0" anchor="ctr"/>
          <a:lstStyle/>
          <a:p>
            <a:pPr indent="0" marL="0">
              <a:lnSpc>
                <a:spcPct val="115000"/>
              </a:lnSpc>
              <a:buNone/>
            </a:pPr>
            <a:r>
              <a:rPr lang="en-US" sz="1250" dirty="0">
                <a:solidFill>
                  <a:srgbClr val="1E2430"/>
                </a:solidFill>
                <a:latin typeface="Calibri" pitchFamily="34" charset="0"/>
                <a:ea typeface="Calibri" pitchFamily="34" charset="-122"/>
                <a:cs typeface="Calibri" pitchFamily="34" charset="-120"/>
              </a:rPr>
              <a:t>Filtra apenas as linhas com "error"</a:t>
            </a:r>
            <a:endParaRPr lang="en-US" sz="1250" dirty="0"/>
          </a:p>
        </p:txBody>
      </p:sp>
      <p:sp>
        <p:nvSpPr>
          <p:cNvPr id="16" name="Shape 14"/>
          <p:cNvSpPr/>
          <p:nvPr/>
        </p:nvSpPr>
        <p:spPr>
          <a:xfrm>
            <a:off x="4011930" y="4206240"/>
            <a:ext cx="365760" cy="365760"/>
          </a:xfrm>
          <a:prstGeom prst="ellipse">
            <a:avLst/>
          </a:prstGeom>
          <a:solidFill>
            <a:srgbClr val="FFFFFF"/>
          </a:solidFill>
          <a:ln w="12700">
            <a:solidFill>
              <a:srgbClr val="DDE6EA"/>
            </a:solidFill>
            <a:prstDash val="solid"/>
          </a:ln>
        </p:spPr>
      </p:sp>
      <p:sp>
        <p:nvSpPr>
          <p:cNvPr id="17" name="Text 15"/>
          <p:cNvSpPr/>
          <p:nvPr/>
        </p:nvSpPr>
        <p:spPr>
          <a:xfrm>
            <a:off x="4011930" y="4206240"/>
            <a:ext cx="365760" cy="36576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783830" y="4206240"/>
            <a:ext cx="365760" cy="365760"/>
          </a:xfrm>
          <a:prstGeom prst="ellipse">
            <a:avLst/>
          </a:prstGeom>
          <a:solidFill>
            <a:srgbClr val="FFFFFF"/>
          </a:solidFill>
          <a:ln w="12700">
            <a:solidFill>
              <a:srgbClr val="DDE6EA"/>
            </a:solidFill>
            <a:prstDash val="solid"/>
          </a:ln>
        </p:spPr>
      </p:sp>
      <p:sp>
        <p:nvSpPr>
          <p:cNvPr id="19" name="Text 17"/>
          <p:cNvSpPr/>
          <p:nvPr/>
        </p:nvSpPr>
        <p:spPr>
          <a:xfrm>
            <a:off x="7783830" y="4206240"/>
            <a:ext cx="365760" cy="365760"/>
          </a:xfrm>
          <a:prstGeom prst="rect">
            <a:avLst/>
          </a:prstGeom>
          <a:noFill/>
          <a:ln/>
        </p:spPr>
        <p:txBody>
          <a:bodyPr wrap="square" lIns="0" tIns="0" rIns="0" bIns="0" rtlCol="0" anchor="ctr"/>
          <a:lstStyle/>
          <a:p>
            <a:pPr algn="ctr" indent="0" marL="0">
              <a:buNone/>
            </a:pPr>
            <a:r>
              <a:rPr lang="en-US" sz="1600" b="1" dirty="0">
                <a:solidFill>
                  <a:srgbClr val="1C7293"/>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640080" y="5349240"/>
            <a:ext cx="10881360" cy="457200"/>
          </a:xfrm>
          <a:prstGeom prst="rect">
            <a:avLst/>
          </a:prstGeom>
          <a:noFill/>
          <a:ln/>
        </p:spPr>
        <p:txBody>
          <a:bodyPr wrap="square" rtlCol="0" anchor="ctr"/>
          <a:lstStyle/>
          <a:p>
            <a:pPr indent="0" marL="0">
              <a:buNone/>
            </a:pPr>
            <a:r>
              <a:rPr lang="en-US" sz="1300" i="1" dirty="0">
                <a:solidFill>
                  <a:srgbClr val="5A6B78"/>
                </a:solidFill>
                <a:latin typeface="Calibri" pitchFamily="34" charset="0"/>
                <a:ea typeface="Calibri" pitchFamily="34" charset="-122"/>
                <a:cs typeface="Calibri" pitchFamily="34" charset="-120"/>
              </a:rPr>
              <a:t>Outros aliados úteis em pipes: wc -l (conta linhas), sort (ordena), uniq (remove duplicadas consecutivas).</a:t>
            </a:r>
            <a:endParaRPr lang="en-US" sz="1300" dirty="0"/>
          </a:p>
        </p:txBody>
      </p:sp>
      <p:sp>
        <p:nvSpPr>
          <p:cNvPr id="21" name="Text 19"/>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65A82">
              <a:alpha val="35000"/>
            </a:srgbClr>
          </a:solidFill>
          <a:ln/>
        </p:spPr>
      </p:sp>
      <p:pic>
        <p:nvPicPr>
          <p:cNvPr id="3" name="Image 0" descr="icon_atualizacao_white.png">    </p:cNvPr>
          <p:cNvPicPr>
            <a:picLocks noChangeAspect="1"/>
          </p:cNvPicPr>
          <p:nvPr/>
        </p:nvPicPr>
        <p:blipFill>
          <a:blip r:embed="rId1"/>
          <a:stretch>
            <a:fillRect/>
          </a:stretch>
        </p:blipFill>
        <p:spPr>
          <a:xfrm>
            <a:off x="685800" y="594360"/>
            <a:ext cx="502920" cy="502920"/>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PARTE 6 · ATUALIZAÇÃO E INSTALAÇÃO</a:t>
            </a:r>
            <a:endParaRPr lang="en-US" sz="1600" dirty="0"/>
          </a:p>
        </p:txBody>
      </p:sp>
      <p:sp>
        <p:nvSpPr>
          <p:cNvPr id="5" name="Text 2"/>
          <p:cNvSpPr/>
          <p:nvPr/>
        </p:nvSpPr>
        <p:spPr>
          <a:xfrm>
            <a:off x="685800" y="1508760"/>
            <a:ext cx="731520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Pergunta para refletir</a:t>
            </a:r>
            <a:endParaRPr lang="en-US" sz="1400" dirty="0"/>
          </a:p>
        </p:txBody>
      </p:sp>
      <p:sp>
        <p:nvSpPr>
          <p:cNvPr id="6" name="Text 3"/>
          <p:cNvSpPr/>
          <p:nvPr/>
        </p:nvSpPr>
        <p:spPr>
          <a:xfrm>
            <a:off x="685800" y="1874520"/>
            <a:ext cx="10515600" cy="1463040"/>
          </a:xfrm>
          <a:prstGeom prst="rect">
            <a:avLst/>
          </a:prstGeom>
          <a:noFill/>
          <a:ln/>
        </p:spPr>
        <p:txBody>
          <a:bodyPr wrap="square"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Quando instalamos um app no celular, ele vem de uma "loja" central com atualizações automáticas. Existe algo parecido no Linux?</a:t>
            </a:r>
            <a:endParaRPr lang="en-US" sz="2600" dirty="0"/>
          </a:p>
        </p:txBody>
      </p:sp>
      <p:sp>
        <p:nvSpPr>
          <p:cNvPr id="7" name="Shape 4"/>
          <p:cNvSpPr/>
          <p:nvPr/>
        </p:nvSpPr>
        <p:spPr>
          <a:xfrm>
            <a:off x="685800" y="3703320"/>
            <a:ext cx="10817352" cy="2331720"/>
          </a:xfrm>
          <a:prstGeom prst="roundRect">
            <a:avLst>
              <a:gd name="adj" fmla="val 3137"/>
            </a:avLst>
          </a:prstGeom>
          <a:solidFill>
            <a:srgbClr val="FFFFFF">
              <a:alpha val="8000"/>
            </a:srgbClr>
          </a:solidFill>
          <a:ln w="12700">
            <a:solidFill>
              <a:srgbClr val="1C7293"/>
            </a:solidFill>
            <a:prstDash val="solid"/>
          </a:ln>
        </p:spPr>
      </p:sp>
      <p:sp>
        <p:nvSpPr>
          <p:cNvPr id="8" name="Text 5"/>
          <p:cNvSpPr/>
          <p:nvPr/>
        </p:nvSpPr>
        <p:spPr>
          <a:xfrm>
            <a:off x="1051560" y="393192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EXEMPLO REAL</a:t>
            </a:r>
            <a:endParaRPr lang="en-US" sz="1300" dirty="0"/>
          </a:p>
        </p:txBody>
      </p:sp>
      <p:sp>
        <p:nvSpPr>
          <p:cNvPr id="9" name="Text 6"/>
          <p:cNvSpPr/>
          <p:nvPr/>
        </p:nvSpPr>
        <p:spPr>
          <a:xfrm>
            <a:off x="1051560" y="4343400"/>
            <a:ext cx="10058400" cy="1600200"/>
          </a:xfrm>
          <a:prstGeom prst="rect">
            <a:avLst/>
          </a:prstGeom>
          <a:noFill/>
          <a:ln/>
        </p:spPr>
        <p:txBody>
          <a:bodyPr wrap="square" rtlCol="0" anchor="ctr"/>
          <a:lstStyle/>
          <a:p>
            <a:pPr indent="0" marL="0">
              <a:lnSpc>
                <a:spcPct val="125000"/>
              </a:lnSpc>
              <a:buNone/>
            </a:pPr>
            <a:r>
              <a:rPr lang="en-US" sz="1650" dirty="0">
                <a:solidFill>
                  <a:srgbClr val="E7EEF2"/>
                </a:solidFill>
                <a:latin typeface="Calibri" pitchFamily="34" charset="0"/>
                <a:ea typeface="Calibri" pitchFamily="34" charset="-122"/>
                <a:cs typeface="Calibri" pitchFamily="34" charset="-120"/>
              </a:rPr>
              <a:t>Servidores em produção raramente são atualizados "na mão". Eles usam gerenciadores de pacotes via linha de comando, muitas vezes dentro de scripts automatizados, para garantir que toda a frota de servidores tenha exatamente as mesmas versões instaladas.</a:t>
            </a:r>
            <a:endParaRPr lang="en-US" sz="165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400" b="1" spc="200" kern="0" dirty="0">
                <a:solidFill>
                  <a:srgbClr val="065A82"/>
                </a:solidFill>
                <a:latin typeface="Calibri" pitchFamily="34" charset="0"/>
                <a:ea typeface="Calibri" pitchFamily="34" charset="-122"/>
                <a:cs typeface="Calibri" pitchFamily="34" charset="-120"/>
              </a:rPr>
              <a:t>PARTE 6 · ATUALIZAÇÃO E INSTALAÇÃO</a:t>
            </a:r>
            <a:endParaRPr lang="en-US" sz="1400" dirty="0"/>
          </a:p>
        </p:txBody>
      </p:sp>
      <p:sp>
        <p:nvSpPr>
          <p:cNvPr id="3" name="Text 1"/>
          <p:cNvSpPr/>
          <p:nvPr/>
        </p:nvSpPr>
        <p:spPr>
          <a:xfrm>
            <a:off x="640080" y="868680"/>
            <a:ext cx="10515600" cy="548640"/>
          </a:xfrm>
          <a:prstGeom prst="rect">
            <a:avLst/>
          </a:prstGeom>
          <a:noFill/>
          <a:ln/>
        </p:spPr>
        <p:txBody>
          <a:bodyPr wrap="square"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APT: o gerenciador de pacotes do Linux Mint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3291840"/>
        </p:xfrm>
        <a:graphic>
          <a:graphicData uri="http://schemas.openxmlformats.org/drawingml/2006/table">
            <a:tbl>
              <a:tblPr/>
              <a:tblGrid>
                <a:gridCol w="4206240"/>
                <a:gridCol w="6675120"/>
              </a:tblGrid>
              <a:tr h="548640">
                <a:tc>
                  <a:txBody>
                    <a:bodyPr/>
                    <a:lstStyle/>
                    <a:p>
                      <a:pPr indent="0" marL="0">
                        <a:buNone/>
                      </a:pPr>
                      <a:r>
                        <a:rPr lang="en-US" sz="1400" b="1" dirty="0">
                          <a:solidFill>
                            <a:srgbClr val="FFFFFF"/>
                          </a:solidFill>
                        </a:rPr>
                        <a:t>Comando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c>
                  <a:txBody>
                    <a:bodyPr/>
                    <a:lstStyle/>
                    <a:p>
                      <a:pPr indent="0" marL="0">
                        <a:buNone/>
                      </a:pPr>
                      <a:r>
                        <a:rPr lang="en-US" sz="1400" b="1" dirty="0">
                          <a:solidFill>
                            <a:srgbClr val="FFFFFF"/>
                          </a:solidFill>
                        </a:rPr>
                        <a:t>Função</a:t>
                      </a:r>
                      <a:endParaRPr lang="en-US" sz="1400" dirty="0"/>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1295C"/>
                    </a:solidFill>
                  </a:tcPr>
                </a:tc>
              </a:tr>
              <a:tr h="54864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sudo apt update</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Atualiza a lista de pacotes disponíveis</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sudo apt upgrade</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Atualiza os pacotes já instalados</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4864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sudo apt install &lt;pkg&gt;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Instala um novo programa</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sudo apt remove &lt;pkg&gt;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Remove um programa instalado</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2F5"/>
                    </a:solidFill>
                  </a:tcPr>
                </a:tc>
              </a:tr>
              <a:tr h="548640">
                <a:tc>
                  <a:txBody>
                    <a:bodyPr/>
                    <a:lstStyle/>
                    <a:p>
                      <a:pPr indent="0" marL="0">
                        <a:buNone/>
                      </a:pPr>
                      <a:r>
                        <a:rPr lang="en-US" sz="1300" b="1" dirty="0">
                          <a:solidFill>
                            <a:srgbClr val="1C7293"/>
                          </a:solidFill>
                          <a:latin typeface="Consolas" pitchFamily="34" charset="0"/>
                          <a:ea typeface="Consolas" pitchFamily="34" charset="-122"/>
                          <a:cs typeface="Consolas" pitchFamily="34" charset="-120"/>
                        </a:rPr>
                        <a:t>apt search &lt;termo&gt;</a:t>
                      </a:r>
                      <a:endParaRPr lang="en-US" sz="1300" dirty="0">
                        <a:latin typeface="Consolas" charset="0"/>
                        <a:ea typeface="Consolas" charset="0"/>
                        <a:cs typeface="Consolas"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indent="0" marL="0">
                        <a:buNone/>
                      </a:pPr>
                      <a:r>
                        <a:rPr lang="en-US" sz="1400" dirty="0">
                          <a:solidFill>
                            <a:srgbClr val="1E2430"/>
                          </a:solidFill>
                          <a:latin typeface="Calibri" pitchFamily="34" charset="0"/>
                          <a:ea typeface="Calibri" pitchFamily="34" charset="-122"/>
                          <a:cs typeface="Calibri" pitchFamily="34" charset="-120"/>
                        </a:rPr>
                        <a:t>Busca pacotes pelo nome ou descrição</a:t>
                      </a:r>
                      <a:endParaRPr lang="en-US" sz="1400" dirty="0">
                        <a:latin typeface="Calibri" charset="0"/>
                        <a:ea typeface="Calibri" charset="0"/>
                        <a:cs typeface="Calibri" charset="0"/>
                      </a:endParaRPr>
                    </a:p>
                  </a:txBody>
                  <a:tcPr marL="127000" marR="127000" marT="50800" marB="50800" anchor="ctr">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166360"/>
            <a:ext cx="10881360" cy="1051560"/>
          </a:xfrm>
          <a:prstGeom prst="roundRect">
            <a:avLst>
              <a:gd name="adj" fmla="val 6957"/>
            </a:avLst>
          </a:prstGeom>
          <a:solidFill>
            <a:srgbClr val="EAF2F5"/>
          </a:solidFill>
          <a:ln w="12700">
            <a:solidFill>
              <a:srgbClr val="DDE6EA"/>
            </a:solidFill>
            <a:prstDash val="solid"/>
          </a:ln>
        </p:spPr>
      </p:sp>
      <p:sp>
        <p:nvSpPr>
          <p:cNvPr id="6" name="Text 3"/>
          <p:cNvSpPr/>
          <p:nvPr/>
        </p:nvSpPr>
        <p:spPr>
          <a:xfrm>
            <a:off x="914400" y="5321808"/>
            <a:ext cx="9144000" cy="320040"/>
          </a:xfrm>
          <a:prstGeom prst="rect">
            <a:avLst/>
          </a:prstGeom>
          <a:noFill/>
          <a:ln/>
        </p:spPr>
        <p:txBody>
          <a:bodyPr wrap="square"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POR QUE "UPDATE" ANTES DE "UPGRADE"?</a:t>
            </a:r>
            <a:endParaRPr lang="en-US" sz="1200" dirty="0"/>
          </a:p>
        </p:txBody>
      </p:sp>
      <p:sp>
        <p:nvSpPr>
          <p:cNvPr id="7" name="Text 4"/>
          <p:cNvSpPr/>
          <p:nvPr/>
        </p:nvSpPr>
        <p:spPr>
          <a:xfrm>
            <a:off x="914400" y="5605272"/>
            <a:ext cx="10332720" cy="548640"/>
          </a:xfrm>
          <a:prstGeom prst="rect">
            <a:avLst/>
          </a:prstGeom>
          <a:noFill/>
          <a:ln/>
        </p:spPr>
        <p:txBody>
          <a:bodyPr wrap="square" rtlCol="0" anchor="ctr"/>
          <a:lstStyle/>
          <a:p>
            <a:pPr indent="0" marL="0">
              <a:lnSpc>
                <a:spcPct val="115000"/>
              </a:lnSpc>
              <a:buNone/>
            </a:pPr>
            <a:r>
              <a:rPr lang="en-US" sz="1250" dirty="0">
                <a:solidFill>
                  <a:srgbClr val="1E2430"/>
                </a:solidFill>
                <a:latin typeface="Calibri" pitchFamily="34" charset="0"/>
                <a:ea typeface="Calibri" pitchFamily="34" charset="-122"/>
                <a:cs typeface="Calibri" pitchFamily="34" charset="-120"/>
              </a:rPr>
              <a:t>O update atualiza apenas a "lista de compras" disponível; o upgrade de fato instala as versões novas. Sem o update primeiro, o sistema pode instalar a partir de uma lista desatualizada.</a:t>
            </a:r>
            <a:endParaRPr lang="en-US" sz="1250" dirty="0"/>
          </a:p>
        </p:txBody>
      </p:sp>
      <p:sp>
        <p:nvSpPr>
          <p:cNvPr id="8" name="Text 5"/>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A6B78"/>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065A82">
              <a:alpha val="35000"/>
            </a:srgbClr>
          </a:solidFill>
          <a:ln/>
        </p:spPr>
      </p:sp>
      <p:sp>
        <p:nvSpPr>
          <p:cNvPr id="3" name="Text 1"/>
          <p:cNvSpPr/>
          <p:nvPr/>
        </p:nvSpPr>
        <p:spPr>
          <a:xfrm>
            <a:off x="731520" y="1280160"/>
            <a:ext cx="7315200" cy="457200"/>
          </a:xfrm>
          <a:prstGeom prst="rect">
            <a:avLst/>
          </a:prstGeom>
          <a:noFill/>
          <a:ln/>
        </p:spPr>
        <p:txBody>
          <a:bodyPr wrap="square" rtlCol="0" anchor="ctr"/>
          <a:lstStyle/>
          <a:p>
            <a:pPr indent="0" marL="0">
              <a:buNone/>
            </a:pPr>
            <a:r>
              <a:rPr lang="en-US" sz="1600" b="1" spc="200" kern="0" dirty="0">
                <a:solidFill>
                  <a:srgbClr val="8FD3E8"/>
                </a:solidFill>
                <a:latin typeface="Calibri" pitchFamily="34" charset="0"/>
                <a:ea typeface="Calibri" pitchFamily="34" charset="-122"/>
                <a:cs typeface="Calibri" pitchFamily="34" charset="-120"/>
              </a:rPr>
              <a:t>RECAPITULANDO</a:t>
            </a:r>
            <a:endParaRPr lang="en-US" sz="1600" dirty="0"/>
          </a:p>
        </p:txBody>
      </p:sp>
      <p:sp>
        <p:nvSpPr>
          <p:cNvPr id="4" name="Text 2"/>
          <p:cNvSpPr/>
          <p:nvPr/>
        </p:nvSpPr>
        <p:spPr>
          <a:xfrm>
            <a:off x="731520" y="1783080"/>
            <a:ext cx="10058400" cy="1554480"/>
          </a:xfrm>
          <a:prstGeom prst="rect">
            <a:avLst/>
          </a:prstGeom>
          <a:noFill/>
          <a:ln/>
        </p:spPr>
        <p:txBody>
          <a:bodyPr wrap="square" rtlCol="0" anchor="ctr"/>
          <a:lstStyle/>
          <a:p>
            <a:pPr indent="0" marL="0">
              <a:lnSpc>
                <a:spcPct val="110000"/>
              </a:lnSpc>
              <a:buNone/>
            </a:pPr>
            <a:r>
              <a:rPr lang="en-US" sz="3200" b="1" dirty="0">
                <a:solidFill>
                  <a:srgbClr val="FFFFFF"/>
                </a:solidFill>
                <a:latin typeface="Calibri" pitchFamily="34" charset="0"/>
                <a:ea typeface="Calibri" pitchFamily="34" charset="-122"/>
                <a:cs typeface="Calibri" pitchFamily="34" charset="-120"/>
              </a:rPr>
              <a:t>Do FHS aos pacotes:</a:t>
            </a:r>
            <a:endParaRPr lang="en-US" sz="3200" dirty="0"/>
          </a:p>
          <a:p>
            <a:pPr indent="0" marL="0">
              <a:lnSpc>
                <a:spcPct val="110000"/>
              </a:lnSpc>
              <a:buNone/>
            </a:pPr>
            <a:r>
              <a:rPr lang="en-US" sz="3200" b="1" dirty="0">
                <a:solidFill>
                  <a:srgbClr val="FFFFFF"/>
                </a:solidFill>
                <a:latin typeface="Calibri" pitchFamily="34" charset="0"/>
                <a:ea typeface="Calibri" pitchFamily="34" charset="-122"/>
                <a:cs typeface="Calibri" pitchFamily="34" charset="-120"/>
              </a:rPr>
              <a:t>vocês já operam o Linux por linha de comando</a:t>
            </a:r>
            <a:endParaRPr lang="en-US" sz="3200" dirty="0"/>
          </a:p>
        </p:txBody>
      </p:sp>
      <p:sp>
        <p:nvSpPr>
          <p:cNvPr id="5" name="Shape 3"/>
          <p:cNvSpPr/>
          <p:nvPr/>
        </p:nvSpPr>
        <p:spPr>
          <a:xfrm>
            <a:off x="731520" y="3520440"/>
            <a:ext cx="635508" cy="457200"/>
          </a:xfrm>
          <a:prstGeom prst="roundRect">
            <a:avLst>
              <a:gd name="adj" fmla="val 50000"/>
            </a:avLst>
          </a:prstGeom>
          <a:solidFill>
            <a:srgbClr val="FFFFFF">
              <a:alpha val="12000"/>
            </a:srgbClr>
          </a:solidFill>
          <a:ln w="12700">
            <a:solidFill>
              <a:srgbClr val="1C7293"/>
            </a:solidFill>
            <a:prstDash val="solid"/>
          </a:ln>
        </p:spPr>
      </p:sp>
      <p:sp>
        <p:nvSpPr>
          <p:cNvPr id="6" name="Text 4"/>
          <p:cNvSpPr/>
          <p:nvPr/>
        </p:nvSpPr>
        <p:spPr>
          <a:xfrm>
            <a:off x="731520" y="3520440"/>
            <a:ext cx="635508"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FHS</a:t>
            </a:r>
            <a:endParaRPr lang="en-US" sz="1300" dirty="0"/>
          </a:p>
        </p:txBody>
      </p:sp>
      <p:sp>
        <p:nvSpPr>
          <p:cNvPr id="7" name="Shape 5"/>
          <p:cNvSpPr/>
          <p:nvPr/>
        </p:nvSpPr>
        <p:spPr>
          <a:xfrm>
            <a:off x="1549908" y="3520440"/>
            <a:ext cx="1266444" cy="457200"/>
          </a:xfrm>
          <a:prstGeom prst="roundRect">
            <a:avLst>
              <a:gd name="adj" fmla="val 50000"/>
            </a:avLst>
          </a:prstGeom>
          <a:solidFill>
            <a:srgbClr val="FFFFFF">
              <a:alpha val="12000"/>
            </a:srgbClr>
          </a:solidFill>
          <a:ln w="12700">
            <a:solidFill>
              <a:srgbClr val="1C7293"/>
            </a:solidFill>
            <a:prstDash val="solid"/>
          </a:ln>
        </p:spPr>
      </p:sp>
      <p:sp>
        <p:nvSpPr>
          <p:cNvPr id="8" name="Text 6"/>
          <p:cNvSpPr/>
          <p:nvPr/>
        </p:nvSpPr>
        <p:spPr>
          <a:xfrm>
            <a:off x="1549908" y="3520440"/>
            <a:ext cx="1266444"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Navegação</a:t>
            </a:r>
            <a:endParaRPr lang="en-US" sz="1300" dirty="0"/>
          </a:p>
        </p:txBody>
      </p:sp>
      <p:sp>
        <p:nvSpPr>
          <p:cNvPr id="9" name="Shape 7"/>
          <p:cNvSpPr/>
          <p:nvPr/>
        </p:nvSpPr>
        <p:spPr>
          <a:xfrm>
            <a:off x="2999232" y="3520440"/>
            <a:ext cx="1476756" cy="457200"/>
          </a:xfrm>
          <a:prstGeom prst="roundRect">
            <a:avLst>
              <a:gd name="adj" fmla="val 50000"/>
            </a:avLst>
          </a:prstGeom>
          <a:solidFill>
            <a:srgbClr val="FFFFFF">
              <a:alpha val="12000"/>
            </a:srgbClr>
          </a:solidFill>
          <a:ln w="12700">
            <a:solidFill>
              <a:srgbClr val="1C7293"/>
            </a:solidFill>
            <a:prstDash val="solid"/>
          </a:ln>
        </p:spPr>
      </p:sp>
      <p:sp>
        <p:nvSpPr>
          <p:cNvPr id="10" name="Text 8"/>
          <p:cNvSpPr/>
          <p:nvPr/>
        </p:nvSpPr>
        <p:spPr>
          <a:xfrm>
            <a:off x="2999232" y="3520440"/>
            <a:ext cx="1476756"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Manipulação</a:t>
            </a:r>
            <a:endParaRPr lang="en-US" sz="1300" dirty="0"/>
          </a:p>
        </p:txBody>
      </p:sp>
      <p:sp>
        <p:nvSpPr>
          <p:cNvPr id="11" name="Shape 9"/>
          <p:cNvSpPr/>
          <p:nvPr/>
        </p:nvSpPr>
        <p:spPr>
          <a:xfrm>
            <a:off x="4658868" y="3520440"/>
            <a:ext cx="950976" cy="457200"/>
          </a:xfrm>
          <a:prstGeom prst="roundRect">
            <a:avLst>
              <a:gd name="adj" fmla="val 50000"/>
            </a:avLst>
          </a:prstGeom>
          <a:solidFill>
            <a:srgbClr val="FFFFFF">
              <a:alpha val="12000"/>
            </a:srgbClr>
          </a:solidFill>
          <a:ln w="12700">
            <a:solidFill>
              <a:srgbClr val="1C7293"/>
            </a:solidFill>
            <a:prstDash val="solid"/>
          </a:ln>
        </p:spPr>
      </p:sp>
      <p:sp>
        <p:nvSpPr>
          <p:cNvPr id="12" name="Text 10"/>
          <p:cNvSpPr/>
          <p:nvPr/>
        </p:nvSpPr>
        <p:spPr>
          <a:xfrm>
            <a:off x="4658868" y="3520440"/>
            <a:ext cx="950976"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Edição</a:t>
            </a:r>
            <a:endParaRPr lang="en-US" sz="1300" dirty="0"/>
          </a:p>
        </p:txBody>
      </p:sp>
      <p:sp>
        <p:nvSpPr>
          <p:cNvPr id="13" name="Shape 11"/>
          <p:cNvSpPr/>
          <p:nvPr/>
        </p:nvSpPr>
        <p:spPr>
          <a:xfrm>
            <a:off x="5792724" y="3520440"/>
            <a:ext cx="2002536" cy="457200"/>
          </a:xfrm>
          <a:prstGeom prst="roundRect">
            <a:avLst>
              <a:gd name="adj" fmla="val 50000"/>
            </a:avLst>
          </a:prstGeom>
          <a:solidFill>
            <a:srgbClr val="FFFFFF">
              <a:alpha val="12000"/>
            </a:srgbClr>
          </a:solidFill>
          <a:ln w="12700">
            <a:solidFill>
              <a:srgbClr val="1C7293"/>
            </a:solidFill>
            <a:prstDash val="solid"/>
          </a:ln>
        </p:spPr>
      </p:sp>
      <p:sp>
        <p:nvSpPr>
          <p:cNvPr id="14" name="Text 12"/>
          <p:cNvSpPr/>
          <p:nvPr/>
        </p:nvSpPr>
        <p:spPr>
          <a:xfrm>
            <a:off x="5792724" y="3520440"/>
            <a:ext cx="2002536"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Redirecionamento</a:t>
            </a:r>
            <a:endParaRPr lang="en-US" sz="1300" dirty="0"/>
          </a:p>
        </p:txBody>
      </p:sp>
      <p:sp>
        <p:nvSpPr>
          <p:cNvPr id="15" name="Shape 13"/>
          <p:cNvSpPr/>
          <p:nvPr/>
        </p:nvSpPr>
        <p:spPr>
          <a:xfrm>
            <a:off x="7978140" y="3520440"/>
            <a:ext cx="845820" cy="457200"/>
          </a:xfrm>
          <a:prstGeom prst="roundRect">
            <a:avLst>
              <a:gd name="adj" fmla="val 50000"/>
            </a:avLst>
          </a:prstGeom>
          <a:solidFill>
            <a:srgbClr val="FFFFFF">
              <a:alpha val="12000"/>
            </a:srgbClr>
          </a:solidFill>
          <a:ln w="12700">
            <a:solidFill>
              <a:srgbClr val="1C7293"/>
            </a:solidFill>
            <a:prstDash val="solid"/>
          </a:ln>
        </p:spPr>
      </p:sp>
      <p:sp>
        <p:nvSpPr>
          <p:cNvPr id="16" name="Text 14"/>
          <p:cNvSpPr/>
          <p:nvPr/>
        </p:nvSpPr>
        <p:spPr>
          <a:xfrm>
            <a:off x="7978140" y="3520440"/>
            <a:ext cx="845820"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Pipes</a:t>
            </a:r>
            <a:endParaRPr lang="en-US" sz="1300" dirty="0"/>
          </a:p>
        </p:txBody>
      </p:sp>
      <p:sp>
        <p:nvSpPr>
          <p:cNvPr id="17" name="Shape 15"/>
          <p:cNvSpPr/>
          <p:nvPr/>
        </p:nvSpPr>
        <p:spPr>
          <a:xfrm>
            <a:off x="9006840" y="3520440"/>
            <a:ext cx="635508" cy="457200"/>
          </a:xfrm>
          <a:prstGeom prst="roundRect">
            <a:avLst>
              <a:gd name="adj" fmla="val 50000"/>
            </a:avLst>
          </a:prstGeom>
          <a:solidFill>
            <a:srgbClr val="FFFFFF">
              <a:alpha val="12000"/>
            </a:srgbClr>
          </a:solidFill>
          <a:ln w="12700">
            <a:solidFill>
              <a:srgbClr val="1C7293"/>
            </a:solidFill>
            <a:prstDash val="solid"/>
          </a:ln>
        </p:spPr>
      </p:sp>
      <p:sp>
        <p:nvSpPr>
          <p:cNvPr id="18" name="Text 16"/>
          <p:cNvSpPr/>
          <p:nvPr/>
        </p:nvSpPr>
        <p:spPr>
          <a:xfrm>
            <a:off x="9006840" y="3520440"/>
            <a:ext cx="635508" cy="457200"/>
          </a:xfrm>
          <a:prstGeom prst="rect">
            <a:avLst/>
          </a:prstGeom>
          <a:noFill/>
          <a:ln/>
        </p:spPr>
        <p:txBody>
          <a:bodyPr wrap="square" rtlCol="0" anchor="ctr"/>
          <a:lstStyle/>
          <a:p>
            <a:pPr algn="ctr" indent="0" marL="0">
              <a:buNone/>
            </a:pPr>
            <a:r>
              <a:rPr lang="en-US" sz="1300" dirty="0">
                <a:solidFill>
                  <a:srgbClr val="C7E8F2"/>
                </a:solidFill>
                <a:latin typeface="Calibri" pitchFamily="34" charset="0"/>
                <a:ea typeface="Calibri" pitchFamily="34" charset="-122"/>
                <a:cs typeface="Calibri" pitchFamily="34" charset="-120"/>
              </a:rPr>
              <a:t>APT</a:t>
            </a:r>
            <a:endParaRPr lang="en-US" sz="1300" dirty="0"/>
          </a:p>
        </p:txBody>
      </p:sp>
      <p:sp>
        <p:nvSpPr>
          <p:cNvPr id="19" name="Shape 17"/>
          <p:cNvSpPr/>
          <p:nvPr/>
        </p:nvSpPr>
        <p:spPr>
          <a:xfrm>
            <a:off x="731520" y="4434840"/>
            <a:ext cx="10698480" cy="1554480"/>
          </a:xfrm>
          <a:prstGeom prst="roundRect">
            <a:avLst>
              <a:gd name="adj" fmla="val 4706"/>
            </a:avLst>
          </a:prstGeom>
          <a:solidFill>
            <a:srgbClr val="FFFFFF">
              <a:alpha val="8000"/>
            </a:srgbClr>
          </a:solidFill>
          <a:ln w="12700">
            <a:solidFill>
              <a:srgbClr val="1C7293"/>
            </a:solidFill>
            <a:prstDash val="solid"/>
          </a:ln>
        </p:spPr>
      </p:sp>
      <p:sp>
        <p:nvSpPr>
          <p:cNvPr id="20" name="Text 18"/>
          <p:cNvSpPr/>
          <p:nvPr/>
        </p:nvSpPr>
        <p:spPr>
          <a:xfrm>
            <a:off x="1051560" y="4663440"/>
            <a:ext cx="7315200" cy="365760"/>
          </a:xfrm>
          <a:prstGeom prst="rect">
            <a:avLst/>
          </a:prstGeom>
          <a:noFill/>
          <a:ln/>
        </p:spPr>
        <p:txBody>
          <a:bodyPr wrap="square" rtlCol="0" anchor="ctr"/>
          <a:lstStyle/>
          <a:p>
            <a:pPr indent="0" marL="0">
              <a:buNone/>
            </a:pPr>
            <a:r>
              <a:rPr lang="en-US" sz="1300" b="1" spc="150" kern="0" dirty="0">
                <a:solidFill>
                  <a:srgbClr val="8FD3E8"/>
                </a:solidFill>
                <a:latin typeface="Calibri" pitchFamily="34" charset="0"/>
                <a:ea typeface="Calibri" pitchFamily="34" charset="-122"/>
                <a:cs typeface="Calibri" pitchFamily="34" charset="-120"/>
              </a:rPr>
              <a:t>PRÓXIMA AULA</a:t>
            </a:r>
            <a:endParaRPr lang="en-US" sz="1300" dirty="0"/>
          </a:p>
        </p:txBody>
      </p:sp>
      <p:sp>
        <p:nvSpPr>
          <p:cNvPr id="21" name="Text 19"/>
          <p:cNvSpPr/>
          <p:nvPr/>
        </p:nvSpPr>
        <p:spPr>
          <a:xfrm>
            <a:off x="1051560" y="5029200"/>
            <a:ext cx="10058400" cy="822960"/>
          </a:xfrm>
          <a:prstGeom prst="rect">
            <a:avLst/>
          </a:prstGeom>
          <a:noFill/>
          <a:ln/>
        </p:spPr>
        <p:txBody>
          <a:bodyPr wrap="square" rtlCol="0" anchor="ctr"/>
          <a:lstStyle/>
          <a:p>
            <a:pPr indent="0" marL="0">
              <a:lnSpc>
                <a:spcPct val="120000"/>
              </a:lnSpc>
              <a:buNone/>
            </a:pPr>
            <a:r>
              <a:rPr lang="en-US" sz="1600" dirty="0">
                <a:solidFill>
                  <a:srgbClr val="E7EEF2"/>
                </a:solidFill>
                <a:latin typeface="Calibri" pitchFamily="34" charset="0"/>
                <a:ea typeface="Calibri" pitchFamily="34" charset="-122"/>
                <a:cs typeface="Calibri" pitchFamily="34" charset="-120"/>
              </a:rPr>
              <a:t>Permissões e usuários (chmod, chown, grupos) — a base para rodar Docker sem depender de sudo a cada comando.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2026-08-17T20:07:54Z</dcterms:created>
  <dcterms:modified xsi:type="dcterms:W3CDTF">2026-08-17T20:07:54Z</dcterms:modified>
</cp:coreProperties>
</file>