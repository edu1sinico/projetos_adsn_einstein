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85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68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15"/>
    <p:restoredTop sz="91411"/>
  </p:normalViewPr>
  <p:slideViewPr>
    <p:cSldViewPr snapToGrid="0" snapToObjects="1">
      <p:cViewPr>
        <p:scale>
          <a:sx n="109" d="100"/>
          <a:sy n="109" d="100"/>
        </p:scale>
        <p:origin x="9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8122" b="4060"/>
          <a:stretch/>
        </p:blipFill>
        <p:spPr>
          <a:xfrm>
            <a:off x="0" y="1246910"/>
            <a:ext cx="12192000" cy="5650579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"/>
            <a:ext cx="12192000" cy="612949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2949"/>
            <a:ext cx="12192000" cy="633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7" y="747161"/>
            <a:ext cx="343903" cy="267584"/>
          </a:xfrm>
          <a:prstGeom prst="rect">
            <a:avLst/>
          </a:prstGeom>
        </p:spPr>
      </p:pic>
      <p:sp>
        <p:nvSpPr>
          <p:cNvPr id="11" name="Retângulo 10"/>
          <p:cNvSpPr/>
          <p:nvPr userDrawn="1"/>
        </p:nvSpPr>
        <p:spPr>
          <a:xfrm>
            <a:off x="0" y="1266572"/>
            <a:ext cx="12192000" cy="56110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8"/>
          <p:cNvSpPr/>
          <p:nvPr userDrawn="1"/>
        </p:nvSpPr>
        <p:spPr>
          <a:xfrm>
            <a:off x="0" y="1148708"/>
            <a:ext cx="6096000" cy="5709292"/>
          </a:xfrm>
          <a:custGeom>
            <a:avLst/>
            <a:gdLst>
              <a:gd name="connsiteX0" fmla="*/ 0 w 6096000"/>
              <a:gd name="connsiteY0" fmla="*/ 0 h 5709292"/>
              <a:gd name="connsiteX1" fmla="*/ 609600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531918 w 6096000"/>
              <a:gd name="connsiteY1" fmla="*/ 31173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95600 w 6096000"/>
              <a:gd name="connsiteY1" fmla="*/ 10391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8521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5709292">
                <a:moveTo>
                  <a:pt x="0" y="0"/>
                </a:moveTo>
                <a:lnTo>
                  <a:pt x="2885210" y="0"/>
                </a:lnTo>
                <a:lnTo>
                  <a:pt x="6096000" y="5709292"/>
                </a:lnTo>
                <a:lnTo>
                  <a:pt x="0" y="5709292"/>
                </a:lnTo>
                <a:lnTo>
                  <a:pt x="0" y="0"/>
                </a:lnTo>
                <a:close/>
              </a:path>
            </a:pathLst>
          </a:cu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316995"/>
            <a:ext cx="12192000" cy="156545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40760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6528050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528048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1" name="Espaço Reservado para Texto 7"/>
          <p:cNvSpPr>
            <a:spLocks noGrp="1" noChangeAspect="1"/>
          </p:cNvSpPr>
          <p:nvPr>
            <p:ph type="body" sz="quarter" idx="14"/>
          </p:nvPr>
        </p:nvSpPr>
        <p:spPr>
          <a:xfrm>
            <a:off x="1415483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528050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49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6"/>
          </p:nvPr>
        </p:nvSpPr>
        <p:spPr>
          <a:xfrm>
            <a:off x="1313058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313056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7"/>
          </p:nvPr>
        </p:nvSpPr>
        <p:spPr>
          <a:xfrm>
            <a:off x="6528050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6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1313058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FiguraX</a:t>
            </a:r>
            <a:r>
              <a:rPr lang="pt-BR" dirty="0"/>
              <a:t>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184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69" y="1510552"/>
            <a:ext cx="9941731" cy="1702424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1426369" y="3761401"/>
            <a:ext cx="9941731" cy="197674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69" y="5837705"/>
            <a:ext cx="9941731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indent="-243796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5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1426369" y="3356585"/>
            <a:ext cx="9941731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682E8C-4205-C8EF-3E8D-1DA554B065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022315" y="1775064"/>
            <a:ext cx="4725816" cy="4136845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217436" y="1734213"/>
            <a:ext cx="4725816" cy="4129759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A86D0E-24D4-FCAB-2A5E-DCD1F946E9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910208" y="1510552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96002" y="1517662"/>
            <a:ext cx="4741639" cy="414358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75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Destaqu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3" y="1712167"/>
            <a:ext cx="4741639" cy="415069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23995" y="1719277"/>
            <a:ext cx="4741639" cy="414358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068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5"/>
            <a:ext cx="9927431" cy="4510737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8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F787C5-0F55-9774-0210-5B3FA119C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efe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415503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71" y="5665590"/>
            <a:ext cx="9927431" cy="504056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do texto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789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2" y="1454473"/>
            <a:ext cx="9927431" cy="119836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611319" y="5691734"/>
            <a:ext cx="9152756" cy="574368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da citação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1611319" y="2703439"/>
            <a:ext cx="9152756" cy="291544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pt-BR" dirty="0"/>
              <a:t>Clique para inserir citação.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91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5029671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600057" y="1511346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7" y="3073714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4" name="Espaço Reservado para Tex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0057" y="4636082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4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156316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26369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6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26369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2" name="Espaço Reservado para Tex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0056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0" y="6621752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0" y="6470709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Retângulo 14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867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70777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ço com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069" y="3426942"/>
            <a:ext cx="4788931" cy="344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6" name="Retângulo 15"/>
          <p:cNvSpPr/>
          <p:nvPr userDrawn="1"/>
        </p:nvSpPr>
        <p:spPr>
          <a:xfrm>
            <a:off x="8353869" y="4997810"/>
            <a:ext cx="288733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50" dirty="0"/>
              <a:t>Área reservada para libras.</a:t>
            </a:r>
          </a:p>
        </p:txBody>
      </p:sp>
    </p:spTree>
    <p:extLst>
      <p:ext uri="{BB962C8B-B14F-4D97-AF65-F5344CB8AC3E}">
        <p14:creationId xmlns:p14="http://schemas.microsoft.com/office/powerpoint/2010/main" val="366064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BEED-8A68-4722-9E32-77B5A92D9FCF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AD03-B9AA-4AC4-8737-AAAAC545CE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3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89335E-A121-8842-85AC-B83750E5C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1138" y="1568237"/>
            <a:ext cx="9941731" cy="1702424"/>
          </a:xfrm>
        </p:spPr>
        <p:txBody>
          <a:bodyPr/>
          <a:lstStyle/>
          <a:p>
            <a:pPr algn="ctr"/>
            <a:r>
              <a:rPr lang="pt-BR" sz="4400" dirty="0"/>
              <a:t>Banco de Dados Não Relacional</a:t>
            </a:r>
          </a:p>
          <a:p>
            <a:pPr algn="ctr"/>
            <a:r>
              <a:rPr lang="pt-BR" sz="4400" dirty="0"/>
              <a:t>Buscas por Parte do Texto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D7575F-7300-F345-9C32-8CED948BD2B9}"/>
              </a:ext>
            </a:extLst>
          </p:cNvPr>
          <p:cNvSpPr txBox="1"/>
          <p:nvPr/>
        </p:nvSpPr>
        <p:spPr>
          <a:xfrm>
            <a:off x="3632198" y="4406030"/>
            <a:ext cx="5359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Prof. Thiago </a:t>
            </a:r>
            <a:r>
              <a:rPr lang="pt-BR" sz="4000" dirty="0" err="1"/>
              <a:t>Salhab</a:t>
            </a:r>
            <a:r>
              <a:rPr lang="pt-BR" sz="4000" dirty="0"/>
              <a:t> Alves</a:t>
            </a:r>
          </a:p>
        </p:txBody>
      </p:sp>
    </p:spTree>
    <p:extLst>
      <p:ext uri="{BB962C8B-B14F-4D97-AF65-F5344CB8AC3E}">
        <p14:creationId xmlns:p14="http://schemas.microsoft.com/office/powerpoint/2010/main" val="27767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fazer uma busca utilizando apenas uma parte do texto, como o operador </a:t>
            </a:r>
            <a:r>
              <a:rPr lang="pt-BR" sz="2800" b="1" dirty="0">
                <a:solidFill>
                  <a:schemeClr val="tx1"/>
                </a:solidFill>
              </a:rPr>
              <a:t>like</a:t>
            </a:r>
            <a:r>
              <a:rPr lang="pt-BR" sz="2800" dirty="0"/>
              <a:t> utilizado na clausula </a:t>
            </a:r>
            <a:r>
              <a:rPr lang="pt-BR" b="1" dirty="0" err="1">
                <a:solidFill>
                  <a:schemeClr val="tx1"/>
                </a:solidFill>
              </a:rPr>
              <a:t>w</a:t>
            </a:r>
            <a:r>
              <a:rPr lang="pt-BR" sz="2800" b="1" dirty="0" err="1">
                <a:solidFill>
                  <a:schemeClr val="tx1"/>
                </a:solidFill>
              </a:rPr>
              <a:t>here</a:t>
            </a:r>
            <a:r>
              <a:rPr lang="pt-BR" sz="2800" dirty="0"/>
              <a:t> do </a:t>
            </a:r>
            <a:r>
              <a:rPr lang="pt-BR" sz="2800" b="1" dirty="0" err="1">
                <a:solidFill>
                  <a:schemeClr val="tx1"/>
                </a:solidFill>
              </a:rPr>
              <a:t>select</a:t>
            </a:r>
            <a:r>
              <a:rPr lang="pt-BR" sz="2800" dirty="0"/>
              <a:t> nos bancos relacionais, devemos utilizar alguns símbolos ao procurar o texto.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Busca o texto completo: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por parte do texto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44A459-9A4F-4818-91B5-CCF91A02D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644" y="3444143"/>
            <a:ext cx="4013990" cy="27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8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buscar uma parte do texto independente se ele esta no começo, no fim ou no meio da </a:t>
            </a:r>
            <a:r>
              <a:rPr lang="pt-BR" sz="2800" dirty="0" err="1"/>
              <a:t>string</a:t>
            </a:r>
            <a:r>
              <a:rPr lang="pt-BR" sz="2800" dirty="0"/>
              <a:t>, utilizamos </a:t>
            </a:r>
            <a:r>
              <a:rPr lang="pt-BR" sz="2800" b="1" dirty="0">
                <a:solidFill>
                  <a:schemeClr val="tx1"/>
                </a:solidFill>
              </a:rPr>
              <a:t>/</a:t>
            </a:r>
            <a:r>
              <a:rPr lang="pt-BR" sz="2800" dirty="0"/>
              <a:t> uma antes e uma depois do texto que desejamos encontrar (filtrei alguns campos apenas para o resultado utilizar menos linhas)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por parte do texto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0D9DA05-7FF7-400B-B13A-D8F70B645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99" y="3422245"/>
            <a:ext cx="5972450" cy="11033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61C7BA1-7433-4182-AEF7-D4F0C9B48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246" y="4747039"/>
            <a:ext cx="595395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3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Utilizamos o operador </a:t>
            </a:r>
            <a:r>
              <a:rPr lang="pt-BR" sz="2800" b="1" dirty="0">
                <a:solidFill>
                  <a:schemeClr val="tx1"/>
                </a:solidFill>
              </a:rPr>
              <a:t>^</a:t>
            </a:r>
            <a:r>
              <a:rPr lang="pt-BR" sz="2800" dirty="0"/>
              <a:t> para buscar documentos que o campo começa com determinado texto: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por parte do texto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F4DD45-2FBF-4D35-9364-4F0CC6469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586" y="2500225"/>
            <a:ext cx="6440267" cy="14621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EE0BEA8-0B60-42DF-BF36-2B2E2B163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587" y="4281923"/>
            <a:ext cx="6658268" cy="162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9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buscar o que termina com determinado valor, utilizamos o operador </a:t>
            </a:r>
            <a:r>
              <a:rPr lang="pt-BR" sz="2800" b="1" dirty="0">
                <a:solidFill>
                  <a:schemeClr val="tx1"/>
                </a:solidFill>
              </a:rPr>
              <a:t>$</a:t>
            </a:r>
            <a:endParaRPr lang="pt-BR" sz="2600" b="1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por parte do texto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DC4A32-0553-4FEA-A88C-30DE4343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904" y="2576011"/>
            <a:ext cx="6259951" cy="158112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2A19725-60D2-43B7-8A2F-50F457FE8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917" y="4431827"/>
            <a:ext cx="7059104" cy="178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7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Se precisamos buscar duas partes do texto onde não interessa o que tem no meio deles (queremos todos os Jose da Silva independente de ter algum outro nome no meio como Jose Rodrigues da silva por exemplo) devemos utilizar o operador </a:t>
            </a:r>
            <a:r>
              <a:rPr lang="pt-BR" sz="2800" b="1" dirty="0">
                <a:solidFill>
                  <a:schemeClr val="tx1"/>
                </a:solidFill>
              </a:rPr>
              <a:t>.*</a:t>
            </a:r>
            <a:r>
              <a:rPr lang="pt-BR" sz="2800" dirty="0"/>
              <a:t> entre as duas partes do texto que queremos procurar:</a:t>
            </a:r>
            <a:endParaRPr lang="pt-BR" sz="26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por parte do texto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83E55AA-8010-445A-AB2E-25E1EC268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613" y="3976382"/>
            <a:ext cx="7472771" cy="156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23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Busca por parte do texto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34032E5A-CBEB-4DF0-865F-473B85AF2B8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56476348"/>
              </p:ext>
            </p:extLst>
          </p:nvPr>
        </p:nvGraphicFramePr>
        <p:xfrm>
          <a:off x="2491409" y="1663113"/>
          <a:ext cx="6800320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21921">
                  <a:extLst>
                    <a:ext uri="{9D8B030D-6E8A-4147-A177-3AD203B41FA5}">
                      <a16:colId xmlns:a16="http://schemas.microsoft.com/office/drawing/2014/main" val="19945436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973301558"/>
                    </a:ext>
                  </a:extLst>
                </a:gridCol>
                <a:gridCol w="2870199">
                  <a:extLst>
                    <a:ext uri="{9D8B030D-6E8A-4147-A177-3AD203B41FA5}">
                      <a16:colId xmlns:a16="http://schemas.microsoft.com/office/drawing/2014/main" val="1279469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MongoDB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Banco relacional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65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80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/^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96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$/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pt-BR" dirty="0"/>
                        <a:t>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pt-BR" dirty="0"/>
                        <a:t>texto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60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.*</a:t>
                      </a:r>
                      <a:r>
                        <a:rPr lang="pt-BR" dirty="0" err="1"/>
                        <a:t>cont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pt-BR" dirty="0" err="1"/>
                        <a:t>texto</a:t>
                      </a:r>
                      <a:r>
                        <a:rPr lang="pt-BR" dirty="0" err="1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pt-BR" dirty="0" err="1"/>
                        <a:t>cont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pt-BR" dirty="0" err="1"/>
                        <a:t>cont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315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/^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.*</a:t>
                      </a:r>
                      <a:r>
                        <a:rPr lang="pt-BR" dirty="0" err="1"/>
                        <a:t>cont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texto</a:t>
                      </a:r>
                      <a:r>
                        <a:rPr lang="pt-BR" dirty="0" err="1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pt-BR" dirty="0" err="1"/>
                        <a:t>cont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pt-BR" dirty="0" err="1"/>
                        <a:t>cont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949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.*</a:t>
                      </a:r>
                      <a:r>
                        <a:rPr lang="pt-BR" dirty="0" err="1"/>
                        <a:t>cont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$/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pt-BR" dirty="0" err="1"/>
                        <a:t>texto</a:t>
                      </a:r>
                      <a:r>
                        <a:rPr lang="pt-BR" dirty="0" err="1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pt-BR" dirty="0" err="1"/>
                        <a:t>cont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pt-BR" dirty="0" err="1"/>
                        <a:t>cont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67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/^</a:t>
                      </a:r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.*</a:t>
                      </a:r>
                      <a:r>
                        <a:rPr lang="pt-BR" dirty="0" err="1"/>
                        <a:t>cont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$/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texto</a:t>
                      </a:r>
                      <a:r>
                        <a:rPr lang="pt-BR" dirty="0" err="1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pt-BR" dirty="0" err="1"/>
                        <a:t>cont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texto</a:t>
                      </a:r>
                      <a:r>
                        <a:rPr lang="pt-BR" dirty="0">
                          <a:solidFill>
                            <a:srgbClr val="C00000"/>
                          </a:solidFill>
                        </a:rPr>
                        <a:t>**</a:t>
                      </a:r>
                      <a:r>
                        <a:rPr lang="pt-BR" dirty="0" err="1"/>
                        <a:t>cont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218267"/>
                  </a:ext>
                </a:extLst>
              </a:tr>
            </a:tbl>
          </a:graphicData>
        </a:graphic>
      </p:graphicFrame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50534D3-2AC4-4ECC-80FF-97B46E5D14CF}"/>
              </a:ext>
            </a:extLst>
          </p:cNvPr>
          <p:cNvSpPr txBox="1">
            <a:spLocks/>
          </p:cNvSpPr>
          <p:nvPr/>
        </p:nvSpPr>
        <p:spPr>
          <a:xfrm>
            <a:off x="1143000" y="5003800"/>
            <a:ext cx="9905999" cy="1539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 err="1"/>
              <a:t>Obs</a:t>
            </a:r>
            <a:r>
              <a:rPr lang="pt-BR" dirty="0"/>
              <a:t>: os dois asteriscos (**) na coluna resultado representa que naquele lugar pode ou não conter algum texto.</a:t>
            </a:r>
            <a:endParaRPr lang="pt-BR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694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 comando </a:t>
            </a:r>
            <a:r>
              <a:rPr lang="pt-BR" sz="2800" dirty="0" err="1"/>
              <a:t>aggregate</a:t>
            </a:r>
            <a:r>
              <a:rPr lang="pt-BR" sz="2800" dirty="0"/>
              <a:t> pode ser utilizado no lugar do </a:t>
            </a:r>
            <a:r>
              <a:rPr lang="pt-BR" sz="2800" dirty="0" err="1"/>
              <a:t>find</a:t>
            </a:r>
            <a:r>
              <a:rPr lang="pt-BR" sz="2800" dirty="0"/>
              <a:t> permitido filtrar, selecionar campos, agrupar, ordenar, limitar quantidade de registros, totalizar, somar, mesclar dados de mais de um </a:t>
            </a:r>
            <a:r>
              <a:rPr lang="pt-BR" sz="2800" dirty="0" err="1"/>
              <a:t>collection</a:t>
            </a:r>
            <a:r>
              <a:rPr lang="pt-BR" sz="2800" dirty="0"/>
              <a:t> entre outras coisas. 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Esse comando cria um pipeline e vai utilizando o resultado de cada um dos filtros utilizados nele como entrada de dados para o próximo utilizado, mostrando o resultado ao final da sua execução.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Por ser um comando mais complexo, vamos ver suas funções por partes.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4344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Primeiro vamos selecionar quais campos devem ser exibidos no resultado, para isso utilizamos 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$Project</a:t>
            </a:r>
            <a:r>
              <a:rPr lang="pt-BR" sz="2800" dirty="0"/>
              <a:t>, que é parecido com a parte do comando </a:t>
            </a:r>
            <a:r>
              <a:rPr lang="pt-BR" sz="2800" dirty="0" err="1"/>
              <a:t>find</a:t>
            </a:r>
            <a:r>
              <a:rPr lang="pt-BR" sz="2800" dirty="0"/>
              <a:t> onde indicamos quais campos querendo exibir colocando 1 na frente do nome do campo: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D06077-6C7D-4516-96A9-CF557DE175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801"/>
          <a:stretch/>
        </p:blipFill>
        <p:spPr>
          <a:xfrm>
            <a:off x="2647070" y="3293533"/>
            <a:ext cx="6824593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6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Podemos utilizar 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$Project</a:t>
            </a:r>
            <a:r>
              <a:rPr lang="pt-BR" sz="2800" dirty="0"/>
              <a:t>, para trocar o nome dos campos quando necessário, no exemplo estamos trocando o nome do campo 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name</a:t>
            </a:r>
            <a:r>
              <a:rPr lang="pt-BR" sz="2800" dirty="0"/>
              <a:t> para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nome</a:t>
            </a:r>
            <a:r>
              <a:rPr lang="pt-BR" sz="2800" dirty="0"/>
              <a:t>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E2EF28-4B5F-4506-AE63-DEF26F116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612" y="2851140"/>
            <a:ext cx="7806775" cy="338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Podemos também mudar um campo texto para caixa alta (maiúsculo) utilizando 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toUpper</a:t>
            </a:r>
            <a:r>
              <a:rPr lang="pt-BR" sz="2800" dirty="0"/>
              <a:t>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EA0F77-C99F-4B47-9025-531A3929C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00" y="2690625"/>
            <a:ext cx="9199900" cy="349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34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filtrar a quantidade de documentos que queremos no resultado, utilizamos 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limit</a:t>
            </a:r>
            <a:endParaRPr lang="pt-BR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7654DAA-7DE3-4928-9D95-5F72076F7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166" y="2508182"/>
            <a:ext cx="7441668" cy="379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63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Agora vamos começar a filtrar os resultados fazendo com que ele não traga todos os registros, para isso utilizamos 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$match</a:t>
            </a:r>
            <a:r>
              <a:rPr lang="pt-BR" sz="2800" dirty="0"/>
              <a:t>, no exemplo abaixo traremos apenas os </a:t>
            </a:r>
            <a:r>
              <a:rPr lang="pt-BR" sz="2800" dirty="0" err="1"/>
              <a:t>pokemons</a:t>
            </a:r>
            <a:r>
              <a:rPr lang="pt-BR" sz="2800" dirty="0"/>
              <a:t> do tipo fogo (</a:t>
            </a:r>
            <a:r>
              <a:rPr lang="pt-BR" sz="2800" dirty="0" err="1"/>
              <a:t>fire</a:t>
            </a:r>
            <a:r>
              <a:rPr lang="pt-BR" sz="2800" dirty="0"/>
              <a:t>):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A97585C-CA9E-4C7E-A2D5-8A7E65EB7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509" y="3344677"/>
            <a:ext cx="7234417" cy="319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78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No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$match</a:t>
            </a:r>
            <a:r>
              <a:rPr lang="pt-BR" sz="2800" dirty="0"/>
              <a:t>, podemos utilizar os mesmos operadores matemáticos que utilizamos no comando 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find</a:t>
            </a:r>
            <a:r>
              <a:rPr lang="pt-BR" sz="2800" dirty="0"/>
              <a:t>, como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gt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800" dirty="0"/>
              <a:t>ou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or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800" dirty="0"/>
              <a:t>por exemplo: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97E52C-A401-4E55-AAEC-8018FA1C4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74" y="2873669"/>
            <a:ext cx="6782226" cy="374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01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group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800" dirty="0"/>
              <a:t>permite agrupar campos somando valores, tirando media ou contando quantos tem. No exemplo abaixo estamos contando os </a:t>
            </a:r>
            <a:r>
              <a:rPr lang="pt-BR" sz="2800" dirty="0" err="1"/>
              <a:t>pokemons</a:t>
            </a:r>
            <a:r>
              <a:rPr lang="pt-BR" sz="2800" dirty="0"/>
              <a:t> por tipo com o operador </a:t>
            </a:r>
            <a:r>
              <a:rPr lang="pt-BR" sz="2800" b="1" dirty="0"/>
              <a:t>$sum</a:t>
            </a:r>
            <a:r>
              <a:rPr lang="pt-BR" sz="2800" dirty="0"/>
              <a:t>, como o campo </a:t>
            </a:r>
            <a:r>
              <a:rPr lang="pt-BR" sz="2800" dirty="0" err="1"/>
              <a:t>types</a:t>
            </a:r>
            <a:r>
              <a:rPr lang="pt-BR" sz="2800" dirty="0"/>
              <a:t> é um </a:t>
            </a:r>
            <a:r>
              <a:rPr lang="pt-BR" sz="2800" dirty="0" err="1"/>
              <a:t>array</a:t>
            </a:r>
            <a:r>
              <a:rPr lang="pt-BR" sz="2800" dirty="0"/>
              <a:t> ele considera todos os elementos do </a:t>
            </a:r>
            <a:r>
              <a:rPr lang="pt-BR" sz="2800" dirty="0" err="1"/>
              <a:t>array</a:t>
            </a:r>
            <a:r>
              <a:rPr lang="pt-BR" sz="2800" dirty="0"/>
              <a:t> para contar.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8655F7-394D-4564-9240-A3F254683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88" y="3418627"/>
            <a:ext cx="5335379" cy="308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5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group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800" dirty="0"/>
              <a:t>utiliza o campo _id com base para fazer a junção dos registros, por isso é obrigatório começar pelo _id.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Para utilizarmos mais de um campo no agrupamento, devemos coloca-los como um objeto dentro do _id: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B9C9EF-5388-4DBA-AB3B-CC42B982F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781" y="3539924"/>
            <a:ext cx="5563376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82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Podemos somar valores, no exemplo abaixo estamos somando o valor dos ataques: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6315A70-09F8-4257-8F40-7D7F9DF4F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016" y="2684308"/>
            <a:ext cx="7449967" cy="315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60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Podemos também retornar uma média dos valores agrupados utilizando o operador </a:t>
            </a:r>
            <a:r>
              <a:rPr lang="pt-BR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sz="2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avg</a:t>
            </a:r>
            <a:r>
              <a:rPr lang="pt-BR" sz="2800" dirty="0"/>
              <a:t>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E7E25F-BD3B-4ACF-9CAA-5547E236A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551" y="2712887"/>
            <a:ext cx="8589449" cy="340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75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É permitido também utilizar mais de um comando de agregação de valores, no exemplo abaixo estamos mostrando uma média e a quantidade de cada item agrupado: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A1680C-3A9D-45DB-9CBD-1989E5CA5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785" y="2842960"/>
            <a:ext cx="6008548" cy="3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83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pt-BR" dirty="0"/>
              <a:t>Para ordenar os resultados utilizamos o </a:t>
            </a:r>
            <a:r>
              <a:rPr lang="pt-B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sort</a:t>
            </a:r>
            <a:r>
              <a:rPr lang="pt-BR" dirty="0"/>
              <a:t>, onde definimos o nome do campo que queremos ordenar seguido de 1 para ordem crescente (alfabética) ou -1 para decrescente:</a:t>
            </a:r>
          </a:p>
          <a:p>
            <a:pPr>
              <a:lnSpc>
                <a:spcPct val="100000"/>
              </a:lnSpc>
            </a:pPr>
            <a:endParaRPr lang="pt-BR" dirty="0"/>
          </a:p>
          <a:p>
            <a:pPr>
              <a:lnSpc>
                <a:spcPct val="100000"/>
              </a:lnSpc>
            </a:pPr>
            <a:endParaRPr lang="pt-BR" dirty="0"/>
          </a:p>
          <a:p>
            <a:pPr>
              <a:lnSpc>
                <a:spcPct val="100000"/>
              </a:lnSpc>
            </a:pPr>
            <a:endParaRPr lang="pt-BR" dirty="0"/>
          </a:p>
          <a:p>
            <a:pPr>
              <a:lnSpc>
                <a:spcPct val="100000"/>
              </a:lnSpc>
            </a:pPr>
            <a:endParaRPr lang="pt-BR" sz="200" dirty="0"/>
          </a:p>
          <a:p>
            <a:pPr>
              <a:lnSpc>
                <a:spcPct val="100000"/>
              </a:lnSpc>
            </a:pPr>
            <a:endParaRPr lang="pt-BR" dirty="0"/>
          </a:p>
          <a:p>
            <a:pPr>
              <a:lnSpc>
                <a:spcPct val="100000"/>
              </a:lnSpc>
            </a:pPr>
            <a:endParaRPr lang="pt-BR" dirty="0"/>
          </a:p>
          <a:p>
            <a:pPr>
              <a:lnSpc>
                <a:spcPct val="100000"/>
              </a:lnSpc>
            </a:pPr>
            <a:r>
              <a:rPr lang="pt-BR" dirty="0"/>
              <a:t>Note que o campo </a:t>
            </a:r>
            <a:r>
              <a:rPr lang="pt-BR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name</a:t>
            </a:r>
            <a:r>
              <a:rPr lang="pt-BR" dirty="0"/>
              <a:t> foi renomeado para </a:t>
            </a:r>
            <a:r>
              <a:rPr lang="pt-B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nome</a:t>
            </a:r>
            <a:r>
              <a:rPr lang="pt-BR" dirty="0"/>
              <a:t> no operador </a:t>
            </a:r>
            <a:r>
              <a:rPr lang="pt-B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project</a:t>
            </a:r>
            <a:r>
              <a:rPr lang="pt-BR" dirty="0"/>
              <a:t>, por isso ao utilizar ele no operador </a:t>
            </a:r>
            <a:r>
              <a:rPr lang="pt-B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$</a:t>
            </a:r>
            <a:r>
              <a:rPr lang="pt-BR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sort</a:t>
            </a:r>
            <a:r>
              <a:rPr lang="pt-BR" dirty="0"/>
              <a:t> devemos colocar o novo nome do campo.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6B32C0-E00E-43B9-AF6A-13B7F9467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169" y="2638271"/>
            <a:ext cx="5952191" cy="247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0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Ordenando por mais de um campo: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aggregate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BA7FE8-5C4D-4525-B36E-00271B58C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48" y="2281431"/>
            <a:ext cx="7435485" cy="316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0005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1281</TotalTime>
  <Words>818</Words>
  <Application>Microsoft Macintosh PowerPoint</Application>
  <PresentationFormat>Widescreen</PresentationFormat>
  <Paragraphs>78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1_Tema do Office</vt:lpstr>
      <vt:lpstr>Apresentação do PowerPoint</vt:lpstr>
      <vt:lpstr>Busca por parte do texto</vt:lpstr>
      <vt:lpstr>Busca por parte do texto</vt:lpstr>
      <vt:lpstr>Busca por parte do texto</vt:lpstr>
      <vt:lpstr>Busca por parte do texto</vt:lpstr>
      <vt:lpstr>Busca por parte do texto</vt:lpstr>
      <vt:lpstr>Busca por parte do texto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  <vt:lpstr>Comando aggregate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Salhab Alves</dc:creator>
  <cp:lastModifiedBy>THIAGO</cp:lastModifiedBy>
  <cp:revision>33</cp:revision>
  <dcterms:created xsi:type="dcterms:W3CDTF">2019-06-26T14:54:25Z</dcterms:created>
  <dcterms:modified xsi:type="dcterms:W3CDTF">2025-04-10T19:33:35Z</dcterms:modified>
</cp:coreProperties>
</file>