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57" r:id="rId3"/>
    <p:sldId id="258" r:id="rId4"/>
    <p:sldId id="287" r:id="rId5"/>
    <p:sldId id="259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7" r:id="rId14"/>
    <p:sldId id="268" r:id="rId15"/>
    <p:sldId id="289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288" r:id="rId33"/>
    <p:sldId id="286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60"/>
    <p:restoredTop sz="91859"/>
  </p:normalViewPr>
  <p:slideViewPr>
    <p:cSldViewPr snapToGrid="0" snapToObjects="1">
      <p:cViewPr varScale="1">
        <p:scale>
          <a:sx n="103" d="100"/>
          <a:sy n="103" d="100"/>
        </p:scale>
        <p:origin x="1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hyperlink" Target="https://www.mongodb.com/products/self-managed/communit-edition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pt-br/docs/manual/tutorial/install-mongodb-on-os-x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pt-br/docs/mongodb-shell/install/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Instalando o </a:t>
            </a:r>
            <a:r>
              <a:rPr lang="pt-BR" sz="4400" dirty="0" err="1"/>
              <a:t>MongoDB</a:t>
            </a:r>
            <a:endParaRPr lang="pt-BR" sz="4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200" y="342900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Vamos trabalhar com o </a:t>
            </a:r>
            <a:r>
              <a:rPr lang="pt-BR" sz="3200" dirty="0" err="1"/>
              <a:t>MongoDB</a:t>
            </a:r>
            <a:r>
              <a:rPr lang="pt-BR" sz="3200" dirty="0"/>
              <a:t>, um banco não relacional orientado a documentos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instalar entre em </a:t>
            </a:r>
          </a:p>
          <a:p>
            <a:pPr lvl="2">
              <a:lnSpc>
                <a:spcPct val="100000"/>
              </a:lnSpc>
            </a:pPr>
            <a:r>
              <a:rPr lang="pt-BR" sz="2200" dirty="0">
                <a:hlinkClick r:id="rId2"/>
              </a:rPr>
              <a:t>https://www.mongodb.com/products/self-managed/communit-edition</a:t>
            </a:r>
            <a:endParaRPr lang="pt-BR" sz="22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B67AFE-4DA1-4753-95C3-108D154FF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872" y="3578036"/>
            <a:ext cx="5798527" cy="280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Pode deixar as configurações padrões que ele vai exibir;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mude o sistema operacional se seu computador não for Windows;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Sempre baixe versões terminadas com um numero par, as versões terminadas em impar são de desenvolvimento (release candidate) e podem conter bugs;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Para baixar, clique em Download.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</p:spTree>
    <p:extLst>
      <p:ext uri="{BB962C8B-B14F-4D97-AF65-F5344CB8AC3E}">
        <p14:creationId xmlns:p14="http://schemas.microsoft.com/office/powerpoint/2010/main" val="129197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D75F28-56DA-A09A-5ECC-D28236B0CC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Para a instalação no Mac OS, siga os passos abaixo: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>
                <a:hlinkClick r:id="rId2"/>
              </a:rPr>
              <a:t>https://www.mongodb.com/pt-br/docs/manual/tutorial/install-mongodb-on-os-x/</a:t>
            </a:r>
            <a:r>
              <a:rPr lang="pt-BR" dirty="0"/>
              <a:t>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36BF7D-943E-213F-4352-38032B50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</p:spTree>
    <p:extLst>
      <p:ext uri="{BB962C8B-B14F-4D97-AF65-F5344CB8AC3E}">
        <p14:creationId xmlns:p14="http://schemas.microsoft.com/office/powerpoint/2010/main" val="86040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2446CC9-A52F-4299-9820-F224BB1822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805"/>
          <a:stretch/>
        </p:blipFill>
        <p:spPr>
          <a:xfrm>
            <a:off x="2225468" y="1000569"/>
            <a:ext cx="7189813" cy="5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9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Execute o programa baixado para fazer a instalação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Clique em </a:t>
            </a:r>
            <a:r>
              <a:rPr lang="pt-BR" sz="3200" dirty="0" err="1"/>
              <a:t>next</a:t>
            </a:r>
            <a:r>
              <a:rPr lang="pt-BR" sz="3200" dirty="0"/>
              <a:t> e na segunda tela marque a caixa para aceitar os termos e clique em </a:t>
            </a:r>
            <a:r>
              <a:rPr lang="pt-BR" sz="3200" dirty="0" err="1"/>
              <a:t>next</a:t>
            </a:r>
            <a:endParaRPr lang="pt-BR" sz="32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A89142-A177-4FEE-B9CF-A7C5548F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79" y="3249536"/>
            <a:ext cx="4056389" cy="318538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53AF60-3BE6-477F-AB93-5419DFF62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989" y="3293693"/>
            <a:ext cx="4056389" cy="314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6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Selecione a instalação completa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108B6F-08A2-4037-928D-799C1302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326" y="2312203"/>
            <a:ext cx="5027741" cy="388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1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>
          <a:xfrm>
            <a:off x="1422008" y="1173630"/>
            <a:ext cx="9927431" cy="451073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Se deseja que ele seja iniciado toda vez que liga o computador, deixe marcado </a:t>
            </a:r>
            <a:r>
              <a:rPr lang="pt-BR" sz="2800" b="1" dirty="0" err="1"/>
              <a:t>Install</a:t>
            </a:r>
            <a:r>
              <a:rPr lang="pt-BR" sz="2800" b="1" dirty="0"/>
              <a:t> </a:t>
            </a:r>
            <a:r>
              <a:rPr lang="pt-BR" sz="2800" b="1" dirty="0" err="1"/>
              <a:t>MongoD</a:t>
            </a:r>
            <a:r>
              <a:rPr lang="pt-BR" sz="2800" b="1" dirty="0"/>
              <a:t> as a Service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Para carregar o servidor do </a:t>
            </a:r>
            <a:r>
              <a:rPr lang="pt-BR" sz="2800" dirty="0" err="1"/>
              <a:t>MongoDB</a:t>
            </a:r>
            <a:r>
              <a:rPr lang="pt-BR" sz="2800" dirty="0"/>
              <a:t> apenas quando for utilizar, desmarque essa opção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D00BD2-A004-4470-87E6-725095DDA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59" y="3177259"/>
            <a:ext cx="4165430" cy="319830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F4E121F-E615-4F7A-B54C-6DE02EFA7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63" y="3080149"/>
            <a:ext cx="4422902" cy="345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5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Deixe marcado a opção </a:t>
            </a:r>
            <a:r>
              <a:rPr lang="pt-BR" sz="3200" dirty="0" err="1"/>
              <a:t>Install</a:t>
            </a:r>
            <a:r>
              <a:rPr lang="pt-BR" sz="3200" dirty="0"/>
              <a:t> </a:t>
            </a:r>
            <a:r>
              <a:rPr lang="pt-BR" sz="3200" dirty="0" err="1"/>
              <a:t>MogoDB</a:t>
            </a:r>
            <a:r>
              <a:rPr lang="pt-BR" sz="3200" dirty="0"/>
              <a:t> </a:t>
            </a:r>
            <a:r>
              <a:rPr lang="pt-BR" sz="3200" dirty="0" err="1"/>
              <a:t>Compass</a:t>
            </a:r>
            <a:endParaRPr lang="pt-BR" sz="32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A86C39F-4153-4798-9048-56BE1900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469" y="2405338"/>
            <a:ext cx="4667901" cy="3639058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1356F6E6-48A0-4C8F-AA2C-0B0EFBB35026}"/>
              </a:ext>
            </a:extLst>
          </p:cNvPr>
          <p:cNvSpPr txBox="1">
            <a:spLocks/>
          </p:cNvSpPr>
          <p:nvPr/>
        </p:nvSpPr>
        <p:spPr>
          <a:xfrm>
            <a:off x="1142999" y="2064825"/>
            <a:ext cx="4882841" cy="4115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pt-BR" sz="3200" dirty="0"/>
              <a:t>O </a:t>
            </a:r>
            <a:r>
              <a:rPr lang="pt-BR" sz="3200" dirty="0" err="1"/>
              <a:t>Compass</a:t>
            </a:r>
            <a:r>
              <a:rPr lang="pt-BR" sz="3200" dirty="0"/>
              <a:t> é a ferramenta para acessar e enviar comandos para o banco de dados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84222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3200" dirty="0"/>
              <a:t>Clique em </a:t>
            </a:r>
            <a:r>
              <a:rPr lang="pt-BR" sz="3200" dirty="0" err="1"/>
              <a:t>Install</a:t>
            </a:r>
            <a:r>
              <a:rPr lang="pt-BR" sz="3200" dirty="0"/>
              <a:t> para instalar o </a:t>
            </a:r>
            <a:r>
              <a:rPr lang="pt-BR" sz="3200" dirty="0" err="1"/>
              <a:t>MongoDB</a:t>
            </a:r>
            <a:endParaRPr lang="pt-BR" sz="32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407A5B-B98C-46C6-8DBA-883AA011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332" y="2452570"/>
            <a:ext cx="4715533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2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 </a:t>
            </a:r>
            <a:r>
              <a:rPr lang="pt-BR" sz="2800" dirty="0" err="1"/>
              <a:t>MongoDB</a:t>
            </a:r>
            <a:r>
              <a:rPr lang="pt-BR" sz="2800" dirty="0"/>
              <a:t> esta instalado, mas ele precisa de uma pasta para armazenar os bancos de dados, por padrão ele utiliza a pasta </a:t>
            </a:r>
            <a:r>
              <a:rPr lang="pt-BR" sz="2800" b="1" dirty="0"/>
              <a:t>c:\data\db </a:t>
            </a:r>
            <a:r>
              <a:rPr lang="pt-BR" sz="2800" dirty="0"/>
              <a:t>crie essa pasta no seu computador: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7AE593-181F-4FC9-BD9F-9BD35CCF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15" y="2993720"/>
            <a:ext cx="7305770" cy="334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9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Se você não instalou o </a:t>
            </a:r>
            <a:r>
              <a:rPr lang="pt-BR" sz="2800" dirty="0" err="1"/>
              <a:t>MongoDB</a:t>
            </a:r>
            <a:r>
              <a:rPr lang="pt-BR" sz="2800" dirty="0"/>
              <a:t> como serviço, é necessário carregar ele manualmente, para isso precisamos entrar na pasta onde ele foi instalado e copiar o seu caminho: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3CF16B-B5DD-4B25-B978-9D26F01C7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403" t="24876" r="16111" b="26687"/>
          <a:stretch/>
        </p:blipFill>
        <p:spPr>
          <a:xfrm>
            <a:off x="3001734" y="2943529"/>
            <a:ext cx="5657925" cy="329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5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Rode um Prompt de Comando e digite o comando </a:t>
            </a:r>
            <a:r>
              <a:rPr lang="pt-BR" sz="2800" dirty="0" err="1"/>
              <a:t>cd</a:t>
            </a:r>
            <a:r>
              <a:rPr lang="pt-BR" sz="2800" dirty="0"/>
              <a:t> e cole o caminho que copiou na tela anterior para acessar a pasta onde esta o </a:t>
            </a:r>
            <a:r>
              <a:rPr lang="pt-BR" sz="2800" dirty="0" err="1"/>
              <a:t>MongoDB</a:t>
            </a:r>
            <a:endParaRPr lang="pt-BR" sz="28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74D356-877D-4D79-8D2A-3A9320432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13" y="3166331"/>
            <a:ext cx="9529354" cy="297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14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carregar o servidor do </a:t>
            </a:r>
            <a:r>
              <a:rPr lang="pt-BR" sz="2800" dirty="0" err="1"/>
              <a:t>MongoDB</a:t>
            </a:r>
            <a:r>
              <a:rPr lang="pt-BR" sz="2800" dirty="0"/>
              <a:t> digite </a:t>
            </a:r>
            <a:r>
              <a:rPr lang="pt-BR" sz="2800" dirty="0" err="1"/>
              <a:t>mongod</a:t>
            </a:r>
            <a:r>
              <a:rPr lang="pt-BR" sz="2800" dirty="0"/>
              <a:t> e tecle </a:t>
            </a:r>
            <a:r>
              <a:rPr lang="pt-BR" sz="2800" dirty="0" err="1"/>
              <a:t>enter</a:t>
            </a: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400" dirty="0"/>
          </a:p>
          <a:p>
            <a:pPr marL="0" indent="0">
              <a:buNone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A9F276-A6E9-4AB5-8776-EB2026D3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781" y="1992782"/>
            <a:ext cx="4839375" cy="857370"/>
          </a:xfrm>
          <a:prstGeom prst="rect">
            <a:avLst/>
          </a:prstGeom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9517C13-628A-4AFE-A313-21AEA1385211}"/>
              </a:ext>
            </a:extLst>
          </p:cNvPr>
          <p:cNvSpPr txBox="1">
            <a:spLocks/>
          </p:cNvSpPr>
          <p:nvPr/>
        </p:nvSpPr>
        <p:spPr>
          <a:xfrm>
            <a:off x="1058334" y="2850152"/>
            <a:ext cx="5249334" cy="3559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800" dirty="0"/>
              <a:t>Você vai notar que ele não devolve o prompt ficando travado na execução do </a:t>
            </a:r>
            <a:r>
              <a:rPr lang="pt-BR" sz="2800" dirty="0" err="1"/>
              <a:t>MongoDB</a:t>
            </a:r>
            <a:r>
              <a:rPr lang="pt-BR" sz="2800" dirty="0"/>
              <a:t>, não feche essa janela o servidor vai estar sendo executado enquanto ela estiver aberta.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32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1BD7EC-0D1C-405C-A0A3-F304A34E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68" y="2988733"/>
            <a:ext cx="5086931" cy="34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2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C6E35A30-9C90-3D2A-5E8E-5FDC613BD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err="1"/>
              <a:t>MongoDB</a:t>
            </a:r>
            <a:r>
              <a:rPr lang="pt-BR" dirty="0"/>
              <a:t> Shell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dirty="0" err="1"/>
              <a:t>MongoDB</a:t>
            </a:r>
            <a:r>
              <a:rPr lang="pt-BR" dirty="0"/>
              <a:t> Shell (</a:t>
            </a:r>
            <a:r>
              <a:rPr lang="pt-BR" dirty="0" err="1"/>
              <a:t>mongosh</a:t>
            </a:r>
            <a:r>
              <a:rPr lang="pt-BR" dirty="0"/>
              <a:t>) não é instalado com o </a:t>
            </a:r>
            <a:r>
              <a:rPr lang="pt-BR" dirty="0" err="1"/>
              <a:t>MongoDB</a:t>
            </a:r>
            <a:r>
              <a:rPr lang="pt-BR" dirty="0"/>
              <a:t> Server. É necessário baixar e realizar a instalação.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Passo a passo para a instalação do </a:t>
            </a:r>
            <a:r>
              <a:rPr lang="pt-BR" dirty="0" err="1"/>
              <a:t>Mongosh</a:t>
            </a:r>
            <a:r>
              <a:rPr lang="pt-BR" dirty="0"/>
              <a:t>: </a:t>
            </a:r>
            <a:r>
              <a:rPr lang="pt-BR" dirty="0">
                <a:hlinkClick r:id="rId2"/>
              </a:rPr>
              <a:t>https://www.mongodb.com/pt-br/docs/mongodb-shell/install/</a:t>
            </a: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 err="1"/>
              <a:t>Obs</a:t>
            </a:r>
            <a:r>
              <a:rPr lang="pt-BR" dirty="0"/>
              <a:t>: ao baixar, escolher o </a:t>
            </a:r>
            <a:r>
              <a:rPr lang="pt-BR" dirty="0" err="1"/>
              <a:t>Package</a:t>
            </a:r>
            <a:r>
              <a:rPr lang="pt-BR" dirty="0"/>
              <a:t>: </a:t>
            </a:r>
            <a:r>
              <a:rPr lang="pt-BR" b="1" dirty="0" err="1"/>
              <a:t>msi</a:t>
            </a:r>
            <a:r>
              <a:rPr lang="pt-BR" b="1" dirty="0"/>
              <a:t>.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D38A35-0CD0-D63F-23FB-1AD04DF0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2773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Para manutenção nos nossos bancos </a:t>
            </a:r>
            <a:r>
              <a:rPr lang="pt-BR" sz="2800" dirty="0" err="1"/>
              <a:t>MongoDB</a:t>
            </a:r>
            <a:r>
              <a:rPr lang="pt-BR" sz="2800" dirty="0"/>
              <a:t> vamos entrar na ferramenta de linha de comando chamada </a:t>
            </a:r>
            <a:r>
              <a:rPr lang="pt-BR" sz="2800" dirty="0" err="1"/>
              <a:t>mongosh</a:t>
            </a:r>
            <a:r>
              <a:rPr lang="pt-BR" sz="2800" dirty="0"/>
              <a:t>, abrindo um prompt de comando e indo até o diretório do </a:t>
            </a:r>
            <a:r>
              <a:rPr lang="pt-BR" sz="2800" dirty="0" err="1"/>
              <a:t>MongoDB</a:t>
            </a:r>
            <a:r>
              <a:rPr lang="pt-BR" sz="2800" dirty="0"/>
              <a:t> para executar o mesmo: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mongosh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78F3E3-EE46-44C8-8F51-BB8994B9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85" y="3515145"/>
            <a:ext cx="5582429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5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Executando o </a:t>
            </a:r>
            <a:r>
              <a:rPr lang="pt-BR" dirty="0" err="1"/>
              <a:t>mongosh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C14737F-1746-4728-A805-B1DAC4A56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245" y="1182516"/>
            <a:ext cx="8599022" cy="511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13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Para exibir os bancos de dados desse servidor digite </a:t>
            </a:r>
            <a:r>
              <a:rPr lang="pt-BR" sz="2800" b="1" dirty="0"/>
              <a:t>show </a:t>
            </a:r>
            <a:r>
              <a:rPr lang="pt-BR" sz="2800" b="1" dirty="0" err="1"/>
              <a:t>dbs</a:t>
            </a:r>
            <a:endParaRPr lang="pt-BR" sz="2800" b="1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admin, </a:t>
            </a:r>
            <a:r>
              <a:rPr lang="pt-BR" sz="2800" dirty="0" err="1"/>
              <a:t>config</a:t>
            </a:r>
            <a:r>
              <a:rPr lang="pt-BR" sz="2800" dirty="0"/>
              <a:t> e local são bancos de dados de controle criados pelo próprio </a:t>
            </a:r>
            <a:r>
              <a:rPr lang="pt-BR" sz="2800" dirty="0" err="1"/>
              <a:t>MongoDB</a:t>
            </a:r>
            <a:r>
              <a:rPr lang="pt-BR" sz="2800" dirty="0"/>
              <a:t>, não devemos mexer nesses bancos.</a:t>
            </a:r>
          </a:p>
          <a:p>
            <a:pPr lvl="2">
              <a:lnSpc>
                <a:spcPct val="100000"/>
              </a:lnSpc>
            </a:pP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Mongosh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82E682-11DA-4CD8-B0DD-4470A660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315" y="2092220"/>
            <a:ext cx="611590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31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Os comandos para dar manutenção em um banco de dados começam com </a:t>
            </a:r>
            <a:r>
              <a:rPr lang="pt-BR" sz="2800" dirty="0" err="1"/>
              <a:t>db</a:t>
            </a:r>
            <a:r>
              <a:rPr lang="pt-BR" sz="2800" dirty="0"/>
              <a:t>. podemos ver as opções digitando </a:t>
            </a:r>
            <a:r>
              <a:rPr lang="pt-BR" sz="2800" dirty="0" err="1"/>
              <a:t>db</a:t>
            </a:r>
            <a:r>
              <a:rPr lang="pt-BR" sz="2800" dirty="0"/>
              <a:t>. e apertando a tecla </a:t>
            </a:r>
            <a:r>
              <a:rPr lang="pt-BR" sz="2800" dirty="0" err="1"/>
              <a:t>tab</a:t>
            </a:r>
            <a:r>
              <a:rPr lang="pt-BR" sz="2800" dirty="0"/>
              <a:t> em seguida:</a:t>
            </a: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mongosh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328899-1373-46B3-9597-7AB4BF189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9" y="2923408"/>
            <a:ext cx="917385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42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Se você digitar apenas </a:t>
            </a:r>
            <a:r>
              <a:rPr lang="pt-BR" sz="2800" b="1" dirty="0" err="1"/>
              <a:t>db</a:t>
            </a:r>
            <a:r>
              <a:rPr lang="pt-BR" sz="2800" dirty="0"/>
              <a:t> e apertar o </a:t>
            </a:r>
            <a:r>
              <a:rPr lang="pt-BR" sz="2800" b="1" dirty="0" err="1"/>
              <a:t>enter</a:t>
            </a:r>
            <a:r>
              <a:rPr lang="pt-BR" sz="2800" dirty="0"/>
              <a:t> ele vai exibir o banco que esta selecionado no momento. Por padrão, na primeira vez que você acessa o </a:t>
            </a:r>
            <a:r>
              <a:rPr lang="pt-BR" sz="2800" dirty="0" err="1"/>
              <a:t>MongoDB</a:t>
            </a:r>
            <a:r>
              <a:rPr lang="pt-BR" sz="2800" dirty="0"/>
              <a:t> ele vem com um banco </a:t>
            </a:r>
            <a:r>
              <a:rPr lang="pt-BR" sz="2800" b="1" dirty="0" err="1"/>
              <a:t>test</a:t>
            </a:r>
            <a:r>
              <a:rPr lang="pt-BR" sz="2800" dirty="0"/>
              <a:t> selecionado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Note que ao utilizar o comando </a:t>
            </a:r>
            <a:r>
              <a:rPr lang="pt-BR" sz="2800" b="1" dirty="0"/>
              <a:t>show </a:t>
            </a:r>
            <a:r>
              <a:rPr lang="pt-BR" sz="2800" b="1" dirty="0" err="1"/>
              <a:t>dbs</a:t>
            </a:r>
            <a:r>
              <a:rPr lang="pt-BR" sz="2800" b="1" dirty="0"/>
              <a:t> </a:t>
            </a:r>
            <a:r>
              <a:rPr lang="pt-BR" sz="2800" dirty="0"/>
              <a:t>o banco </a:t>
            </a:r>
            <a:r>
              <a:rPr lang="pt-BR" sz="2800" b="1" dirty="0" err="1"/>
              <a:t>test</a:t>
            </a:r>
            <a:r>
              <a:rPr lang="pt-BR" sz="2800" dirty="0"/>
              <a:t> não foi exibido, pois o banco atual não precisa já estar criado no disco, ele só é criado quando gravamos algum documento nele.</a:t>
            </a:r>
            <a:endParaRPr lang="pt-BR" sz="22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Utilizando o </a:t>
            </a:r>
            <a:r>
              <a:rPr lang="pt-BR" dirty="0" err="1"/>
              <a:t>mongosh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EF2058D-73BB-4F3E-A1BC-26683F8DE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981" y="3301401"/>
            <a:ext cx="6115904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74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Em um banco de dados relacional temos: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Banco de dados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Tabelas que são divididas em colunas 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Registros que contém os dados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Um banco de dados não relacional orientado a documentos, possui uma estrutura um pouco diferente: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 err="1"/>
              <a:t>Database</a:t>
            </a:r>
            <a:r>
              <a:rPr lang="pt-BR" sz="2400" dirty="0"/>
              <a:t> (Banco de dados)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 err="1"/>
              <a:t>Collection</a:t>
            </a:r>
            <a:r>
              <a:rPr lang="pt-BR" sz="2400" dirty="0"/>
              <a:t> (Coleção) é um conjunto de documentos, similar a tabela do banco relacional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 err="1"/>
              <a:t>Documents</a:t>
            </a:r>
            <a:r>
              <a:rPr lang="pt-BR" sz="2400" dirty="0"/>
              <a:t> (Documentos) equivalente aos registros do relacional e contém campos (Fields) contendo cada uma das informações que armazenamos sobre o documento.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321265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pt-BR" sz="2800" dirty="0"/>
          </a:p>
          <a:p>
            <a:pPr marL="0" indent="0">
              <a:lnSpc>
                <a:spcPct val="100000"/>
              </a:lnSpc>
              <a:buNone/>
            </a:pPr>
            <a:r>
              <a:rPr lang="pt-BR" sz="2800" dirty="0"/>
              <a:t>Banco de dados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800" dirty="0"/>
          </a:p>
          <a:p>
            <a:pPr marL="0" indent="0">
              <a:lnSpc>
                <a:spcPct val="100000"/>
              </a:lnSpc>
              <a:buNone/>
            </a:pPr>
            <a:r>
              <a:rPr lang="pt-BR" sz="2800" dirty="0"/>
              <a:t>Coleções</a:t>
            </a:r>
            <a:br>
              <a:rPr lang="pt-BR" sz="2800" dirty="0"/>
            </a:br>
            <a:r>
              <a:rPr lang="pt-BR" sz="2000" dirty="0"/>
              <a:t>(</a:t>
            </a:r>
            <a:r>
              <a:rPr lang="pt-BR" sz="2000" dirty="0" err="1"/>
              <a:t>Collections</a:t>
            </a:r>
            <a:r>
              <a:rPr lang="pt-BR" sz="20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pt-BR" sz="2800" dirty="0"/>
          </a:p>
          <a:p>
            <a:pPr marL="0" indent="0">
              <a:lnSpc>
                <a:spcPct val="100000"/>
              </a:lnSpc>
              <a:buNone/>
            </a:pPr>
            <a:r>
              <a:rPr lang="pt-BR" sz="2800" dirty="0"/>
              <a:t>Documentos</a:t>
            </a:r>
            <a:br>
              <a:rPr lang="pt-BR" sz="2800" dirty="0"/>
            </a:br>
            <a:r>
              <a:rPr lang="pt-BR" sz="2000" dirty="0"/>
              <a:t>(</a:t>
            </a:r>
            <a:r>
              <a:rPr lang="pt-BR" sz="2000" dirty="0" err="1"/>
              <a:t>Documents</a:t>
            </a:r>
            <a:r>
              <a:rPr lang="pt-BR" sz="2000" dirty="0"/>
              <a:t>)</a:t>
            </a:r>
            <a:endParaRPr lang="pt-BR" sz="1800" dirty="0"/>
          </a:p>
          <a:p>
            <a:pPr marL="0" indent="0">
              <a:buNone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DB orientado a documentos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B73D19-13F6-4481-AC72-500A4774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051" y="1409351"/>
            <a:ext cx="4486015" cy="4541398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6D89C8A-F379-46BB-A498-F34683BF9D8B}"/>
              </a:ext>
            </a:extLst>
          </p:cNvPr>
          <p:cNvCxnSpPr>
            <a:cxnSpLocks/>
          </p:cNvCxnSpPr>
          <p:nvPr/>
        </p:nvCxnSpPr>
        <p:spPr>
          <a:xfrm>
            <a:off x="3581400" y="2294467"/>
            <a:ext cx="626533" cy="5164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7807BCD-8D97-45C4-8E90-D5D3AD29AA6F}"/>
              </a:ext>
            </a:extLst>
          </p:cNvPr>
          <p:cNvCxnSpPr>
            <a:cxnSpLocks/>
          </p:cNvCxnSpPr>
          <p:nvPr/>
        </p:nvCxnSpPr>
        <p:spPr>
          <a:xfrm>
            <a:off x="2692400" y="3421817"/>
            <a:ext cx="2878667" cy="92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0E3F1DD-987F-49D7-9114-1A49575ABD6C}"/>
              </a:ext>
            </a:extLst>
          </p:cNvPr>
          <p:cNvCxnSpPr>
            <a:cxnSpLocks/>
          </p:cNvCxnSpPr>
          <p:nvPr/>
        </p:nvCxnSpPr>
        <p:spPr>
          <a:xfrm>
            <a:off x="3078292" y="4823399"/>
            <a:ext cx="3466441" cy="7053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313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banco de dados</a:t>
            </a:r>
          </a:p>
        </p:txBody>
      </p:sp>
      <p:pic>
        <p:nvPicPr>
          <p:cNvPr id="1026" name="Picture 2" descr="MongoDB – Parte 1 – Definições e instalação em ambiente Windows. – Marcelo  Dias">
            <a:extLst>
              <a:ext uri="{FF2B5EF4-FFF2-40B4-BE49-F238E27FC236}">
                <a16:creationId xmlns:a16="http://schemas.microsoft.com/office/drawing/2014/main" id="{E597D030-53FB-46D8-B451-51F18145E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660" y="1933574"/>
            <a:ext cx="7287387" cy="375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402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Um banco relacional exige que a estrutura seja muito bem definida antes da criação das tabelas, contendo o nome e tipo de todos os campos (colunas) que serão armazenados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 banco orientado a documentos (</a:t>
            </a:r>
            <a:r>
              <a:rPr lang="pt-BR" sz="2800" dirty="0" err="1"/>
              <a:t>NoSQL</a:t>
            </a:r>
            <a:r>
              <a:rPr lang="pt-BR" sz="2800" dirty="0"/>
              <a:t>) não precisa ter essa estrutura prévia, inclusive permite que na mesma </a:t>
            </a:r>
            <a:r>
              <a:rPr lang="pt-BR" sz="2800" dirty="0" err="1"/>
              <a:t>collection</a:t>
            </a:r>
            <a:r>
              <a:rPr lang="pt-BR" sz="2800" dirty="0"/>
              <a:t> (tabela) tenhamos documentos com campos diferentes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Por exemplo: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Em uma tabela do banco relacional precisamos guardar o telefone fixo e o celular da pessoa, para isso precisamos criar os dois campos e se uma pessoa só tiver um telefone o outro campo fica vazio (nulo).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Na </a:t>
            </a:r>
            <a:r>
              <a:rPr lang="pt-BR" sz="2400" dirty="0" err="1"/>
              <a:t>collection</a:t>
            </a:r>
            <a:r>
              <a:rPr lang="pt-BR" sz="2400" dirty="0"/>
              <a:t> do banco não relacional não precisamos criar os campos previamente, podendo incluir apenas o que possui dados, o que faz que cada documento tenha uma quantidade diferente de campos. </a:t>
            </a:r>
            <a:endParaRPr lang="pt-BR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2730354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Diferente do banco relacional, no </a:t>
            </a:r>
            <a:r>
              <a:rPr lang="pt-BR" sz="2800" dirty="0" err="1"/>
              <a:t>MongoDB</a:t>
            </a:r>
            <a:r>
              <a:rPr lang="pt-BR" sz="2800" dirty="0"/>
              <a:t> não precisamos criar o banco de dados (</a:t>
            </a:r>
            <a:r>
              <a:rPr lang="pt-BR" sz="2800" dirty="0" err="1"/>
              <a:t>create</a:t>
            </a:r>
            <a:r>
              <a:rPr lang="pt-BR" sz="2800" dirty="0"/>
              <a:t> </a:t>
            </a:r>
            <a:r>
              <a:rPr lang="pt-BR" sz="2800" dirty="0" err="1"/>
              <a:t>database</a:t>
            </a:r>
            <a:r>
              <a:rPr lang="pt-BR" sz="2800" dirty="0"/>
              <a:t>) basta mandarmos ele usar o banco que queremos.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Não precisamos também criar a </a:t>
            </a:r>
            <a:r>
              <a:rPr lang="pt-BR" sz="2800" dirty="0" err="1"/>
              <a:t>collection</a:t>
            </a:r>
            <a:r>
              <a:rPr lang="pt-BR" sz="2800" dirty="0"/>
              <a:t> (</a:t>
            </a:r>
            <a:r>
              <a:rPr lang="pt-BR" sz="2800" dirty="0" err="1"/>
              <a:t>create</a:t>
            </a:r>
            <a:r>
              <a:rPr lang="pt-BR" sz="2800" dirty="0"/>
              <a:t> </a:t>
            </a:r>
            <a:r>
              <a:rPr lang="pt-BR" sz="2800" dirty="0" err="1"/>
              <a:t>table</a:t>
            </a:r>
            <a:r>
              <a:rPr lang="pt-BR" sz="2800" dirty="0"/>
              <a:t>), basta mandar incluir um documento que a mesma é criada automaticamente.</a:t>
            </a:r>
            <a:endParaRPr lang="pt-B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3531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Para selecionar o banco de dados que desejamos utilizar devemos digitar o comando use seguido do nome do banco de dados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Se o banco existir ele será selecionado</a:t>
            </a:r>
          </a:p>
          <a:p>
            <a:pPr marL="830492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Se não existir o mesmo será criado temporariamente na memória, o mesmo só será criado no disco após a inclusão de algum dado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Vamos criar o banco </a:t>
            </a:r>
            <a:r>
              <a:rPr lang="pt-BR" b="1" dirty="0" err="1"/>
              <a:t>meuBanco</a:t>
            </a:r>
            <a:r>
              <a:rPr lang="pt-BR" dirty="0"/>
              <a:t>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Note que se você utilizar o comando show </a:t>
            </a:r>
            <a:r>
              <a:rPr lang="pt-BR" dirty="0" err="1"/>
              <a:t>dbs</a:t>
            </a:r>
            <a:r>
              <a:rPr lang="pt-BR" dirty="0"/>
              <a:t> o banco não será mostrado pois ainda não foi criado no disco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D1C03E-0968-40BA-AFE6-4EF695C4B2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618"/>
          <a:stretch/>
        </p:blipFill>
        <p:spPr>
          <a:xfrm>
            <a:off x="2266258" y="3765923"/>
            <a:ext cx="8016336" cy="120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48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Para “criar” uma </a:t>
            </a:r>
            <a:r>
              <a:rPr lang="pt-BR" sz="2800" dirty="0" err="1"/>
              <a:t>collection</a:t>
            </a:r>
            <a:r>
              <a:rPr lang="pt-BR" sz="2800" dirty="0"/>
              <a:t> basta incluir um documento, para isso utilizamos o comando </a:t>
            </a:r>
            <a:r>
              <a:rPr lang="pt-BR" sz="2800" dirty="0" err="1"/>
              <a:t>insert</a:t>
            </a:r>
            <a:r>
              <a:rPr lang="pt-BR" sz="2800" dirty="0"/>
              <a:t> da seguinte forma: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400" dirty="0" err="1"/>
              <a:t>db.nome_da_collection.insertOne</a:t>
            </a:r>
            <a:r>
              <a:rPr lang="pt-BR" sz="2400" dirty="0"/>
              <a:t>( { “campo1”: valor, “campo2”: valor} )</a:t>
            </a:r>
          </a:p>
          <a:p>
            <a:pPr marL="628650" lvl="1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105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Inserindo um documento na </a:t>
            </a:r>
            <a:r>
              <a:rPr lang="pt-BR" sz="2800" dirty="0" err="1"/>
              <a:t>collection</a:t>
            </a:r>
            <a:r>
              <a:rPr lang="pt-BR" sz="2800" dirty="0"/>
              <a:t> pessoas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 err="1"/>
              <a:t>Acknowledged</a:t>
            </a:r>
            <a:r>
              <a:rPr lang="pt-BR" sz="2800" dirty="0"/>
              <a:t>: </a:t>
            </a:r>
            <a:r>
              <a:rPr lang="pt-BR" sz="2800" dirty="0" err="1"/>
              <a:t>true</a:t>
            </a:r>
            <a:r>
              <a:rPr lang="pt-BR" sz="2800" dirty="0"/>
              <a:t> está informando que a inclusão foi feita com sucesso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459D3F-8EF7-44AC-98A1-DC03954D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554" y="3429000"/>
            <a:ext cx="7983064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34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Agora que incluímos o primeiro documento o banco foi efetivamente criado no disco, se dermos um show </a:t>
            </a:r>
            <a:r>
              <a:rPr lang="pt-BR" sz="2800" dirty="0" err="1"/>
              <a:t>dbs</a:t>
            </a:r>
            <a:r>
              <a:rPr lang="pt-BR" sz="2800" dirty="0"/>
              <a:t> ele vai aparecer: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 valor na frente do nome do banco é o espaço que ele esta ocupando no HD.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02AC16-6BFA-41D6-9524-1C8080255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973" y="2831693"/>
            <a:ext cx="5725324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37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listar todas as </a:t>
            </a:r>
            <a:r>
              <a:rPr lang="pt-BR" sz="2800" dirty="0" err="1"/>
              <a:t>collections</a:t>
            </a:r>
            <a:r>
              <a:rPr lang="pt-BR" sz="2800" dirty="0"/>
              <a:t> do banco de dados atual, utilizamos o comando show </a:t>
            </a:r>
            <a:r>
              <a:rPr lang="pt-BR" sz="2800" dirty="0" err="1"/>
              <a:t>collections</a:t>
            </a: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No nosso exemplo só temos a </a:t>
            </a:r>
            <a:r>
              <a:rPr lang="pt-BR" sz="2800" dirty="0" err="1"/>
              <a:t>collection</a:t>
            </a:r>
            <a:r>
              <a:rPr lang="pt-BR" sz="2800" dirty="0"/>
              <a:t> pessoas por enquanto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5E8904-8448-4C4D-AAA9-EFB10A647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7" y="2509709"/>
            <a:ext cx="717332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20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vermos os documentos cadastrados em uma </a:t>
            </a:r>
            <a:r>
              <a:rPr lang="pt-BR" sz="2800" dirty="0" err="1"/>
              <a:t>collection</a:t>
            </a:r>
            <a:r>
              <a:rPr lang="pt-BR" sz="2800" dirty="0"/>
              <a:t> utilizamos o comando </a:t>
            </a:r>
            <a:r>
              <a:rPr lang="pt-BR" sz="2800" dirty="0" err="1"/>
              <a:t>find</a:t>
            </a:r>
            <a:r>
              <a:rPr lang="pt-BR" sz="2800" dirty="0"/>
              <a:t>()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Note que o documento tem um campo que nós não definimos, o campo _id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BE3ED6-0204-4916-ADED-6D01331E9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912" y="2534552"/>
            <a:ext cx="6563641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73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Todo documento do </a:t>
            </a:r>
            <a:r>
              <a:rPr lang="pt-BR" sz="2800" dirty="0" err="1"/>
              <a:t>MongoDB</a:t>
            </a:r>
            <a:r>
              <a:rPr lang="pt-BR" sz="2800" dirty="0"/>
              <a:t> tem obrigatoriamente um campo _ID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Esse campo tem um valor único que não pode se repetir em outro documento da mesma </a:t>
            </a:r>
            <a:r>
              <a:rPr lang="pt-BR" sz="2800" dirty="0" err="1"/>
              <a:t>collection</a:t>
            </a:r>
            <a:r>
              <a:rPr lang="pt-BR" sz="2800" dirty="0"/>
              <a:t> (igual a chave primária dos bancos relacionais).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Você pode definir um valor para esse campo ao inserir um documento.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Se o _ID não for informado, o </a:t>
            </a:r>
            <a:r>
              <a:rPr lang="pt-BR" sz="2800" dirty="0" err="1"/>
              <a:t>MongoDB</a:t>
            </a:r>
            <a:r>
              <a:rPr lang="pt-BR" sz="2800" dirty="0"/>
              <a:t> vai criar automaticamente utilizando o tipo </a:t>
            </a:r>
            <a:r>
              <a:rPr lang="pt-BR" dirty="0" err="1"/>
              <a:t>o</a:t>
            </a:r>
            <a:r>
              <a:rPr lang="pt-BR" sz="2800" dirty="0" err="1"/>
              <a:t>bjectId</a:t>
            </a:r>
            <a:r>
              <a:rPr lang="pt-BR" sz="2800" dirty="0"/>
              <a:t> o qual contém uma sequência de caracteres com algumas informações como a data e hora da inclusão do documento por exemplo.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_id</a:t>
            </a:r>
          </a:p>
        </p:txBody>
      </p:sp>
    </p:spTree>
    <p:extLst>
      <p:ext uri="{BB962C8B-B14F-4D97-AF65-F5344CB8AC3E}">
        <p14:creationId xmlns:p14="http://schemas.microsoft.com/office/powerpoint/2010/main" val="2432668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Outro ponto do </a:t>
            </a:r>
            <a:r>
              <a:rPr lang="pt-BR" sz="2800" dirty="0" err="1"/>
              <a:t>MongoDB</a:t>
            </a:r>
            <a:r>
              <a:rPr lang="pt-BR" sz="2800" dirty="0"/>
              <a:t> é que cada documento pode ter um tipo de dado diferente em seu _ID (ou qualquer outro campo)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Vamos inserir outro documento passando seu _ID contendo um número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Após a inclusão foi exibido os documentos existentes, da para ver que o _id do primeiro é do tipo </a:t>
            </a:r>
            <a:r>
              <a:rPr lang="pt-BR" sz="2800" dirty="0" err="1"/>
              <a:t>ObjectId</a:t>
            </a:r>
            <a:r>
              <a:rPr lang="pt-BR" sz="2800" dirty="0"/>
              <a:t> e o do segundo é apenas um número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Campo _id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8E5182E-5290-43C4-89E5-D49D9B36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58" y="3004160"/>
            <a:ext cx="8221222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3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incluir vários documentos ao mesmo tempo utilizamos o comando </a:t>
            </a:r>
            <a:r>
              <a:rPr lang="pt-BR" sz="2800" b="1" dirty="0" err="1"/>
              <a:t>insertMany</a:t>
            </a:r>
            <a:r>
              <a:rPr lang="pt-BR" sz="2800" dirty="0"/>
              <a:t> com um </a:t>
            </a:r>
            <a:r>
              <a:rPr lang="pt-BR" sz="2800" dirty="0" err="1"/>
              <a:t>array</a:t>
            </a:r>
            <a:r>
              <a:rPr lang="pt-BR" sz="2800" dirty="0"/>
              <a:t> de documentos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O mesmo comando de </a:t>
            </a:r>
            <a:br>
              <a:rPr lang="pt-BR" sz="2800" dirty="0"/>
            </a:br>
            <a:r>
              <a:rPr lang="pt-BR" sz="2800" dirty="0"/>
              <a:t>uma forma mais legível: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do </a:t>
            </a:r>
            <a:r>
              <a:rPr lang="pt-BR" dirty="0" err="1"/>
              <a:t>mongodb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3BC738-0CFD-4E12-B5EA-F24FF6FAE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61" y="2337753"/>
            <a:ext cx="9145276" cy="15051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4B5E419-925B-4732-AA1B-BA3CA2626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933" y="4154778"/>
            <a:ext cx="5559004" cy="190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4780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1369</Words>
  <Application>Microsoft Macintosh PowerPoint</Application>
  <PresentationFormat>Widescreen</PresentationFormat>
  <Paragraphs>164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1_Tema do Office</vt:lpstr>
      <vt:lpstr>Apresentação do PowerPoint</vt:lpstr>
      <vt:lpstr>Instalando</vt:lpstr>
      <vt:lpstr>Instalando</vt:lpstr>
      <vt:lpstr>Instalando</vt:lpstr>
      <vt:lpstr>Instalando</vt:lpstr>
      <vt:lpstr>Instalando</vt:lpstr>
      <vt:lpstr>Instalando</vt:lpstr>
      <vt:lpstr>Instalando</vt:lpstr>
      <vt:lpstr>Instalando</vt:lpstr>
      <vt:lpstr>Instalando</vt:lpstr>
      <vt:lpstr>Instalando</vt:lpstr>
      <vt:lpstr>Executando o mongoDB</vt:lpstr>
      <vt:lpstr>Executando o mongoDB</vt:lpstr>
      <vt:lpstr>Executando o mongoDB</vt:lpstr>
      <vt:lpstr>Executando o mongoDB</vt:lpstr>
      <vt:lpstr>Executando o mongosh</vt:lpstr>
      <vt:lpstr>Executando o mongosh</vt:lpstr>
      <vt:lpstr>Utilizando o Mongosh</vt:lpstr>
      <vt:lpstr>Utilizando o mongosh</vt:lpstr>
      <vt:lpstr>Utilizando o mongosh</vt:lpstr>
      <vt:lpstr>Estrutura do banco de dados</vt:lpstr>
      <vt:lpstr>Estrutura do DB orientado a documentos</vt:lpstr>
      <vt:lpstr>Estrutura do banco de dados</vt:lpstr>
      <vt:lpstr>Estrutura do banco de dados</vt:lpstr>
      <vt:lpstr>Comandos do mongodb</vt:lpstr>
      <vt:lpstr>Comandos do mongodb</vt:lpstr>
      <vt:lpstr>Comandos do mongodb</vt:lpstr>
      <vt:lpstr>Comandos do mongodb</vt:lpstr>
      <vt:lpstr>Comandos do mongodb</vt:lpstr>
      <vt:lpstr>Comandos do mongodb</vt:lpstr>
      <vt:lpstr>Campo _id</vt:lpstr>
      <vt:lpstr>Campo _id</vt:lpstr>
      <vt:lpstr>Comandos do mongodb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24</cp:revision>
  <dcterms:created xsi:type="dcterms:W3CDTF">2019-06-26T14:54:25Z</dcterms:created>
  <dcterms:modified xsi:type="dcterms:W3CDTF">2026-02-12T17:35:04Z</dcterms:modified>
</cp:coreProperties>
</file>