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85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92"/>
    <p:restoredTop sz="91358"/>
  </p:normalViewPr>
  <p:slideViewPr>
    <p:cSldViewPr snapToGrid="0" snapToObjects="1">
      <p:cViewPr varScale="1">
        <p:scale>
          <a:sx n="115" d="100"/>
          <a:sy n="115" d="100"/>
        </p:scale>
        <p:origin x="76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8" t="8122" b="4060"/>
          <a:stretch/>
        </p:blipFill>
        <p:spPr>
          <a:xfrm>
            <a:off x="0" y="1246910"/>
            <a:ext cx="12192000" cy="5650579"/>
          </a:xfrm>
          <a:prstGeom prst="rect">
            <a:avLst/>
          </a:prstGeom>
        </p:spPr>
      </p:pic>
      <p:sp>
        <p:nvSpPr>
          <p:cNvPr id="9" name="Retângulo 8"/>
          <p:cNvSpPr/>
          <p:nvPr userDrawn="1"/>
        </p:nvSpPr>
        <p:spPr>
          <a:xfrm>
            <a:off x="0" y="4"/>
            <a:ext cx="12192000" cy="612949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0" name="Retângulo 9"/>
          <p:cNvSpPr/>
          <p:nvPr userDrawn="1"/>
        </p:nvSpPr>
        <p:spPr>
          <a:xfrm>
            <a:off x="0" y="612949"/>
            <a:ext cx="12192000" cy="633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pic>
        <p:nvPicPr>
          <p:cNvPr id="17" name="Imagem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47" y="747161"/>
            <a:ext cx="343903" cy="267584"/>
          </a:xfrm>
          <a:prstGeom prst="rect">
            <a:avLst/>
          </a:prstGeom>
        </p:spPr>
      </p:pic>
      <p:sp>
        <p:nvSpPr>
          <p:cNvPr id="11" name="Retângulo 10"/>
          <p:cNvSpPr/>
          <p:nvPr userDrawn="1"/>
        </p:nvSpPr>
        <p:spPr>
          <a:xfrm>
            <a:off x="0" y="1266572"/>
            <a:ext cx="12192000" cy="56110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2" name="Retângulo 8"/>
          <p:cNvSpPr/>
          <p:nvPr userDrawn="1"/>
        </p:nvSpPr>
        <p:spPr>
          <a:xfrm>
            <a:off x="0" y="1148708"/>
            <a:ext cx="6096000" cy="5709292"/>
          </a:xfrm>
          <a:custGeom>
            <a:avLst/>
            <a:gdLst>
              <a:gd name="connsiteX0" fmla="*/ 0 w 6096000"/>
              <a:gd name="connsiteY0" fmla="*/ 0 h 5709292"/>
              <a:gd name="connsiteX1" fmla="*/ 6096000 w 6096000"/>
              <a:gd name="connsiteY1" fmla="*/ 0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  <a:gd name="connsiteX0" fmla="*/ 0 w 6096000"/>
              <a:gd name="connsiteY0" fmla="*/ 0 h 5709292"/>
              <a:gd name="connsiteX1" fmla="*/ 2531918 w 6096000"/>
              <a:gd name="connsiteY1" fmla="*/ 31173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  <a:gd name="connsiteX0" fmla="*/ 0 w 6096000"/>
              <a:gd name="connsiteY0" fmla="*/ 0 h 5709292"/>
              <a:gd name="connsiteX1" fmla="*/ 2895600 w 6096000"/>
              <a:gd name="connsiteY1" fmla="*/ 10391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  <a:gd name="connsiteX0" fmla="*/ 0 w 6096000"/>
              <a:gd name="connsiteY0" fmla="*/ 0 h 5709292"/>
              <a:gd name="connsiteX1" fmla="*/ 2885210 w 6096000"/>
              <a:gd name="connsiteY1" fmla="*/ 0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5709292">
                <a:moveTo>
                  <a:pt x="0" y="0"/>
                </a:moveTo>
                <a:lnTo>
                  <a:pt x="2885210" y="0"/>
                </a:lnTo>
                <a:lnTo>
                  <a:pt x="6096000" y="5709292"/>
                </a:lnTo>
                <a:lnTo>
                  <a:pt x="0" y="5709292"/>
                </a:lnTo>
                <a:lnTo>
                  <a:pt x="0" y="0"/>
                </a:lnTo>
                <a:close/>
              </a:path>
            </a:pathLst>
          </a:cu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3" name="Retângulo 12"/>
          <p:cNvSpPr/>
          <p:nvPr userDrawn="1"/>
        </p:nvSpPr>
        <p:spPr>
          <a:xfrm>
            <a:off x="0" y="6316995"/>
            <a:ext cx="12192000" cy="156545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</p:spTree>
    <p:extLst>
      <p:ext uri="{BB962C8B-B14F-4D97-AF65-F5344CB8AC3E}">
        <p14:creationId xmlns:p14="http://schemas.microsoft.com/office/powerpoint/2010/main" val="407607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9"/>
          <p:cNvSpPr>
            <a:spLocks noGrp="1"/>
          </p:cNvSpPr>
          <p:nvPr>
            <p:ph type="pic" sz="quarter" idx="11"/>
          </p:nvPr>
        </p:nvSpPr>
        <p:spPr>
          <a:xfrm>
            <a:off x="6528050" y="1917585"/>
            <a:ext cx="4825753" cy="3743667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/>
            </a:lvl1pPr>
          </a:lstStyle>
          <a:p>
            <a:endParaRPr lang="pt-BR" dirty="0"/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6528048" y="5766104"/>
            <a:ext cx="4840053" cy="410863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2994" indent="0" algn="r">
              <a:lnSpc>
                <a:spcPct val="100000"/>
              </a:lnSpc>
              <a:spcBef>
                <a:spcPts val="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Fonte da imagem / ID da imagem</a:t>
            </a:r>
          </a:p>
        </p:txBody>
      </p:sp>
      <p:sp>
        <p:nvSpPr>
          <p:cNvPr id="11" name="Espaço Reservado para Texto 7"/>
          <p:cNvSpPr>
            <a:spLocks noGrp="1" noChangeAspect="1"/>
          </p:cNvSpPr>
          <p:nvPr>
            <p:ph type="body" sz="quarter" idx="14"/>
          </p:nvPr>
        </p:nvSpPr>
        <p:spPr>
          <a:xfrm>
            <a:off x="1415483" y="1514000"/>
            <a:ext cx="4741639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2"/>
          <p:cNvSpPr>
            <a:spLocks noGrp="1"/>
          </p:cNvSpPr>
          <p:nvPr>
            <p:ph type="body" sz="quarter" idx="15" hasCustomPrompt="1"/>
          </p:nvPr>
        </p:nvSpPr>
        <p:spPr>
          <a:xfrm>
            <a:off x="6528050" y="1514000"/>
            <a:ext cx="4825753" cy="40358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marR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BR" sz="1800" b="1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marR="0" lvl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Figura X – Título da imagem</a:t>
            </a:r>
          </a:p>
        </p:txBody>
      </p:sp>
      <p:sp>
        <p:nvSpPr>
          <p:cNvPr id="12" name="Retângulo 11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6" name="Retângulo 15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7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874938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9"/>
          <p:cNvSpPr>
            <a:spLocks noGrp="1"/>
          </p:cNvSpPr>
          <p:nvPr>
            <p:ph type="pic" sz="quarter" idx="16"/>
          </p:nvPr>
        </p:nvSpPr>
        <p:spPr>
          <a:xfrm>
            <a:off x="1313058" y="1917585"/>
            <a:ext cx="4825753" cy="3743667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/>
            </a:lvl1pPr>
          </a:lstStyle>
          <a:p>
            <a:endParaRPr lang="pt-BR" dirty="0"/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313056" y="5766104"/>
            <a:ext cx="4840053" cy="410863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2994" indent="0" algn="r">
              <a:lnSpc>
                <a:spcPct val="100000"/>
              </a:lnSpc>
              <a:spcBef>
                <a:spcPts val="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Fonte da imagem / ID da imagem</a:t>
            </a:r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7"/>
          </p:nvPr>
        </p:nvSpPr>
        <p:spPr>
          <a:xfrm>
            <a:off x="6528050" y="1514000"/>
            <a:ext cx="4741639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6" name="Espaço Reservado para Texto 2"/>
          <p:cNvSpPr>
            <a:spLocks noGrp="1"/>
          </p:cNvSpPr>
          <p:nvPr>
            <p:ph type="body" sz="quarter" idx="18" hasCustomPrompt="1"/>
          </p:nvPr>
        </p:nvSpPr>
        <p:spPr>
          <a:xfrm>
            <a:off x="1313058" y="1514000"/>
            <a:ext cx="4825753" cy="40358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marR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BR" sz="1800" b="1" baseline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marR="0" lvl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 err="1"/>
              <a:t>FiguraX</a:t>
            </a:r>
            <a:r>
              <a:rPr lang="pt-BR" dirty="0"/>
              <a:t> – Título da imagem</a:t>
            </a:r>
          </a:p>
        </p:txBody>
      </p:sp>
      <p:sp>
        <p:nvSpPr>
          <p:cNvPr id="11" name="Retângulo 10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818451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Imagem Abaix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69" y="1510552"/>
            <a:ext cx="9941731" cy="1702424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0" name="Espaço Reservado para Imagem 9"/>
          <p:cNvSpPr>
            <a:spLocks noGrp="1"/>
          </p:cNvSpPr>
          <p:nvPr>
            <p:ph type="pic" sz="quarter" idx="11"/>
          </p:nvPr>
        </p:nvSpPr>
        <p:spPr>
          <a:xfrm>
            <a:off x="1426369" y="3761401"/>
            <a:ext cx="9941731" cy="1976745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/>
            </a:lvl1pPr>
          </a:lstStyle>
          <a:p>
            <a:endParaRPr lang="pt-BR" dirty="0"/>
          </a:p>
        </p:txBody>
      </p:sp>
      <p:sp>
        <p:nvSpPr>
          <p:cNvPr id="12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426369" y="5837705"/>
            <a:ext cx="9941731" cy="410863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indent="-243796" algn="r">
              <a:lnSpc>
                <a:spcPct val="113000"/>
              </a:lnSpc>
              <a:spcBef>
                <a:spcPts val="105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Fonte da imagem / ID da imagem</a:t>
            </a:r>
          </a:p>
        </p:txBody>
      </p:sp>
      <p:sp>
        <p:nvSpPr>
          <p:cNvPr id="15" name="Espaço Reservado para Texto 2"/>
          <p:cNvSpPr>
            <a:spLocks noGrp="1"/>
          </p:cNvSpPr>
          <p:nvPr>
            <p:ph type="body" sz="quarter" idx="15" hasCustomPrompt="1"/>
          </p:nvPr>
        </p:nvSpPr>
        <p:spPr>
          <a:xfrm>
            <a:off x="1426369" y="3356585"/>
            <a:ext cx="9941731" cy="40358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marR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BR" sz="1800" b="1" baseline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marR="0" lvl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Figura X – Título da imagem</a:t>
            </a:r>
          </a:p>
        </p:txBody>
      </p:sp>
      <p:sp>
        <p:nvSpPr>
          <p:cNvPr id="11" name="Retângulo 10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4" name="Retângulo 13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9682E8C-4205-C8EF-3E8D-1DA554B065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0755" y="223756"/>
            <a:ext cx="2483556" cy="71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89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022315" y="1775064"/>
            <a:ext cx="4725816" cy="4136845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1"/>
          </p:nvPr>
        </p:nvSpPr>
        <p:spPr>
          <a:xfrm>
            <a:off x="6217436" y="1734213"/>
            <a:ext cx="4725816" cy="4129759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2A86D0E-24D4-FCAB-2A5E-DCD1F946E9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0755" y="223756"/>
            <a:ext cx="2483556" cy="71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764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Box 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910208" y="1510552"/>
            <a:ext cx="4741639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1"/>
          </p:nvPr>
        </p:nvSpPr>
        <p:spPr>
          <a:xfrm>
            <a:off x="6096002" y="1517662"/>
            <a:ext cx="4741639" cy="4143586"/>
          </a:xfrm>
          <a:solidFill>
            <a:schemeClr val="bg1">
              <a:lumMod val="75000"/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99758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Destaqu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838203" y="1712167"/>
            <a:ext cx="4741639" cy="4150696"/>
          </a:xfrm>
          <a:solidFill>
            <a:schemeClr val="bg1">
              <a:lumMod val="75000"/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1"/>
          </p:nvPr>
        </p:nvSpPr>
        <p:spPr>
          <a:xfrm>
            <a:off x="6023995" y="1719277"/>
            <a:ext cx="4741639" cy="414358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00685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5"/>
            <a:ext cx="9927431" cy="4510737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8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7F787C5-0F55-9774-0210-5B3FA119CD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0755" y="223756"/>
            <a:ext cx="2483556" cy="71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111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Referênc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2"/>
            <a:ext cx="9927431" cy="4155038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426371" y="5665590"/>
            <a:ext cx="9927431" cy="504056"/>
          </a:xfrm>
        </p:spPr>
        <p:txBody>
          <a:bodyPr vert="horz" lIns="91440" tIns="45720" rIns="91440" bIns="45720" rtlCol="0">
            <a:noAutofit/>
          </a:bodyPr>
          <a:lstStyle>
            <a:lvl1pPr marL="0" indent="0" algn="r">
              <a:lnSpc>
                <a:spcPct val="113000"/>
              </a:lnSpc>
              <a:spcBef>
                <a:spcPts val="105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Referência do texto</a:t>
            </a:r>
          </a:p>
        </p:txBody>
      </p:sp>
      <p:sp>
        <p:nvSpPr>
          <p:cNvPr id="12" name="Retângulo 11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178969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838202" y="1454473"/>
            <a:ext cx="9927431" cy="1198368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611319" y="5691734"/>
            <a:ext cx="9152756" cy="574368"/>
          </a:xfrm>
        </p:spPr>
        <p:txBody>
          <a:bodyPr vert="horz" lIns="91440" tIns="45720" rIns="91440" bIns="45720" rtlCol="0">
            <a:noAutofit/>
          </a:bodyPr>
          <a:lstStyle>
            <a:lvl1pPr marL="0" indent="0" algn="r">
              <a:lnSpc>
                <a:spcPct val="113000"/>
              </a:lnSpc>
              <a:spcBef>
                <a:spcPts val="105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Referência da citação</a:t>
            </a:r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4" hasCustomPrompt="1"/>
          </p:nvPr>
        </p:nvSpPr>
        <p:spPr>
          <a:xfrm>
            <a:off x="1611319" y="2703439"/>
            <a:ext cx="9152756" cy="2915443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rgbClr val="000000"/>
                </a:solidFill>
              </a:defRPr>
            </a:lvl1pPr>
          </a:lstStyle>
          <a:p>
            <a:pPr lvl="0"/>
            <a:r>
              <a:rPr lang="pt-BR" dirty="0"/>
              <a:t>Clique para inserir citação.</a:t>
            </a:r>
          </a:p>
        </p:txBody>
      </p:sp>
      <p:sp>
        <p:nvSpPr>
          <p:cNvPr id="13" name="Retângulo 12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79149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Box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2"/>
            <a:ext cx="5029671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1" name="Espaço Reservado para Texto 12"/>
          <p:cNvSpPr>
            <a:spLocks noGrp="1"/>
          </p:cNvSpPr>
          <p:nvPr>
            <p:ph type="body" sz="quarter" idx="11" hasCustomPrompt="1"/>
          </p:nvPr>
        </p:nvSpPr>
        <p:spPr>
          <a:xfrm>
            <a:off x="6600057" y="1511346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750"/>
              </a:spcBef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7" name="Espaço Reservado para Texto 12"/>
          <p:cNvSpPr>
            <a:spLocks noGrp="1"/>
          </p:cNvSpPr>
          <p:nvPr>
            <p:ph type="body" sz="quarter" idx="12" hasCustomPrompt="1"/>
          </p:nvPr>
        </p:nvSpPr>
        <p:spPr>
          <a:xfrm>
            <a:off x="6600057" y="3073714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750"/>
              </a:spcBef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4" name="Espaço Reservado para Texto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00057" y="4636082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750"/>
              </a:spcBef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0" name="Retângulo 9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5473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Box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2"/>
            <a:ext cx="9927431" cy="156316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1" name="Espaço Reservado para Texto 12"/>
          <p:cNvSpPr>
            <a:spLocks noGrp="1"/>
          </p:cNvSpPr>
          <p:nvPr>
            <p:ph type="body" sz="quarter" idx="11" hasCustomPrompt="1"/>
          </p:nvPr>
        </p:nvSpPr>
        <p:spPr>
          <a:xfrm>
            <a:off x="1426369" y="3333697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7" name="Espaço Reservado para Texto 12"/>
          <p:cNvSpPr>
            <a:spLocks noGrp="1"/>
          </p:cNvSpPr>
          <p:nvPr>
            <p:ph type="body" sz="quarter" idx="12" hasCustomPrompt="1"/>
          </p:nvPr>
        </p:nvSpPr>
        <p:spPr>
          <a:xfrm>
            <a:off x="6600056" y="3333697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0" name="Espaço Reservado para Texto 12"/>
          <p:cNvSpPr>
            <a:spLocks noGrp="1"/>
          </p:cNvSpPr>
          <p:nvPr>
            <p:ph type="body" sz="quarter" idx="14" hasCustomPrompt="1"/>
          </p:nvPr>
        </p:nvSpPr>
        <p:spPr>
          <a:xfrm>
            <a:off x="1426369" y="4612333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2" name="Espaço Reservado para Texto 12"/>
          <p:cNvSpPr>
            <a:spLocks noGrp="1"/>
          </p:cNvSpPr>
          <p:nvPr>
            <p:ph type="body" sz="quarter" idx="15" hasCustomPrompt="1"/>
          </p:nvPr>
        </p:nvSpPr>
        <p:spPr>
          <a:xfrm>
            <a:off x="6600056" y="4612333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3" name="Retângulo 12"/>
          <p:cNvSpPr/>
          <p:nvPr userDrawn="1"/>
        </p:nvSpPr>
        <p:spPr>
          <a:xfrm>
            <a:off x="0" y="6621752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4" name="Retângulo 13"/>
          <p:cNvSpPr/>
          <p:nvPr userDrawn="1"/>
        </p:nvSpPr>
        <p:spPr>
          <a:xfrm>
            <a:off x="0" y="6470709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Retângulo 14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9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268672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70777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paço com libr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069" y="3426942"/>
            <a:ext cx="4788931" cy="34418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16" name="Retângulo 15"/>
          <p:cNvSpPr/>
          <p:nvPr userDrawn="1"/>
        </p:nvSpPr>
        <p:spPr>
          <a:xfrm>
            <a:off x="8353869" y="4997810"/>
            <a:ext cx="2887332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350" dirty="0"/>
              <a:t>Área reservada para libras.</a:t>
            </a:r>
          </a:p>
        </p:txBody>
      </p:sp>
    </p:spTree>
    <p:extLst>
      <p:ext uri="{BB962C8B-B14F-4D97-AF65-F5344CB8AC3E}">
        <p14:creationId xmlns:p14="http://schemas.microsoft.com/office/powerpoint/2010/main" val="3660642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92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4BEED-8A68-4722-9E32-77B5A92D9FCF}" type="datetimeFigureOut">
              <a:rPr lang="pt-BR" smtClean="0"/>
              <a:t>10/04/2025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9AD03-B9AA-4AC4-8737-AAAAC545CE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8471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30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89335E-A121-8842-85AC-B83750E5CF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1138" y="1568237"/>
            <a:ext cx="9941731" cy="1702424"/>
          </a:xfrm>
        </p:spPr>
        <p:txBody>
          <a:bodyPr/>
          <a:lstStyle/>
          <a:p>
            <a:pPr algn="ctr"/>
            <a:r>
              <a:rPr lang="pt-BR" sz="4400" dirty="0"/>
              <a:t>Banco de Dados Não Relacional</a:t>
            </a:r>
          </a:p>
          <a:p>
            <a:pPr algn="ctr"/>
            <a:r>
              <a:rPr lang="pt-BR" sz="4400" dirty="0"/>
              <a:t>Ordenando Buscas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1D7575F-7300-F345-9C32-8CED948BD2B9}"/>
              </a:ext>
            </a:extLst>
          </p:cNvPr>
          <p:cNvSpPr txBox="1"/>
          <p:nvPr/>
        </p:nvSpPr>
        <p:spPr>
          <a:xfrm>
            <a:off x="3632198" y="4406030"/>
            <a:ext cx="5359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Prof. Thiago </a:t>
            </a:r>
            <a:r>
              <a:rPr lang="pt-BR" sz="4000" dirty="0" err="1"/>
              <a:t>Salhab</a:t>
            </a:r>
            <a:r>
              <a:rPr lang="pt-BR" sz="4000" dirty="0"/>
              <a:t> Alves</a:t>
            </a:r>
          </a:p>
        </p:txBody>
      </p:sp>
    </p:spTree>
    <p:extLst>
      <p:ext uri="{BB962C8B-B14F-4D97-AF65-F5344CB8AC3E}">
        <p14:creationId xmlns:p14="http://schemas.microsoft.com/office/powerpoint/2010/main" val="2776732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Para ordenarmos uma busca utilizamos o método </a:t>
            </a:r>
            <a:r>
              <a:rPr lang="pt-BR" sz="2800" b="1" dirty="0" err="1">
                <a:solidFill>
                  <a:schemeClr val="tx1"/>
                </a:solidFill>
              </a:rPr>
              <a:t>sort</a:t>
            </a:r>
            <a:r>
              <a:rPr lang="pt-BR" sz="2800" b="1" dirty="0">
                <a:solidFill>
                  <a:schemeClr val="tx1"/>
                </a:solidFill>
              </a:rPr>
              <a:t>() </a:t>
            </a:r>
            <a:r>
              <a:rPr lang="pt-BR" sz="2800" dirty="0"/>
              <a:t>em conjunto com o método </a:t>
            </a:r>
            <a:r>
              <a:rPr lang="pt-BR" sz="2800" b="1" dirty="0" err="1">
                <a:solidFill>
                  <a:schemeClr val="tx1"/>
                </a:solidFill>
              </a:rPr>
              <a:t>find</a:t>
            </a:r>
            <a:r>
              <a:rPr lang="pt-BR" sz="2800" b="1" dirty="0">
                <a:solidFill>
                  <a:schemeClr val="tx1"/>
                </a:solidFill>
              </a:rPr>
              <a:t>()</a:t>
            </a:r>
          </a:p>
          <a:p>
            <a:pPr>
              <a:lnSpc>
                <a:spcPct val="100000"/>
              </a:lnSpc>
            </a:pPr>
            <a:r>
              <a:rPr lang="pt-BR" sz="2600" dirty="0"/>
              <a:t>Comparando com os comandos SQL dos bancos relacionais, o método </a:t>
            </a:r>
            <a:r>
              <a:rPr lang="pt-BR" sz="2600" b="1" dirty="0" err="1">
                <a:solidFill>
                  <a:schemeClr val="tx1"/>
                </a:solidFill>
              </a:rPr>
              <a:t>sort</a:t>
            </a:r>
            <a:r>
              <a:rPr lang="pt-BR" sz="2600" b="1" dirty="0">
                <a:solidFill>
                  <a:schemeClr val="tx1"/>
                </a:solidFill>
              </a:rPr>
              <a:t>() </a:t>
            </a:r>
            <a:r>
              <a:rPr lang="pt-BR" sz="2600" dirty="0"/>
              <a:t>tem a mesma função do comando </a:t>
            </a:r>
            <a:r>
              <a:rPr lang="pt-BR" sz="2600" b="1" dirty="0" err="1">
                <a:solidFill>
                  <a:schemeClr val="tx1"/>
                </a:solidFill>
              </a:rPr>
              <a:t>order</a:t>
            </a:r>
            <a:r>
              <a:rPr lang="pt-BR" sz="2600" b="1" dirty="0">
                <a:solidFill>
                  <a:schemeClr val="tx1"/>
                </a:solidFill>
              </a:rPr>
              <a:t> </a:t>
            </a:r>
            <a:r>
              <a:rPr lang="pt-BR" sz="2600" b="1" dirty="0" err="1">
                <a:solidFill>
                  <a:schemeClr val="tx1"/>
                </a:solidFill>
              </a:rPr>
              <a:t>by</a:t>
            </a:r>
            <a:r>
              <a:rPr lang="pt-BR" sz="2600" b="1" dirty="0">
                <a:solidFill>
                  <a:schemeClr val="tx1"/>
                </a:solidFill>
              </a:rPr>
              <a:t> </a:t>
            </a:r>
            <a:r>
              <a:rPr lang="pt-BR" sz="2600" dirty="0"/>
              <a:t>em um </a:t>
            </a:r>
            <a:r>
              <a:rPr lang="pt-BR" sz="2600" dirty="0" err="1"/>
              <a:t>select</a:t>
            </a:r>
            <a:r>
              <a:rPr lang="pt-BR" sz="2600" dirty="0"/>
              <a:t> relacional.</a:t>
            </a:r>
          </a:p>
          <a:p>
            <a:pPr>
              <a:lnSpc>
                <a:spcPct val="100000"/>
              </a:lnSpc>
            </a:pPr>
            <a:r>
              <a:rPr lang="pt-BR" sz="2600" dirty="0"/>
              <a:t>Sintaxe:</a:t>
            </a:r>
          </a:p>
          <a:p>
            <a:pPr lvl="1">
              <a:lnSpc>
                <a:spcPct val="100000"/>
              </a:lnSpc>
            </a:pPr>
            <a:r>
              <a:rPr lang="pt-BR" sz="2200" b="1" dirty="0" err="1"/>
              <a:t>db.collection.find</a:t>
            </a:r>
            <a:r>
              <a:rPr lang="pt-BR" sz="2200" b="1" dirty="0"/>
              <a:t>( ).</a:t>
            </a:r>
            <a:r>
              <a:rPr lang="pt-BR" sz="2200" b="1" dirty="0" err="1"/>
              <a:t>sort</a:t>
            </a:r>
            <a:r>
              <a:rPr lang="pt-BR" sz="2200" b="1" dirty="0"/>
              <a:t>( { </a:t>
            </a:r>
            <a:r>
              <a:rPr lang="pt-BR" sz="2200" b="1" dirty="0" err="1"/>
              <a:t>nome_do_campo</a:t>
            </a:r>
            <a:r>
              <a:rPr lang="pt-BR" sz="2200" b="1" dirty="0"/>
              <a:t>: 1 } )</a:t>
            </a:r>
          </a:p>
          <a:p>
            <a:pPr>
              <a:lnSpc>
                <a:spcPct val="100000"/>
              </a:lnSpc>
            </a:pPr>
            <a:r>
              <a:rPr lang="pt-BR" sz="2600" dirty="0"/>
              <a:t>O numero 1 após os dois pontos indica que o resultado deve ser em ordem crescente (alfabética quando for campo texto)</a:t>
            </a:r>
          </a:p>
          <a:p>
            <a:pPr>
              <a:lnSpc>
                <a:spcPct val="100000"/>
              </a:lnSpc>
            </a:pPr>
            <a:r>
              <a:rPr lang="pt-BR" sz="2600" dirty="0"/>
              <a:t>Para ordem decrescente troque o numero 1 por -1 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ordenada</a:t>
            </a:r>
          </a:p>
        </p:txBody>
      </p:sp>
    </p:spTree>
    <p:extLst>
      <p:ext uri="{BB962C8B-B14F-4D97-AF65-F5344CB8AC3E}">
        <p14:creationId xmlns:p14="http://schemas.microsoft.com/office/powerpoint/2010/main" val="2549284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Exemplo:</a:t>
            </a:r>
            <a:endParaRPr lang="pt-BR" sz="26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ordenada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CC6EF07-1196-4722-A445-8E6ED7A6D4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"/>
          <a:stretch/>
        </p:blipFill>
        <p:spPr>
          <a:xfrm>
            <a:off x="524933" y="1955799"/>
            <a:ext cx="5426658" cy="458761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1596BFF-2307-43DE-B2C8-F58DCD63FA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5" r="-1"/>
          <a:stretch/>
        </p:blipFill>
        <p:spPr>
          <a:xfrm>
            <a:off x="6112933" y="1981198"/>
            <a:ext cx="5371392" cy="458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26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Todas as propriedades que já aprendemos do método </a:t>
            </a:r>
            <a:r>
              <a:rPr lang="pt-BR" sz="2800" b="1" dirty="0" err="1">
                <a:solidFill>
                  <a:schemeClr val="tx1"/>
                </a:solidFill>
              </a:rPr>
              <a:t>find</a:t>
            </a:r>
            <a:r>
              <a:rPr lang="pt-BR" sz="2800" b="1" dirty="0">
                <a:solidFill>
                  <a:schemeClr val="tx1"/>
                </a:solidFill>
              </a:rPr>
              <a:t>() </a:t>
            </a:r>
            <a:r>
              <a:rPr lang="pt-BR" sz="2800" dirty="0"/>
              <a:t>podem ser utilizadas normalmente em conjunto com o método </a:t>
            </a:r>
            <a:r>
              <a:rPr lang="pt-BR" sz="2800" b="1" dirty="0" err="1">
                <a:solidFill>
                  <a:schemeClr val="tx1"/>
                </a:solidFill>
              </a:rPr>
              <a:t>sort</a:t>
            </a:r>
            <a:r>
              <a:rPr lang="pt-BR" sz="2800" b="1" dirty="0">
                <a:solidFill>
                  <a:schemeClr val="tx1"/>
                </a:solidFill>
              </a:rPr>
              <a:t>()</a:t>
            </a:r>
          </a:p>
          <a:p>
            <a:pPr>
              <a:lnSpc>
                <a:spcPct val="100000"/>
              </a:lnSpc>
            </a:pPr>
            <a:endParaRPr lang="pt-BR" sz="26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ordenada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61DD4DE-51C9-4F5F-9BD6-52D83B353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611" y="2714525"/>
            <a:ext cx="5611008" cy="142894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7C061A9-95D6-413F-A8AD-1C71A213F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53" y="4364883"/>
            <a:ext cx="5668166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546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Para o resultado ser em ordem decrescente devemos utilizar -1</a:t>
            </a:r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r>
              <a:rPr lang="pt-BR" sz="2800" dirty="0"/>
              <a:t>Quando selecionamos vários campos para exibição, o método </a:t>
            </a:r>
            <a:r>
              <a:rPr lang="pt-BR" sz="2800" b="1" dirty="0" err="1">
                <a:solidFill>
                  <a:schemeClr val="tx1"/>
                </a:solidFill>
              </a:rPr>
              <a:t>find</a:t>
            </a:r>
            <a:r>
              <a:rPr lang="pt-BR" sz="2800" b="1" dirty="0">
                <a:solidFill>
                  <a:schemeClr val="tx1"/>
                </a:solidFill>
              </a:rPr>
              <a:t>() </a:t>
            </a:r>
            <a:r>
              <a:rPr lang="pt-BR" sz="2800" dirty="0"/>
              <a:t>não exibe na ordem que selecionamos os campos, mas sim na ordem que os mesmos foram criados quando o documento foi inserido no banco.</a:t>
            </a:r>
            <a:endParaRPr lang="pt-BR" sz="26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ordenada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673AD72-4231-49BC-BD75-519578E73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297" y="2065987"/>
            <a:ext cx="9440327" cy="191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936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Para ordenar por vários campos basta indicar cada um deles, por exemplo: listar as pessoas em ordem de idade e quando tivermos mais de uma pessoa com a mesma idade, trazer em ordem alfabética.</a:t>
            </a:r>
            <a:endParaRPr lang="pt-BR" sz="26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ordenada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D728CB4-B97B-40CA-B9DE-492364828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157" y="3691467"/>
            <a:ext cx="9002043" cy="161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905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Podemos inclusive utilizar ordem crescente ou decrescente em cada um dos campos de forma independente:</a:t>
            </a:r>
            <a:endParaRPr lang="pt-BR" sz="26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ordenada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A79BD1B-FD69-4D7F-B462-FAED7F5E1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190" y="2970634"/>
            <a:ext cx="9200534" cy="174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875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O método </a:t>
            </a:r>
            <a:r>
              <a:rPr lang="pt-BR" sz="2800" b="1" dirty="0" err="1">
                <a:solidFill>
                  <a:schemeClr val="tx1"/>
                </a:solidFill>
              </a:rPr>
              <a:t>find</a:t>
            </a:r>
            <a:r>
              <a:rPr lang="pt-BR" sz="2800" b="1" dirty="0">
                <a:solidFill>
                  <a:schemeClr val="tx1"/>
                </a:solidFill>
              </a:rPr>
              <a:t>() </a:t>
            </a:r>
            <a:r>
              <a:rPr lang="pt-BR" sz="2800" dirty="0"/>
              <a:t>permite que o resultado seja limitado a uma certa quantidade de documentos, para isso utilizamos o método </a:t>
            </a:r>
            <a:r>
              <a:rPr lang="pt-BR" sz="2800" b="1" dirty="0" err="1">
                <a:solidFill>
                  <a:schemeClr val="tx1"/>
                </a:solidFill>
              </a:rPr>
              <a:t>limit</a:t>
            </a:r>
            <a:r>
              <a:rPr lang="pt-BR" sz="2800" b="1" dirty="0">
                <a:solidFill>
                  <a:schemeClr val="tx1"/>
                </a:solidFill>
              </a:rPr>
              <a:t>()</a:t>
            </a:r>
          </a:p>
          <a:p>
            <a:pPr lvl="1">
              <a:lnSpc>
                <a:spcPct val="100000"/>
              </a:lnSpc>
            </a:pPr>
            <a:r>
              <a:rPr lang="pt-BR" sz="2400" dirty="0"/>
              <a:t>Limitado a 3 documentos:</a:t>
            </a:r>
          </a:p>
          <a:p>
            <a:pPr lvl="1">
              <a:lnSpc>
                <a:spcPct val="100000"/>
              </a:lnSpc>
            </a:pPr>
            <a:endParaRPr lang="pt-BR" sz="1800" dirty="0"/>
          </a:p>
          <a:p>
            <a:pPr lvl="1">
              <a:lnSpc>
                <a:spcPct val="100000"/>
              </a:lnSpc>
            </a:pPr>
            <a:endParaRPr lang="pt-BR" sz="1000" dirty="0"/>
          </a:p>
          <a:p>
            <a:pPr lvl="1">
              <a:lnSpc>
                <a:spcPct val="100000"/>
              </a:lnSpc>
            </a:pPr>
            <a:endParaRPr lang="pt-BR" dirty="0"/>
          </a:p>
          <a:p>
            <a:pPr lvl="1">
              <a:lnSpc>
                <a:spcPct val="100000"/>
              </a:lnSpc>
            </a:pPr>
            <a:endParaRPr lang="pt-BR" sz="1600" dirty="0"/>
          </a:p>
          <a:p>
            <a:pPr lvl="1">
              <a:lnSpc>
                <a:spcPct val="100000"/>
              </a:lnSpc>
            </a:pPr>
            <a:r>
              <a:rPr lang="pt-BR" sz="2400" dirty="0"/>
              <a:t>Sem limite:</a:t>
            </a:r>
            <a:endParaRPr lang="pt-BR" sz="2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Limitando resultados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4C6402F-534B-4C66-AE73-A25B6F167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318" y="2948489"/>
            <a:ext cx="6744641" cy="114316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7DDF0CA-624D-4F89-ACB7-B1B133CE4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555" y="4594865"/>
            <a:ext cx="5668166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112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Utilizando o </a:t>
            </a:r>
            <a:r>
              <a:rPr lang="pt-BR" sz="2800" b="1" dirty="0" err="1">
                <a:solidFill>
                  <a:schemeClr val="tx1"/>
                </a:solidFill>
              </a:rPr>
              <a:t>limit</a:t>
            </a:r>
            <a:r>
              <a:rPr lang="pt-BR" sz="2800" b="1" dirty="0">
                <a:solidFill>
                  <a:schemeClr val="tx1"/>
                </a:solidFill>
              </a:rPr>
              <a:t>() </a:t>
            </a:r>
            <a:r>
              <a:rPr lang="pt-BR" sz="2800" dirty="0"/>
              <a:t>junto com o </a:t>
            </a:r>
            <a:r>
              <a:rPr lang="pt-BR" sz="2800" dirty="0" err="1">
                <a:solidFill>
                  <a:schemeClr val="tx1"/>
                </a:solidFill>
              </a:rPr>
              <a:t>sort</a:t>
            </a:r>
            <a:r>
              <a:rPr lang="pt-BR" sz="2800" dirty="0">
                <a:solidFill>
                  <a:schemeClr val="tx1"/>
                </a:solidFill>
              </a:rPr>
              <a:t>()</a:t>
            </a:r>
          </a:p>
          <a:p>
            <a:pPr>
              <a:lnSpc>
                <a:spcPct val="100000"/>
              </a:lnSpc>
            </a:pPr>
            <a:endParaRPr lang="pt-BR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pt-BR" sz="6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pt-BR" sz="2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800" dirty="0"/>
              <a:t>Ele sempre ordena antes de limitar os resultados, veja isso na consulta abaixo, apenas alterei para decrescente e os resultados foram diferentes</a:t>
            </a:r>
            <a:endParaRPr lang="pt-BR" sz="2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Limitando resultados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B4DDDEE-0CB9-4206-83D0-64D0D4718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908" y="2138812"/>
            <a:ext cx="9337461" cy="129018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E127054-1D63-4EA3-91BF-BFF91FA9E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173" y="4777234"/>
            <a:ext cx="9883292" cy="141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93188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1222</TotalTime>
  <Words>314</Words>
  <Application>Microsoft Macintosh PowerPoint</Application>
  <PresentationFormat>Widescreen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1_Tema do Office</vt:lpstr>
      <vt:lpstr>Apresentação do PowerPoint</vt:lpstr>
      <vt:lpstr>Busca ordenada</vt:lpstr>
      <vt:lpstr>Busca ordenada</vt:lpstr>
      <vt:lpstr>Busca ordenada</vt:lpstr>
      <vt:lpstr>Busca ordenada</vt:lpstr>
      <vt:lpstr>Busca ordenada</vt:lpstr>
      <vt:lpstr>Busca ordenada</vt:lpstr>
      <vt:lpstr>Limitando resultados</vt:lpstr>
      <vt:lpstr>Limitando resultados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 Salhab Alves</dc:creator>
  <cp:lastModifiedBy>THIAGO</cp:lastModifiedBy>
  <cp:revision>32</cp:revision>
  <dcterms:created xsi:type="dcterms:W3CDTF">2019-06-26T14:54:25Z</dcterms:created>
  <dcterms:modified xsi:type="dcterms:W3CDTF">2025-04-10T17:47:33Z</dcterms:modified>
</cp:coreProperties>
</file>