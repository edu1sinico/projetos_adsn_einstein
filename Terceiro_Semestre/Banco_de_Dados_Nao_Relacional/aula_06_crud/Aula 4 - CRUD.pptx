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85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/>
    <p:restoredTop sz="91351"/>
  </p:normalViewPr>
  <p:slideViewPr>
    <p:cSldViewPr snapToGrid="0" snapToObjects="1">
      <p:cViewPr>
        <p:scale>
          <a:sx n="130" d="100"/>
          <a:sy n="130" d="100"/>
        </p:scale>
        <p:origin x="-2392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t="8122" b="4060"/>
          <a:stretch/>
        </p:blipFill>
        <p:spPr>
          <a:xfrm>
            <a:off x="0" y="1246910"/>
            <a:ext cx="12192000" cy="5650579"/>
          </a:xfrm>
          <a:prstGeom prst="rect">
            <a:avLst/>
          </a:prstGeom>
        </p:spPr>
      </p:pic>
      <p:sp>
        <p:nvSpPr>
          <p:cNvPr id="9" name="Retângulo 8"/>
          <p:cNvSpPr/>
          <p:nvPr userDrawn="1"/>
        </p:nvSpPr>
        <p:spPr>
          <a:xfrm>
            <a:off x="0" y="4"/>
            <a:ext cx="12192000" cy="612949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0" name="Retângulo 9"/>
          <p:cNvSpPr/>
          <p:nvPr userDrawn="1"/>
        </p:nvSpPr>
        <p:spPr>
          <a:xfrm>
            <a:off x="0" y="612949"/>
            <a:ext cx="12192000" cy="633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pic>
        <p:nvPicPr>
          <p:cNvPr id="17" name="Imagem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47" y="747161"/>
            <a:ext cx="343903" cy="267584"/>
          </a:xfrm>
          <a:prstGeom prst="rect">
            <a:avLst/>
          </a:prstGeom>
        </p:spPr>
      </p:pic>
      <p:sp>
        <p:nvSpPr>
          <p:cNvPr id="11" name="Retângulo 10"/>
          <p:cNvSpPr/>
          <p:nvPr userDrawn="1"/>
        </p:nvSpPr>
        <p:spPr>
          <a:xfrm>
            <a:off x="0" y="1266572"/>
            <a:ext cx="12192000" cy="5611091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2" name="Retângulo 8"/>
          <p:cNvSpPr/>
          <p:nvPr userDrawn="1"/>
        </p:nvSpPr>
        <p:spPr>
          <a:xfrm>
            <a:off x="0" y="1148708"/>
            <a:ext cx="6096000" cy="5709292"/>
          </a:xfrm>
          <a:custGeom>
            <a:avLst/>
            <a:gdLst>
              <a:gd name="connsiteX0" fmla="*/ 0 w 6096000"/>
              <a:gd name="connsiteY0" fmla="*/ 0 h 5709292"/>
              <a:gd name="connsiteX1" fmla="*/ 609600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531918 w 6096000"/>
              <a:gd name="connsiteY1" fmla="*/ 31173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95600 w 6096000"/>
              <a:gd name="connsiteY1" fmla="*/ 10391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  <a:gd name="connsiteX0" fmla="*/ 0 w 6096000"/>
              <a:gd name="connsiteY0" fmla="*/ 0 h 5709292"/>
              <a:gd name="connsiteX1" fmla="*/ 2885210 w 6096000"/>
              <a:gd name="connsiteY1" fmla="*/ 0 h 5709292"/>
              <a:gd name="connsiteX2" fmla="*/ 6096000 w 6096000"/>
              <a:gd name="connsiteY2" fmla="*/ 5709292 h 5709292"/>
              <a:gd name="connsiteX3" fmla="*/ 0 w 6096000"/>
              <a:gd name="connsiteY3" fmla="*/ 5709292 h 5709292"/>
              <a:gd name="connsiteX4" fmla="*/ 0 w 6096000"/>
              <a:gd name="connsiteY4" fmla="*/ 0 h 5709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5709292">
                <a:moveTo>
                  <a:pt x="0" y="0"/>
                </a:moveTo>
                <a:lnTo>
                  <a:pt x="2885210" y="0"/>
                </a:lnTo>
                <a:lnTo>
                  <a:pt x="6096000" y="5709292"/>
                </a:lnTo>
                <a:lnTo>
                  <a:pt x="0" y="5709292"/>
                </a:lnTo>
                <a:lnTo>
                  <a:pt x="0" y="0"/>
                </a:lnTo>
                <a:close/>
              </a:path>
            </a:pathLst>
          </a:cu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316995"/>
            <a:ext cx="12192000" cy="156545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</p:spTree>
    <p:extLst>
      <p:ext uri="{BB962C8B-B14F-4D97-AF65-F5344CB8AC3E}">
        <p14:creationId xmlns:p14="http://schemas.microsoft.com/office/powerpoint/2010/main" val="407607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6528050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528048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1" name="Espaço Reservado para Texto 7"/>
          <p:cNvSpPr>
            <a:spLocks noGrp="1" noChangeAspect="1"/>
          </p:cNvSpPr>
          <p:nvPr>
            <p:ph type="body" sz="quarter" idx="14"/>
          </p:nvPr>
        </p:nvSpPr>
        <p:spPr>
          <a:xfrm>
            <a:off x="1415483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528050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7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7493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9"/>
          <p:cNvSpPr>
            <a:spLocks noGrp="1"/>
          </p:cNvSpPr>
          <p:nvPr>
            <p:ph type="pic" sz="quarter" idx="16"/>
          </p:nvPr>
        </p:nvSpPr>
        <p:spPr>
          <a:xfrm>
            <a:off x="1313058" y="1917585"/>
            <a:ext cx="4825753" cy="3743667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313056" y="5766104"/>
            <a:ext cx="4840053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2994" indent="0" algn="r">
              <a:lnSpc>
                <a:spcPct val="100000"/>
              </a:lnSpc>
              <a:spcBef>
                <a:spcPts val="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7"/>
          </p:nvPr>
        </p:nvSpPr>
        <p:spPr>
          <a:xfrm>
            <a:off x="6528050" y="1514000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6" name="Espaço Reservado para Texto 2"/>
          <p:cNvSpPr>
            <a:spLocks noGrp="1"/>
          </p:cNvSpPr>
          <p:nvPr>
            <p:ph type="body" sz="quarter" idx="18" hasCustomPrompt="1"/>
          </p:nvPr>
        </p:nvSpPr>
        <p:spPr>
          <a:xfrm>
            <a:off x="1313058" y="1514000"/>
            <a:ext cx="4825753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FiguraX</a:t>
            </a:r>
            <a:r>
              <a:rPr lang="pt-BR" dirty="0"/>
              <a:t>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81845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magem Abaix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69" y="1510552"/>
            <a:ext cx="9941731" cy="1702424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0" name="Espaço Reservado para Imagem 9"/>
          <p:cNvSpPr>
            <a:spLocks noGrp="1"/>
          </p:cNvSpPr>
          <p:nvPr>
            <p:ph type="pic" sz="quarter" idx="11"/>
          </p:nvPr>
        </p:nvSpPr>
        <p:spPr>
          <a:xfrm>
            <a:off x="1426369" y="3761401"/>
            <a:ext cx="9941731" cy="1976745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/>
            </a:lvl1pPr>
          </a:lstStyle>
          <a:p>
            <a:endParaRPr lang="pt-BR" dirty="0"/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69" y="5837705"/>
            <a:ext cx="9941731" cy="410863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indent="-243796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Fonte da imagem / ID da imagem</a:t>
            </a:r>
          </a:p>
        </p:txBody>
      </p:sp>
      <p:sp>
        <p:nvSpPr>
          <p:cNvPr id="15" name="Espaço Reservado para Texto 2"/>
          <p:cNvSpPr>
            <a:spLocks noGrp="1"/>
          </p:cNvSpPr>
          <p:nvPr>
            <p:ph type="body" sz="quarter" idx="15" hasCustomPrompt="1"/>
          </p:nvPr>
        </p:nvSpPr>
        <p:spPr>
          <a:xfrm>
            <a:off x="1426369" y="3356585"/>
            <a:ext cx="9941731" cy="40358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43796" marR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BR" sz="1800" b="1" baseline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marR="0" lvl="0" indent="-243796" algn="ctr" defTabSz="685783" rtl="0" eaLnBrk="1" fontAlgn="auto" latinLnBrk="0" hangingPunct="1">
              <a:lnSpc>
                <a:spcPct val="113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Figura X – Título da imagem</a:t>
            </a:r>
          </a:p>
        </p:txBody>
      </p:sp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9682E8C-4205-C8EF-3E8D-1DA554B065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9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022315" y="1775064"/>
            <a:ext cx="4725816" cy="4136845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217436" y="1734213"/>
            <a:ext cx="4725816" cy="4129759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2A86D0E-24D4-FCAB-2A5E-DCD1F946E9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6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910208" y="1510552"/>
            <a:ext cx="4741639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96002" y="1517662"/>
            <a:ext cx="4741639" cy="414358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9758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Destaqu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3" y="1712167"/>
            <a:ext cx="4741639" cy="4150696"/>
          </a:xfrm>
          <a:solidFill>
            <a:schemeClr val="bg1">
              <a:lumMod val="75000"/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4" name="Espaço Reservado para Texto 7"/>
          <p:cNvSpPr>
            <a:spLocks noGrp="1" noChangeAspect="1"/>
          </p:cNvSpPr>
          <p:nvPr>
            <p:ph type="body" sz="quarter" idx="11"/>
          </p:nvPr>
        </p:nvSpPr>
        <p:spPr>
          <a:xfrm>
            <a:off x="6023995" y="1719277"/>
            <a:ext cx="4741639" cy="414358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0685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5"/>
            <a:ext cx="9927431" cy="4510737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8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7F787C5-0F55-9774-0210-5B3FA119CD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0755" y="223756"/>
            <a:ext cx="2483556" cy="71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eferê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415503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426371" y="5665590"/>
            <a:ext cx="9927431" cy="504056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do texto</a:t>
            </a:r>
          </a:p>
        </p:txBody>
      </p:sp>
      <p:sp>
        <p:nvSpPr>
          <p:cNvPr id="12" name="Retângulo 11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17896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838202" y="1454473"/>
            <a:ext cx="9927431" cy="1198368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6" name="Espaço Reservado para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1611319" y="5691734"/>
            <a:ext cx="9152756" cy="574368"/>
          </a:xfrm>
        </p:spPr>
        <p:txBody>
          <a:bodyPr vert="horz" lIns="91440" tIns="45720" rIns="91440" bIns="45720" rtlCol="0">
            <a:noAutofit/>
          </a:bodyPr>
          <a:lstStyle>
            <a:lvl1pPr marL="0" indent="0" algn="r">
              <a:lnSpc>
                <a:spcPct val="113000"/>
              </a:lnSpc>
              <a:spcBef>
                <a:spcPts val="1050"/>
              </a:spcBef>
              <a:buNone/>
              <a:defRPr lang="pt-BR" sz="1400" baseline="0" smtClean="0">
                <a:solidFill>
                  <a:srgbClr val="000000"/>
                </a:solidFill>
              </a:defRPr>
            </a:lvl1pPr>
            <a:lvl2pPr>
              <a:defRPr lang="pt-BR" sz="2100" smtClean="0"/>
            </a:lvl2pPr>
            <a:lvl3pPr>
              <a:defRPr lang="pt-BR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Referência da citação</a:t>
            </a:r>
          </a:p>
        </p:txBody>
      </p:sp>
      <p:sp>
        <p:nvSpPr>
          <p:cNvPr id="10" name="Espaço Reservado para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1611319" y="2703439"/>
            <a:ext cx="9152756" cy="2915443"/>
          </a:xfrm>
        </p:spPr>
        <p:txBody>
          <a:bodyPr>
            <a:normAutofit/>
          </a:bodyPr>
          <a:lstStyle>
            <a:lvl1pPr marL="0" indent="0">
              <a:buNone/>
              <a:defRPr sz="2400" baseline="0">
                <a:solidFill>
                  <a:srgbClr val="000000"/>
                </a:solidFill>
              </a:defRPr>
            </a:lvl1pPr>
          </a:lstStyle>
          <a:p>
            <a:pPr lvl="0"/>
            <a:r>
              <a:rPr lang="pt-BR" dirty="0"/>
              <a:t>Clique para inserir citação.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9149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5029671" cy="4150696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6600057" y="1511346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7" y="3073714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4" name="Espaço Reservado para Texto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0057" y="4636082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lnSpc>
                <a:spcPct val="90000"/>
              </a:lnSpc>
              <a:spcBef>
                <a:spcPts val="750"/>
              </a:spcBef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Retângulo 9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3" name="Retângulo 12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5473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Box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7"/>
          <p:cNvSpPr>
            <a:spLocks noGrp="1" noChangeAspect="1"/>
          </p:cNvSpPr>
          <p:nvPr>
            <p:ph type="body" sz="quarter" idx="10"/>
          </p:nvPr>
        </p:nvSpPr>
        <p:spPr>
          <a:xfrm>
            <a:off x="1426371" y="1510552"/>
            <a:ext cx="9927431" cy="1563162"/>
          </a:xfrm>
          <a:solidFill>
            <a:schemeClr val="bg1">
              <a:alpha val="9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113000"/>
              </a:lnSpc>
              <a:spcBef>
                <a:spcPts val="1050"/>
              </a:spcBef>
              <a:buNone/>
              <a:defRPr lang="pt-BR" sz="2600" dirty="0" smtClean="0">
                <a:solidFill>
                  <a:srgbClr val="000000"/>
                </a:solidFill>
              </a:defRPr>
            </a:lvl1pPr>
            <a:lvl2pPr marL="487592" indent="0">
              <a:buNone/>
              <a:defRPr lang="pt-BR" sz="2100" dirty="0" smtClean="0"/>
            </a:lvl2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endParaRPr lang="pt-BR" dirty="0"/>
          </a:p>
        </p:txBody>
      </p:sp>
      <p:sp>
        <p:nvSpPr>
          <p:cNvPr id="11" name="Espaço Reservado para Texto 12"/>
          <p:cNvSpPr>
            <a:spLocks noGrp="1"/>
          </p:cNvSpPr>
          <p:nvPr>
            <p:ph type="body" sz="quarter" idx="11" hasCustomPrompt="1"/>
          </p:nvPr>
        </p:nvSpPr>
        <p:spPr>
          <a:xfrm>
            <a:off x="1426369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7" name="Espaço Reservado para Texto 12"/>
          <p:cNvSpPr>
            <a:spLocks noGrp="1"/>
          </p:cNvSpPr>
          <p:nvPr>
            <p:ph type="body" sz="quarter" idx="12" hasCustomPrompt="1"/>
          </p:nvPr>
        </p:nvSpPr>
        <p:spPr>
          <a:xfrm>
            <a:off x="6600056" y="3333697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0" name="Espaço Reservado para Texto 12"/>
          <p:cNvSpPr>
            <a:spLocks noGrp="1"/>
          </p:cNvSpPr>
          <p:nvPr>
            <p:ph type="body" sz="quarter" idx="14" hasCustomPrompt="1"/>
          </p:nvPr>
        </p:nvSpPr>
        <p:spPr>
          <a:xfrm>
            <a:off x="1426369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2" name="Espaço Reservado para Texto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00056" y="4612333"/>
            <a:ext cx="4753744" cy="1025166"/>
          </a:xfrm>
          <a:noFill/>
          <a:ln w="3175">
            <a:solidFill>
              <a:schemeClr val="bg1">
                <a:lumMod val="75000"/>
              </a:schemeClr>
            </a:solidFill>
            <a:prstDash val="sysDash"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lang="pt-BR" sz="2600" b="1" smtClean="0">
                <a:solidFill>
                  <a:srgbClr val="000000"/>
                </a:solidFill>
              </a:defRPr>
            </a:lvl1pPr>
            <a:lvl2pPr>
              <a:defRPr lang="pt-BR" sz="2400" smtClean="0"/>
            </a:lvl2pPr>
            <a:lvl3pPr>
              <a:defRPr lang="pt-BR" sz="2100" smtClean="0"/>
            </a:lvl3pPr>
            <a:lvl4pPr>
              <a:defRPr lang="pt-BR" sz="1800" smtClean="0"/>
            </a:lvl4pPr>
            <a:lvl5pPr>
              <a:defRPr lang="pt-BR" sz="1800"/>
            </a:lvl5pPr>
          </a:lstStyle>
          <a:p>
            <a:pPr marL="243796" lvl="0" indent="-243796">
              <a:lnSpc>
                <a:spcPct val="113000"/>
              </a:lnSpc>
              <a:spcBef>
                <a:spcPts val="1050"/>
              </a:spcBef>
            </a:pPr>
            <a:r>
              <a:rPr lang="pt-BR" dirty="0"/>
              <a:t>Texto box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0" y="6621752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0" y="6470709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Retângulo 14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2686726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6" name="Retângulo 5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70777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paço com libr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 userDrawn="1"/>
        </p:nvSpPr>
        <p:spPr>
          <a:xfrm>
            <a:off x="0" y="6621101"/>
            <a:ext cx="12192000" cy="238058"/>
          </a:xfrm>
          <a:prstGeom prst="rect">
            <a:avLst/>
          </a:prstGeom>
          <a:solidFill>
            <a:srgbClr val="6CC1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0" name="Retângulo 9"/>
          <p:cNvSpPr/>
          <p:nvPr userDrawn="1"/>
        </p:nvSpPr>
        <p:spPr>
          <a:xfrm>
            <a:off x="0" y="6470058"/>
            <a:ext cx="12192000" cy="100453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1" name="Retângulo 10"/>
          <p:cNvSpPr/>
          <p:nvPr userDrawn="1"/>
        </p:nvSpPr>
        <p:spPr>
          <a:xfrm>
            <a:off x="3" y="514909"/>
            <a:ext cx="833839" cy="590071"/>
          </a:xfrm>
          <a:prstGeom prst="rect">
            <a:avLst/>
          </a:prstGeom>
          <a:solidFill>
            <a:srgbClr val="313F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/>
          </a:p>
        </p:txBody>
      </p:sp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833839" y="327805"/>
            <a:ext cx="10515600" cy="9613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200" b="1">
                <a:solidFill>
                  <a:srgbClr val="313F5C"/>
                </a:solidFill>
                <a:latin typeface="+mn-lt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069" y="3426942"/>
            <a:ext cx="4788931" cy="34418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6" name="Retângulo 15"/>
          <p:cNvSpPr/>
          <p:nvPr userDrawn="1"/>
        </p:nvSpPr>
        <p:spPr>
          <a:xfrm>
            <a:off x="8353869" y="4997810"/>
            <a:ext cx="2887332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350" dirty="0"/>
              <a:t>Área reservada para libras.</a:t>
            </a:r>
          </a:p>
        </p:txBody>
      </p:sp>
    </p:spTree>
    <p:extLst>
      <p:ext uri="{BB962C8B-B14F-4D97-AF65-F5344CB8AC3E}">
        <p14:creationId xmlns:p14="http://schemas.microsoft.com/office/powerpoint/2010/main" val="3660642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2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3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4BEED-8A68-4722-9E32-77B5A92D9FCF}" type="datetimeFigureOut">
              <a:rPr lang="pt-BR" smtClean="0"/>
              <a:t>06/03/2025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9AD03-B9AA-4AC4-8737-AAAAC545CE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4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30" r:id="rId15"/>
    <p:sldLayoutId id="214748373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89335E-A121-8842-85AC-B83750E5C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41138" y="1568237"/>
            <a:ext cx="9941731" cy="1702424"/>
          </a:xfrm>
        </p:spPr>
        <p:txBody>
          <a:bodyPr/>
          <a:lstStyle/>
          <a:p>
            <a:pPr algn="ctr"/>
            <a:r>
              <a:rPr lang="pt-BR" sz="4400" dirty="0"/>
              <a:t>Banco de Dados Não Relacional</a:t>
            </a:r>
          </a:p>
          <a:p>
            <a:pPr algn="ctr"/>
            <a:r>
              <a:rPr lang="pt-BR" sz="4400" dirty="0"/>
              <a:t>CRUD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D7575F-7300-F345-9C32-8CED948BD2B9}"/>
              </a:ext>
            </a:extLst>
          </p:cNvPr>
          <p:cNvSpPr txBox="1"/>
          <p:nvPr/>
        </p:nvSpPr>
        <p:spPr>
          <a:xfrm>
            <a:off x="3632198" y="4406030"/>
            <a:ext cx="5359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Prof. Thiago </a:t>
            </a:r>
            <a:r>
              <a:rPr lang="pt-BR" sz="4000" dirty="0" err="1"/>
              <a:t>Salhab</a:t>
            </a:r>
            <a:r>
              <a:rPr lang="pt-BR" sz="4000" dirty="0"/>
              <a:t> Alves</a:t>
            </a:r>
          </a:p>
        </p:txBody>
      </p:sp>
    </p:spTree>
    <p:extLst>
      <p:ext uri="{BB962C8B-B14F-4D97-AF65-F5344CB8AC3E}">
        <p14:creationId xmlns:p14="http://schemas.microsoft.com/office/powerpoint/2010/main" val="2776732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CRUD é uma sigla utilizada para manutenção de dados.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É a abreviação de </a:t>
            </a:r>
            <a:r>
              <a:rPr lang="pt-BR" sz="2800" dirty="0" err="1"/>
              <a:t>Create</a:t>
            </a:r>
            <a:r>
              <a:rPr lang="pt-BR" sz="2800" dirty="0"/>
              <a:t>, </a:t>
            </a:r>
            <a:r>
              <a:rPr lang="pt-BR" sz="2800" dirty="0" err="1"/>
              <a:t>Read</a:t>
            </a:r>
            <a:r>
              <a:rPr lang="pt-BR" sz="2800" dirty="0"/>
              <a:t>, Update </a:t>
            </a:r>
            <a:r>
              <a:rPr lang="pt-BR" sz="2800" dirty="0" err="1"/>
              <a:t>and</a:t>
            </a:r>
            <a:r>
              <a:rPr lang="pt-BR" sz="2800" dirty="0"/>
              <a:t> Delete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Onde:</a:t>
            </a:r>
          </a:p>
          <a:p>
            <a:pPr lvl="1">
              <a:lnSpc>
                <a:spcPct val="100000"/>
              </a:lnSpc>
            </a:pPr>
            <a:r>
              <a:rPr lang="pt-BR" sz="2600" dirty="0" err="1"/>
              <a:t>Create</a:t>
            </a:r>
            <a:r>
              <a:rPr lang="pt-BR" sz="2600" dirty="0"/>
              <a:t> – criação (inserção) de qualquer recurso (seja dados, </a:t>
            </a:r>
            <a:r>
              <a:rPr lang="pt-BR" sz="2600" dirty="0" err="1"/>
              <a:t>collections</a:t>
            </a:r>
            <a:r>
              <a:rPr lang="pt-BR" sz="2600" dirty="0"/>
              <a:t>, documentos, </a:t>
            </a:r>
            <a:r>
              <a:rPr lang="pt-BR" sz="2600" dirty="0" err="1"/>
              <a:t>etc</a:t>
            </a:r>
            <a:r>
              <a:rPr lang="pt-BR" sz="2600" dirty="0"/>
              <a:t>)</a:t>
            </a:r>
          </a:p>
          <a:p>
            <a:pPr lvl="2">
              <a:lnSpc>
                <a:spcPct val="100000"/>
              </a:lnSpc>
            </a:pPr>
            <a:r>
              <a:rPr lang="pt-BR" sz="2400" dirty="0"/>
              <a:t>Já vimos </a:t>
            </a:r>
            <a:r>
              <a:rPr lang="pt-BR" sz="2400" dirty="0" err="1"/>
              <a:t>insertOne</a:t>
            </a:r>
            <a:r>
              <a:rPr lang="pt-BR" sz="2400" dirty="0"/>
              <a:t> e </a:t>
            </a:r>
            <a:r>
              <a:rPr lang="pt-BR" sz="2400" dirty="0" err="1"/>
              <a:t>insertMany</a:t>
            </a:r>
            <a:endParaRPr lang="pt-BR" sz="2400" dirty="0"/>
          </a:p>
          <a:p>
            <a:pPr lvl="1">
              <a:lnSpc>
                <a:spcPct val="100000"/>
              </a:lnSpc>
            </a:pPr>
            <a:r>
              <a:rPr lang="pt-BR" sz="2600" dirty="0" err="1"/>
              <a:t>Read</a:t>
            </a:r>
            <a:r>
              <a:rPr lang="pt-BR" sz="2600" dirty="0"/>
              <a:t> – Leitura de qualquer tipo de recurso</a:t>
            </a:r>
          </a:p>
          <a:p>
            <a:pPr lvl="2">
              <a:lnSpc>
                <a:spcPct val="100000"/>
              </a:lnSpc>
            </a:pPr>
            <a:r>
              <a:rPr lang="pt-BR" sz="2400" dirty="0" err="1"/>
              <a:t>find</a:t>
            </a:r>
            <a:r>
              <a:rPr lang="pt-BR" sz="2400" dirty="0"/>
              <a:t> e </a:t>
            </a:r>
            <a:r>
              <a:rPr lang="pt-BR" sz="2400" dirty="0" err="1"/>
              <a:t>findOne</a:t>
            </a:r>
            <a:endParaRPr lang="pt-BR" sz="2400" dirty="0"/>
          </a:p>
          <a:p>
            <a:pPr lvl="1">
              <a:lnSpc>
                <a:spcPct val="100000"/>
              </a:lnSpc>
            </a:pPr>
            <a:r>
              <a:rPr lang="pt-BR" sz="2600" dirty="0"/>
              <a:t>Update – Alteração de um recurso</a:t>
            </a:r>
          </a:p>
          <a:p>
            <a:pPr lvl="1">
              <a:lnSpc>
                <a:spcPct val="100000"/>
              </a:lnSpc>
            </a:pPr>
            <a:r>
              <a:rPr lang="pt-BR" sz="2600" dirty="0"/>
              <a:t>Delete – Exclusão de recursos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</a:t>
            </a:r>
          </a:p>
        </p:txBody>
      </p:sp>
    </p:spTree>
    <p:extLst>
      <p:ext uri="{BB962C8B-B14F-4D97-AF65-F5344CB8AC3E}">
        <p14:creationId xmlns:p14="http://schemas.microsoft.com/office/powerpoint/2010/main" val="254928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fazer a alteração dos dados gravados podemos utilizar os comandos </a:t>
            </a:r>
            <a:r>
              <a:rPr lang="pt-BR" sz="2800" dirty="0" err="1"/>
              <a:t>updateOne</a:t>
            </a:r>
            <a:r>
              <a:rPr lang="pt-BR" sz="2800" dirty="0"/>
              <a:t> (altera um documento) ou </a:t>
            </a:r>
            <a:r>
              <a:rPr lang="pt-BR" sz="2800" dirty="0" err="1"/>
              <a:t>updateMany</a:t>
            </a:r>
            <a:r>
              <a:rPr lang="pt-BR" sz="2800" dirty="0"/>
              <a:t> (altera vários documentos) 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Primeiro vamos procurar um documento que exista:</a:t>
            </a:r>
            <a:endParaRPr lang="pt-BR" sz="26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2D9A22-7BDA-44E8-96AA-C8018F40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26" y="3658563"/>
            <a:ext cx="7203540" cy="229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27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Agora vamos incluir um atributo celular nesse documento:</a:t>
            </a: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  <a:p>
            <a:pPr>
              <a:lnSpc>
                <a:spcPct val="100000"/>
              </a:lnSpc>
            </a:pPr>
            <a:r>
              <a:rPr lang="pt-BR" dirty="0"/>
              <a:t>Note que o primeiro parâmetro filtra qual documento queremos alterar</a:t>
            </a:r>
          </a:p>
          <a:p>
            <a:pPr>
              <a:lnSpc>
                <a:spcPct val="100000"/>
              </a:lnSpc>
            </a:pPr>
            <a:endParaRPr lang="pt-BR" sz="1600" dirty="0"/>
          </a:p>
          <a:p>
            <a:pPr>
              <a:lnSpc>
                <a:spcPct val="100000"/>
              </a:lnSpc>
            </a:pPr>
            <a:r>
              <a:rPr lang="pt-BR" dirty="0"/>
              <a:t>O segundo parâmetro são os novos dados que serão gravados na </a:t>
            </a:r>
            <a:r>
              <a:rPr lang="pt-BR" dirty="0" err="1"/>
              <a:t>collection</a:t>
            </a:r>
            <a:endParaRPr lang="pt-BR" dirty="0"/>
          </a:p>
          <a:p>
            <a:pPr lvl="1">
              <a:lnSpc>
                <a:spcPct val="100000"/>
              </a:lnSpc>
            </a:pPr>
            <a:r>
              <a:rPr lang="pt-BR" sz="2400" dirty="0"/>
              <a:t>O operados </a:t>
            </a:r>
            <a:r>
              <a:rPr lang="pt-BR" sz="2400" b="1" dirty="0"/>
              <a:t>$set </a:t>
            </a:r>
            <a:r>
              <a:rPr lang="pt-BR" sz="2400" dirty="0"/>
              <a:t>indica os atributos e valores que devem ser alterados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60E1EE0-8830-4CBA-A6E7-93A0F9981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618" y="2039835"/>
            <a:ext cx="8477769" cy="1804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3E039F2-4F64-468A-B233-B9512C4AD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598" y="4474350"/>
            <a:ext cx="809738" cy="23815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69B4996-2F41-4898-936A-DF9AAD622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331" y="5865794"/>
            <a:ext cx="2896004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Repare que se rodarmos novamente tentando alterar para o mesmo valor que já colocamos, ele não faz a alteração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 err="1"/>
              <a:t>matchedCount</a:t>
            </a:r>
            <a:r>
              <a:rPr lang="pt-BR" sz="2800" dirty="0"/>
              <a:t> indica quantos registros foram encontrados</a:t>
            </a:r>
          </a:p>
          <a:p>
            <a:pPr>
              <a:lnSpc>
                <a:spcPct val="100000"/>
              </a:lnSpc>
            </a:pPr>
            <a:r>
              <a:rPr lang="pt-BR" sz="2800" dirty="0" err="1"/>
              <a:t>modifiedCount</a:t>
            </a:r>
            <a:r>
              <a:rPr lang="pt-BR" sz="2800" dirty="0"/>
              <a:t> indica quantos foram alterados</a:t>
            </a: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76207DE-6F1A-43CF-A645-E44D6CC84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081" y="2554183"/>
            <a:ext cx="7928306" cy="178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Vamos ver um exemplo onde ele encontra mais de um documento, para isso cadastrei dois documentos com idades iguais:</a:t>
            </a:r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7C59CD-DE61-4A98-9B9E-CA8553AEB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101" y="2603838"/>
            <a:ext cx="5051698" cy="353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09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Vamos inserir uma cidade nos documentos de idade igual a 23 utilizando o </a:t>
            </a:r>
            <a:r>
              <a:rPr lang="pt-BR" sz="2800" dirty="0" err="1"/>
              <a:t>updateOne</a:t>
            </a:r>
            <a:r>
              <a:rPr lang="pt-BR" sz="2800" dirty="0"/>
              <a:t>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Apesar de termos dois documentos que atende ao filtro (idade 23), apenas um foi modificado pois o comando </a:t>
            </a:r>
            <a:r>
              <a:rPr lang="pt-BR" sz="2800" dirty="0" err="1"/>
              <a:t>updateOne</a:t>
            </a:r>
            <a:r>
              <a:rPr lang="pt-BR" sz="2800" dirty="0"/>
              <a:t> só faz no primeiro documento encontrado.</a:t>
            </a:r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9354BF-A643-475D-A839-00A6C532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313" y="2411309"/>
            <a:ext cx="8809169" cy="212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02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executar uma atualização em mais de um documento ao mesmo tempo precisamos utilizar o comando </a:t>
            </a:r>
            <a:r>
              <a:rPr lang="pt-BR" sz="2800" dirty="0" err="1"/>
              <a:t>updateMany</a:t>
            </a:r>
            <a:r>
              <a:rPr lang="pt-BR" sz="2800" dirty="0"/>
              <a:t>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/>
              <a:t>Ele encontrou os dois documentos (</a:t>
            </a:r>
            <a:r>
              <a:rPr lang="pt-BR" sz="2800" dirty="0" err="1"/>
              <a:t>matchedCount</a:t>
            </a:r>
            <a:r>
              <a:rPr lang="pt-BR" sz="2800" dirty="0"/>
              <a:t>) mas só modificou um porque no comando anterior já havíamos colocado a cidade Limeira no documento, e o </a:t>
            </a:r>
            <a:r>
              <a:rPr lang="pt-BR" sz="2800" dirty="0" err="1"/>
              <a:t>MongoDB</a:t>
            </a:r>
            <a:r>
              <a:rPr lang="pt-BR" sz="2800" dirty="0"/>
              <a:t> não faz alteração para o mesmo valor que já esta no campo.</a:t>
            </a:r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7796A09-B220-4742-81D2-9B1DF0BC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55" y="2400837"/>
            <a:ext cx="8607568" cy="205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73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Vamos colocar uma cidade diferente para que ele altere os dois documentos ao mesmo tempo: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246D5F7-6994-4E24-BEF9-AB318A8C2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72" y="2804064"/>
            <a:ext cx="8144098" cy="18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82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alterar mais de um atributo ao mesmo tempo, basta separa-los com virgula: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Update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8DC850-8AB1-4607-999B-E05FEF5EA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470" y="2870681"/>
            <a:ext cx="10202269" cy="181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32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 err="1"/>
              <a:t>Alem</a:t>
            </a:r>
            <a:r>
              <a:rPr lang="pt-BR" sz="2800" dirty="0"/>
              <a:t> dos comandos para update temos o </a:t>
            </a:r>
            <a:r>
              <a:rPr lang="pt-BR" sz="2800" dirty="0" err="1"/>
              <a:t>replaceOne</a:t>
            </a:r>
            <a:r>
              <a:rPr lang="pt-BR" sz="2800" dirty="0"/>
              <a:t> e o </a:t>
            </a:r>
            <a:r>
              <a:rPr lang="pt-BR" sz="2800" dirty="0" err="1"/>
              <a:t>replaceMany</a:t>
            </a:r>
            <a:r>
              <a:rPr lang="pt-BR" sz="2800" dirty="0"/>
              <a:t> cuja diferença em relação aos update é que ele troca todo o conteúdo dos documentos selecionados pelo novo valor informado.</a:t>
            </a:r>
          </a:p>
          <a:p>
            <a:pPr>
              <a:lnSpc>
                <a:spcPct val="100000"/>
              </a:lnSpc>
            </a:pPr>
            <a:r>
              <a:rPr lang="pt-BR" sz="2800" dirty="0"/>
              <a:t>Vamos ver o conteúdo de um documento: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</a:t>
            </a:r>
            <a:r>
              <a:rPr lang="pt-BR" dirty="0" err="1"/>
              <a:t>replace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454F7FB-B865-4853-A22C-E2D6AD875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219" y="3800594"/>
            <a:ext cx="6034386" cy="251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50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Agora vamos dar um </a:t>
            </a:r>
            <a:r>
              <a:rPr lang="pt-BR" sz="2800" dirty="0" err="1"/>
              <a:t>replace</a:t>
            </a:r>
            <a:r>
              <a:rPr lang="pt-BR" sz="2800" dirty="0"/>
              <a:t> no documento visualizado:</a:t>
            </a:r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dirty="0"/>
              <a:t>Note que o </a:t>
            </a:r>
            <a:r>
              <a:rPr lang="pt-BR" dirty="0" err="1"/>
              <a:t>replace</a:t>
            </a:r>
            <a:r>
              <a:rPr lang="pt-BR" dirty="0"/>
              <a:t> não precisa do operador $set</a:t>
            </a:r>
          </a:p>
          <a:p>
            <a:pPr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endParaRPr lang="pt-BR" dirty="0"/>
          </a:p>
          <a:p>
            <a:pPr>
              <a:lnSpc>
                <a:spcPct val="100000"/>
              </a:lnSpc>
            </a:pPr>
            <a:r>
              <a:rPr lang="pt-BR" dirty="0"/>
              <a:t>Todo o conteúdo do documento foi </a:t>
            </a:r>
            <a:r>
              <a:rPr lang="pt-BR" dirty="0" err="1"/>
              <a:t>substituido</a:t>
            </a:r>
            <a:endParaRPr lang="pt-BR" dirty="0"/>
          </a:p>
          <a:p>
            <a:pPr>
              <a:lnSpc>
                <a:spcPct val="100000"/>
              </a:lnSpc>
            </a:pPr>
            <a:endParaRPr lang="pt-BR" sz="28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</a:t>
            </a:r>
            <a:r>
              <a:rPr lang="pt-BR" dirty="0" err="1"/>
              <a:t>replace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6B5E05-536D-456B-BD82-337EE5D2D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35" y="1978460"/>
            <a:ext cx="5977049" cy="145054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6BA31B8-6672-4948-A130-9C05C93EB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504" y="4266633"/>
            <a:ext cx="4251420" cy="74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1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Para excluir documentos utilizamos os comandos </a:t>
            </a:r>
            <a:r>
              <a:rPr lang="pt-BR" sz="2800" dirty="0" err="1"/>
              <a:t>deleteOne</a:t>
            </a:r>
            <a:r>
              <a:rPr lang="pt-BR" sz="2800" dirty="0"/>
              <a:t> ou </a:t>
            </a:r>
            <a:r>
              <a:rPr lang="pt-BR" sz="2800" dirty="0" err="1"/>
              <a:t>deleteMany</a:t>
            </a:r>
            <a:endParaRPr lang="pt-BR" sz="2800" dirty="0"/>
          </a:p>
          <a:p>
            <a:pPr>
              <a:lnSpc>
                <a:spcPct val="100000"/>
              </a:lnSpc>
            </a:pPr>
            <a:r>
              <a:rPr lang="pt-BR" sz="2800" dirty="0" err="1"/>
              <a:t>deleteMany</a:t>
            </a:r>
            <a:r>
              <a:rPr lang="pt-BR" sz="2800" dirty="0"/>
              <a:t> – exclui todos os documentos que atendem ao filtro informado</a:t>
            </a:r>
          </a:p>
          <a:p>
            <a:pPr>
              <a:lnSpc>
                <a:spcPct val="100000"/>
              </a:lnSpc>
            </a:pPr>
            <a:r>
              <a:rPr lang="pt-BR" sz="2800" dirty="0" err="1"/>
              <a:t>deleteOne</a:t>
            </a:r>
            <a:r>
              <a:rPr lang="pt-BR" sz="2800" dirty="0"/>
              <a:t> – exclui apenas o primeiro </a:t>
            </a:r>
            <a:r>
              <a:rPr lang="pt-BR" sz="2800" dirty="0" err="1"/>
              <a:t>regsitro</a:t>
            </a:r>
            <a:r>
              <a:rPr lang="pt-BR" sz="2800" dirty="0"/>
              <a:t> encontrado que atende ao filtro informado</a:t>
            </a:r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Delete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DCCB639-0F1A-4E98-99C9-0739CE97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265" y="4726487"/>
            <a:ext cx="7067389" cy="9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35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pt-BR" sz="2800" dirty="0"/>
              <a:t>Adicionar documentos</a:t>
            </a:r>
          </a:p>
          <a:p>
            <a:pPr lvl="1">
              <a:lnSpc>
                <a:spcPct val="100000"/>
              </a:lnSpc>
            </a:pPr>
            <a:r>
              <a:rPr lang="pt-BR" sz="2400" dirty="0" err="1"/>
              <a:t>insertOne</a:t>
            </a:r>
            <a:r>
              <a:rPr lang="pt-BR" sz="2400" dirty="0"/>
              <a:t> – </a:t>
            </a:r>
            <a:r>
              <a:rPr lang="pt-BR" sz="2400" dirty="0" err="1"/>
              <a:t>insertMany</a:t>
            </a:r>
            <a:endParaRPr lang="pt-BR" sz="2400" dirty="0"/>
          </a:p>
          <a:p>
            <a:pPr>
              <a:lnSpc>
                <a:spcPct val="100000"/>
              </a:lnSpc>
            </a:pPr>
            <a:r>
              <a:rPr lang="pt-BR" sz="2800" dirty="0"/>
              <a:t>Localizar documentos</a:t>
            </a:r>
          </a:p>
          <a:p>
            <a:pPr lvl="1">
              <a:lnSpc>
                <a:spcPct val="100000"/>
              </a:lnSpc>
            </a:pPr>
            <a:r>
              <a:rPr lang="pt-BR" sz="2400" dirty="0" err="1"/>
              <a:t>find</a:t>
            </a:r>
            <a:r>
              <a:rPr lang="pt-BR" sz="2400" dirty="0"/>
              <a:t> – </a:t>
            </a:r>
            <a:r>
              <a:rPr lang="pt-BR" sz="2400" dirty="0" err="1"/>
              <a:t>findOne</a:t>
            </a:r>
            <a:endParaRPr lang="pt-BR" sz="2400" dirty="0"/>
          </a:p>
          <a:p>
            <a:pPr>
              <a:lnSpc>
                <a:spcPct val="100000"/>
              </a:lnSpc>
            </a:pPr>
            <a:r>
              <a:rPr lang="pt-BR" sz="2800" dirty="0"/>
              <a:t>Editar documentos</a:t>
            </a:r>
          </a:p>
          <a:p>
            <a:pPr lvl="1">
              <a:lnSpc>
                <a:spcPct val="100000"/>
              </a:lnSpc>
            </a:pPr>
            <a:r>
              <a:rPr lang="pt-BR" sz="2400" dirty="0" err="1"/>
              <a:t>updateOne</a:t>
            </a:r>
            <a:r>
              <a:rPr lang="pt-BR" sz="2400" dirty="0"/>
              <a:t> – </a:t>
            </a:r>
            <a:r>
              <a:rPr lang="pt-BR" sz="2400" dirty="0" err="1"/>
              <a:t>updateMany</a:t>
            </a:r>
            <a:endParaRPr lang="pt-BR" sz="2400" dirty="0"/>
          </a:p>
          <a:p>
            <a:pPr>
              <a:lnSpc>
                <a:spcPct val="100000"/>
              </a:lnSpc>
            </a:pPr>
            <a:r>
              <a:rPr lang="pt-BR" sz="2800" dirty="0"/>
              <a:t>Substituir documentos</a:t>
            </a:r>
          </a:p>
          <a:p>
            <a:pPr lvl="1">
              <a:lnSpc>
                <a:spcPct val="100000"/>
              </a:lnSpc>
            </a:pPr>
            <a:r>
              <a:rPr lang="pt-BR" sz="2400" dirty="0" err="1"/>
              <a:t>replaceOne</a:t>
            </a:r>
            <a:r>
              <a:rPr lang="pt-BR" sz="2400" dirty="0"/>
              <a:t> – </a:t>
            </a:r>
            <a:r>
              <a:rPr lang="pt-BR" sz="2400" dirty="0" err="1"/>
              <a:t>replaceMany</a:t>
            </a:r>
            <a:endParaRPr lang="pt-BR" sz="2400" dirty="0"/>
          </a:p>
          <a:p>
            <a:pPr>
              <a:lnSpc>
                <a:spcPct val="100000"/>
              </a:lnSpc>
            </a:pPr>
            <a:r>
              <a:rPr lang="pt-BR" sz="2800" dirty="0"/>
              <a:t>Excluir documento</a:t>
            </a:r>
          </a:p>
          <a:p>
            <a:pPr lvl="1">
              <a:lnSpc>
                <a:spcPct val="100000"/>
              </a:lnSpc>
            </a:pPr>
            <a:r>
              <a:rPr lang="pt-BR" sz="2400" dirty="0" err="1"/>
              <a:t>deleteOne</a:t>
            </a:r>
            <a:r>
              <a:rPr lang="pt-BR" sz="2400" dirty="0"/>
              <a:t> - </a:t>
            </a:r>
            <a:r>
              <a:rPr lang="pt-BR" sz="2400" dirty="0" err="1"/>
              <a:t>deleteMany</a:t>
            </a:r>
            <a:endParaRPr lang="pt-BR" sz="24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2200" dirty="0"/>
          </a:p>
          <a:p>
            <a:pPr>
              <a:lnSpc>
                <a:spcPct val="100000"/>
              </a:lnSpc>
            </a:pPr>
            <a:endParaRPr lang="pt-BR" sz="7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CRUD - Resumo</a:t>
            </a:r>
          </a:p>
        </p:txBody>
      </p:sp>
    </p:spTree>
    <p:extLst>
      <p:ext uri="{BB962C8B-B14F-4D97-AF65-F5344CB8AC3E}">
        <p14:creationId xmlns:p14="http://schemas.microsoft.com/office/powerpoint/2010/main" val="420142850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1201</TotalTime>
  <Words>502</Words>
  <Application>Microsoft Macintosh PowerPoint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1_Tema do Office</vt:lpstr>
      <vt:lpstr>Apresentação do PowerPoint</vt:lpstr>
      <vt:lpstr>CRUD</vt:lpstr>
      <vt:lpstr>CRUD - Update</vt:lpstr>
      <vt:lpstr>CRUD - Update</vt:lpstr>
      <vt:lpstr>CRUD - Update</vt:lpstr>
      <vt:lpstr>CRUD - Update</vt:lpstr>
      <vt:lpstr>CRUD - Update</vt:lpstr>
      <vt:lpstr>CRUD - Update</vt:lpstr>
      <vt:lpstr>CRUD - Update</vt:lpstr>
      <vt:lpstr>CRUD - Update</vt:lpstr>
      <vt:lpstr>CRUD - replace</vt:lpstr>
      <vt:lpstr>CRUD - replace</vt:lpstr>
      <vt:lpstr>CRUD - Delete</vt:lpstr>
      <vt:lpstr>CRUD - Resumo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Salhab Alves</dc:creator>
  <cp:lastModifiedBy>THIAGO</cp:lastModifiedBy>
  <cp:revision>29</cp:revision>
  <dcterms:created xsi:type="dcterms:W3CDTF">2019-06-26T14:54:25Z</dcterms:created>
  <dcterms:modified xsi:type="dcterms:W3CDTF">2025-03-07T01:36:31Z</dcterms:modified>
</cp:coreProperties>
</file>