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85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77"/>
    <p:restoredTop sz="91358"/>
  </p:normalViewPr>
  <p:slideViewPr>
    <p:cSldViewPr snapToGrid="0" snapToObjects="1">
      <p:cViewPr varScale="1">
        <p:scale>
          <a:sx n="115" d="100"/>
          <a:sy n="115" d="100"/>
        </p:scale>
        <p:origin x="6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8" t="8122" b="4060"/>
          <a:stretch/>
        </p:blipFill>
        <p:spPr>
          <a:xfrm>
            <a:off x="0" y="1246910"/>
            <a:ext cx="12192000" cy="5650579"/>
          </a:xfrm>
          <a:prstGeom prst="rect">
            <a:avLst/>
          </a:prstGeom>
        </p:spPr>
      </p:pic>
      <p:sp>
        <p:nvSpPr>
          <p:cNvPr id="9" name="Retângulo 8"/>
          <p:cNvSpPr/>
          <p:nvPr userDrawn="1"/>
        </p:nvSpPr>
        <p:spPr>
          <a:xfrm>
            <a:off x="0" y="4"/>
            <a:ext cx="12192000" cy="612949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10" name="Retângulo 9"/>
          <p:cNvSpPr/>
          <p:nvPr userDrawn="1"/>
        </p:nvSpPr>
        <p:spPr>
          <a:xfrm>
            <a:off x="0" y="612949"/>
            <a:ext cx="12192000" cy="633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pic>
        <p:nvPicPr>
          <p:cNvPr id="17" name="Imagem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47" y="747161"/>
            <a:ext cx="343903" cy="267584"/>
          </a:xfrm>
          <a:prstGeom prst="rect">
            <a:avLst/>
          </a:prstGeom>
        </p:spPr>
      </p:pic>
      <p:sp>
        <p:nvSpPr>
          <p:cNvPr id="11" name="Retângulo 10"/>
          <p:cNvSpPr/>
          <p:nvPr userDrawn="1"/>
        </p:nvSpPr>
        <p:spPr>
          <a:xfrm>
            <a:off x="0" y="1266572"/>
            <a:ext cx="12192000" cy="5611091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12" name="Retângulo 8"/>
          <p:cNvSpPr/>
          <p:nvPr userDrawn="1"/>
        </p:nvSpPr>
        <p:spPr>
          <a:xfrm>
            <a:off x="0" y="1148708"/>
            <a:ext cx="6096000" cy="5709292"/>
          </a:xfrm>
          <a:custGeom>
            <a:avLst/>
            <a:gdLst>
              <a:gd name="connsiteX0" fmla="*/ 0 w 6096000"/>
              <a:gd name="connsiteY0" fmla="*/ 0 h 5709292"/>
              <a:gd name="connsiteX1" fmla="*/ 6096000 w 6096000"/>
              <a:gd name="connsiteY1" fmla="*/ 0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  <a:gd name="connsiteX0" fmla="*/ 0 w 6096000"/>
              <a:gd name="connsiteY0" fmla="*/ 0 h 5709292"/>
              <a:gd name="connsiteX1" fmla="*/ 2531918 w 6096000"/>
              <a:gd name="connsiteY1" fmla="*/ 31173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  <a:gd name="connsiteX0" fmla="*/ 0 w 6096000"/>
              <a:gd name="connsiteY0" fmla="*/ 0 h 5709292"/>
              <a:gd name="connsiteX1" fmla="*/ 2895600 w 6096000"/>
              <a:gd name="connsiteY1" fmla="*/ 10391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  <a:gd name="connsiteX0" fmla="*/ 0 w 6096000"/>
              <a:gd name="connsiteY0" fmla="*/ 0 h 5709292"/>
              <a:gd name="connsiteX1" fmla="*/ 2885210 w 6096000"/>
              <a:gd name="connsiteY1" fmla="*/ 0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5709292">
                <a:moveTo>
                  <a:pt x="0" y="0"/>
                </a:moveTo>
                <a:lnTo>
                  <a:pt x="2885210" y="0"/>
                </a:lnTo>
                <a:lnTo>
                  <a:pt x="6096000" y="5709292"/>
                </a:lnTo>
                <a:lnTo>
                  <a:pt x="0" y="5709292"/>
                </a:lnTo>
                <a:lnTo>
                  <a:pt x="0" y="0"/>
                </a:lnTo>
                <a:close/>
              </a:path>
            </a:pathLst>
          </a:cu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13" name="Retângulo 12"/>
          <p:cNvSpPr/>
          <p:nvPr userDrawn="1"/>
        </p:nvSpPr>
        <p:spPr>
          <a:xfrm>
            <a:off x="0" y="6316995"/>
            <a:ext cx="12192000" cy="156545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</p:spTree>
    <p:extLst>
      <p:ext uri="{BB962C8B-B14F-4D97-AF65-F5344CB8AC3E}">
        <p14:creationId xmlns:p14="http://schemas.microsoft.com/office/powerpoint/2010/main" val="4076070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Imagem 9"/>
          <p:cNvSpPr>
            <a:spLocks noGrp="1"/>
          </p:cNvSpPr>
          <p:nvPr>
            <p:ph type="pic" sz="quarter" idx="11"/>
          </p:nvPr>
        </p:nvSpPr>
        <p:spPr>
          <a:xfrm>
            <a:off x="6528050" y="1917585"/>
            <a:ext cx="4825753" cy="3743667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/>
            </a:lvl1pPr>
          </a:lstStyle>
          <a:p>
            <a:endParaRPr lang="pt-BR" dirty="0"/>
          </a:p>
        </p:txBody>
      </p:sp>
      <p:sp>
        <p:nvSpPr>
          <p:cNvPr id="10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6528048" y="5766104"/>
            <a:ext cx="4840053" cy="410863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2994" indent="0" algn="r">
              <a:lnSpc>
                <a:spcPct val="100000"/>
              </a:lnSpc>
              <a:spcBef>
                <a:spcPts val="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Fonte da imagem / ID da imagem</a:t>
            </a:r>
          </a:p>
        </p:txBody>
      </p:sp>
      <p:sp>
        <p:nvSpPr>
          <p:cNvPr id="11" name="Espaço Reservado para Texto 7"/>
          <p:cNvSpPr>
            <a:spLocks noGrp="1" noChangeAspect="1"/>
          </p:cNvSpPr>
          <p:nvPr>
            <p:ph type="body" sz="quarter" idx="14"/>
          </p:nvPr>
        </p:nvSpPr>
        <p:spPr>
          <a:xfrm>
            <a:off x="1415483" y="1514000"/>
            <a:ext cx="4741639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2"/>
          <p:cNvSpPr>
            <a:spLocks noGrp="1"/>
          </p:cNvSpPr>
          <p:nvPr>
            <p:ph type="body" sz="quarter" idx="15" hasCustomPrompt="1"/>
          </p:nvPr>
        </p:nvSpPr>
        <p:spPr>
          <a:xfrm>
            <a:off x="6528050" y="1514000"/>
            <a:ext cx="4825753" cy="40358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marR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pt-BR" sz="1800" b="1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marR="0" lvl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Figura X – Título da imagem</a:t>
            </a:r>
          </a:p>
        </p:txBody>
      </p:sp>
      <p:sp>
        <p:nvSpPr>
          <p:cNvPr id="12" name="Retângulo 11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6" name="Retângulo 15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7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874938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Imagem 9"/>
          <p:cNvSpPr>
            <a:spLocks noGrp="1"/>
          </p:cNvSpPr>
          <p:nvPr>
            <p:ph type="pic" sz="quarter" idx="16"/>
          </p:nvPr>
        </p:nvSpPr>
        <p:spPr>
          <a:xfrm>
            <a:off x="1313058" y="1917585"/>
            <a:ext cx="4825753" cy="3743667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/>
            </a:lvl1pPr>
          </a:lstStyle>
          <a:p>
            <a:endParaRPr lang="pt-BR" dirty="0"/>
          </a:p>
        </p:txBody>
      </p:sp>
      <p:sp>
        <p:nvSpPr>
          <p:cNvPr id="10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313056" y="5766104"/>
            <a:ext cx="4840053" cy="410863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2994" indent="0" algn="r">
              <a:lnSpc>
                <a:spcPct val="100000"/>
              </a:lnSpc>
              <a:spcBef>
                <a:spcPts val="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Fonte da imagem / ID da imagem</a:t>
            </a:r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7"/>
          </p:nvPr>
        </p:nvSpPr>
        <p:spPr>
          <a:xfrm>
            <a:off x="6528050" y="1514000"/>
            <a:ext cx="4741639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6" name="Espaço Reservado para Texto 2"/>
          <p:cNvSpPr>
            <a:spLocks noGrp="1"/>
          </p:cNvSpPr>
          <p:nvPr>
            <p:ph type="body" sz="quarter" idx="18" hasCustomPrompt="1"/>
          </p:nvPr>
        </p:nvSpPr>
        <p:spPr>
          <a:xfrm>
            <a:off x="1313058" y="1514000"/>
            <a:ext cx="4825753" cy="40358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marR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pt-BR" sz="1800" b="1" baseline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marR="0" lvl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 err="1"/>
              <a:t>FiguraX</a:t>
            </a:r>
            <a:r>
              <a:rPr lang="pt-BR" dirty="0"/>
              <a:t> – Título da imagem</a:t>
            </a:r>
          </a:p>
        </p:txBody>
      </p:sp>
      <p:sp>
        <p:nvSpPr>
          <p:cNvPr id="11" name="Retângulo 10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Retângulo 11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818451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Imagem Abaix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69" y="1510552"/>
            <a:ext cx="9941731" cy="1702424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0" name="Espaço Reservado para Imagem 9"/>
          <p:cNvSpPr>
            <a:spLocks noGrp="1"/>
          </p:cNvSpPr>
          <p:nvPr>
            <p:ph type="pic" sz="quarter" idx="11"/>
          </p:nvPr>
        </p:nvSpPr>
        <p:spPr>
          <a:xfrm>
            <a:off x="1426369" y="3761401"/>
            <a:ext cx="9941731" cy="1976745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/>
            </a:lvl1pPr>
          </a:lstStyle>
          <a:p>
            <a:endParaRPr lang="pt-BR" dirty="0"/>
          </a:p>
        </p:txBody>
      </p:sp>
      <p:sp>
        <p:nvSpPr>
          <p:cNvPr id="12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426369" y="5837705"/>
            <a:ext cx="9941731" cy="410863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indent="-243796" algn="r">
              <a:lnSpc>
                <a:spcPct val="113000"/>
              </a:lnSpc>
              <a:spcBef>
                <a:spcPts val="105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Fonte da imagem / ID da imagem</a:t>
            </a:r>
          </a:p>
        </p:txBody>
      </p:sp>
      <p:sp>
        <p:nvSpPr>
          <p:cNvPr id="15" name="Espaço Reservado para Texto 2"/>
          <p:cNvSpPr>
            <a:spLocks noGrp="1"/>
          </p:cNvSpPr>
          <p:nvPr>
            <p:ph type="body" sz="quarter" idx="15" hasCustomPrompt="1"/>
          </p:nvPr>
        </p:nvSpPr>
        <p:spPr>
          <a:xfrm>
            <a:off x="1426369" y="3356585"/>
            <a:ext cx="9941731" cy="40358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marR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pt-BR" sz="1800" b="1" baseline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marR="0" lvl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Figura X – Título da imagem</a:t>
            </a:r>
          </a:p>
        </p:txBody>
      </p:sp>
      <p:sp>
        <p:nvSpPr>
          <p:cNvPr id="11" name="Retângulo 10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4" name="Retângulo 13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9682E8C-4205-C8EF-3E8D-1DA554B065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0755" y="223756"/>
            <a:ext cx="2483556" cy="71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89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022315" y="1775064"/>
            <a:ext cx="4725816" cy="4136845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1"/>
          </p:nvPr>
        </p:nvSpPr>
        <p:spPr>
          <a:xfrm>
            <a:off x="6217436" y="1734213"/>
            <a:ext cx="4725816" cy="4129759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2A86D0E-24D4-FCAB-2A5E-DCD1F946E9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0755" y="223756"/>
            <a:ext cx="2483556" cy="71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764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Box 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910208" y="1510552"/>
            <a:ext cx="4741639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1"/>
          </p:nvPr>
        </p:nvSpPr>
        <p:spPr>
          <a:xfrm>
            <a:off x="6096002" y="1517662"/>
            <a:ext cx="4741639" cy="4143586"/>
          </a:xfrm>
          <a:solidFill>
            <a:schemeClr val="bg1">
              <a:lumMod val="75000"/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99758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Destaqu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838203" y="1712167"/>
            <a:ext cx="4741639" cy="4150696"/>
          </a:xfrm>
          <a:solidFill>
            <a:schemeClr val="bg1">
              <a:lumMod val="75000"/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1"/>
          </p:nvPr>
        </p:nvSpPr>
        <p:spPr>
          <a:xfrm>
            <a:off x="6023995" y="1719277"/>
            <a:ext cx="4741639" cy="414358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006853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5"/>
            <a:ext cx="9927431" cy="4510737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8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7F787C5-0F55-9774-0210-5B3FA119CD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0755" y="223756"/>
            <a:ext cx="2483556" cy="71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111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Referênc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2"/>
            <a:ext cx="9927431" cy="4155038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426371" y="5665590"/>
            <a:ext cx="9927431" cy="504056"/>
          </a:xfrm>
        </p:spPr>
        <p:txBody>
          <a:bodyPr vert="horz" lIns="91440" tIns="45720" rIns="91440" bIns="45720" rtlCol="0">
            <a:noAutofit/>
          </a:bodyPr>
          <a:lstStyle>
            <a:lvl1pPr marL="0" indent="0" algn="r">
              <a:lnSpc>
                <a:spcPct val="113000"/>
              </a:lnSpc>
              <a:spcBef>
                <a:spcPts val="105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Referência do texto</a:t>
            </a:r>
          </a:p>
        </p:txBody>
      </p:sp>
      <p:sp>
        <p:nvSpPr>
          <p:cNvPr id="12" name="Retângulo 11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4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178969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Retângulo 11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838202" y="1454473"/>
            <a:ext cx="9927431" cy="1198368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611319" y="5691734"/>
            <a:ext cx="9152756" cy="574368"/>
          </a:xfrm>
        </p:spPr>
        <p:txBody>
          <a:bodyPr vert="horz" lIns="91440" tIns="45720" rIns="91440" bIns="45720" rtlCol="0">
            <a:noAutofit/>
          </a:bodyPr>
          <a:lstStyle>
            <a:lvl1pPr marL="0" indent="0" algn="r">
              <a:lnSpc>
                <a:spcPct val="113000"/>
              </a:lnSpc>
              <a:spcBef>
                <a:spcPts val="105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Referência da citação</a:t>
            </a:r>
          </a:p>
        </p:txBody>
      </p:sp>
      <p:sp>
        <p:nvSpPr>
          <p:cNvPr id="10" name="Espaço Reservado para Texto 2"/>
          <p:cNvSpPr>
            <a:spLocks noGrp="1"/>
          </p:cNvSpPr>
          <p:nvPr>
            <p:ph type="body" sz="quarter" idx="14" hasCustomPrompt="1"/>
          </p:nvPr>
        </p:nvSpPr>
        <p:spPr>
          <a:xfrm>
            <a:off x="1611319" y="2703439"/>
            <a:ext cx="9152756" cy="2915443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rgbClr val="000000"/>
                </a:solidFill>
              </a:defRPr>
            </a:lvl1pPr>
          </a:lstStyle>
          <a:p>
            <a:pPr lvl="0"/>
            <a:r>
              <a:rPr lang="pt-BR" dirty="0"/>
              <a:t>Clique para inserir citação.</a:t>
            </a:r>
          </a:p>
        </p:txBody>
      </p:sp>
      <p:sp>
        <p:nvSpPr>
          <p:cNvPr id="13" name="Retângulo 12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79149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Box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2"/>
            <a:ext cx="5029671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1" name="Espaço Reservado para Texto 12"/>
          <p:cNvSpPr>
            <a:spLocks noGrp="1"/>
          </p:cNvSpPr>
          <p:nvPr>
            <p:ph type="body" sz="quarter" idx="11" hasCustomPrompt="1"/>
          </p:nvPr>
        </p:nvSpPr>
        <p:spPr>
          <a:xfrm>
            <a:off x="6600057" y="1511346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lnSpc>
                <a:spcPct val="90000"/>
              </a:lnSpc>
              <a:spcBef>
                <a:spcPts val="750"/>
              </a:spcBef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7" name="Espaço Reservado para Texto 12"/>
          <p:cNvSpPr>
            <a:spLocks noGrp="1"/>
          </p:cNvSpPr>
          <p:nvPr>
            <p:ph type="body" sz="quarter" idx="12" hasCustomPrompt="1"/>
          </p:nvPr>
        </p:nvSpPr>
        <p:spPr>
          <a:xfrm>
            <a:off x="6600057" y="3073714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lnSpc>
                <a:spcPct val="90000"/>
              </a:lnSpc>
              <a:spcBef>
                <a:spcPts val="750"/>
              </a:spcBef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4" name="Espaço Reservado para Texto 12"/>
          <p:cNvSpPr>
            <a:spLocks noGrp="1"/>
          </p:cNvSpPr>
          <p:nvPr>
            <p:ph type="body" sz="quarter" idx="13" hasCustomPrompt="1"/>
          </p:nvPr>
        </p:nvSpPr>
        <p:spPr>
          <a:xfrm>
            <a:off x="6600057" y="4636082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lnSpc>
                <a:spcPct val="90000"/>
              </a:lnSpc>
              <a:spcBef>
                <a:spcPts val="750"/>
              </a:spcBef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0" name="Retângulo 9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Retângulo 11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5473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Box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2"/>
            <a:ext cx="9927431" cy="156316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1" name="Espaço Reservado para Texto 12"/>
          <p:cNvSpPr>
            <a:spLocks noGrp="1"/>
          </p:cNvSpPr>
          <p:nvPr>
            <p:ph type="body" sz="quarter" idx="11" hasCustomPrompt="1"/>
          </p:nvPr>
        </p:nvSpPr>
        <p:spPr>
          <a:xfrm>
            <a:off x="1426369" y="3333697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7" name="Espaço Reservado para Texto 12"/>
          <p:cNvSpPr>
            <a:spLocks noGrp="1"/>
          </p:cNvSpPr>
          <p:nvPr>
            <p:ph type="body" sz="quarter" idx="12" hasCustomPrompt="1"/>
          </p:nvPr>
        </p:nvSpPr>
        <p:spPr>
          <a:xfrm>
            <a:off x="6600056" y="3333697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0" name="Espaço Reservado para Texto 12"/>
          <p:cNvSpPr>
            <a:spLocks noGrp="1"/>
          </p:cNvSpPr>
          <p:nvPr>
            <p:ph type="body" sz="quarter" idx="14" hasCustomPrompt="1"/>
          </p:nvPr>
        </p:nvSpPr>
        <p:spPr>
          <a:xfrm>
            <a:off x="1426369" y="4612333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2" name="Espaço Reservado para Texto 12"/>
          <p:cNvSpPr>
            <a:spLocks noGrp="1"/>
          </p:cNvSpPr>
          <p:nvPr>
            <p:ph type="body" sz="quarter" idx="15" hasCustomPrompt="1"/>
          </p:nvPr>
        </p:nvSpPr>
        <p:spPr>
          <a:xfrm>
            <a:off x="6600056" y="4612333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3" name="Retângulo 12"/>
          <p:cNvSpPr/>
          <p:nvPr userDrawn="1"/>
        </p:nvSpPr>
        <p:spPr>
          <a:xfrm>
            <a:off x="0" y="6621752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4" name="Retângulo 13"/>
          <p:cNvSpPr/>
          <p:nvPr userDrawn="1"/>
        </p:nvSpPr>
        <p:spPr>
          <a:xfrm>
            <a:off x="0" y="6470709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Retângulo 14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9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2686726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v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707771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paço com libr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3069" y="3426942"/>
            <a:ext cx="4788931" cy="34418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16" name="Retângulo 15"/>
          <p:cNvSpPr/>
          <p:nvPr userDrawn="1"/>
        </p:nvSpPr>
        <p:spPr>
          <a:xfrm>
            <a:off x="8353869" y="4997810"/>
            <a:ext cx="2887332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350" dirty="0"/>
              <a:t>Área reservada para libras.</a:t>
            </a:r>
          </a:p>
        </p:txBody>
      </p:sp>
    </p:spTree>
    <p:extLst>
      <p:ext uri="{BB962C8B-B14F-4D97-AF65-F5344CB8AC3E}">
        <p14:creationId xmlns:p14="http://schemas.microsoft.com/office/powerpoint/2010/main" val="36606428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92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B4BEED-8A68-4722-9E32-77B5A92D9FCF}" type="datetimeFigureOut">
              <a:rPr lang="pt-BR" smtClean="0"/>
              <a:t>12/03/2026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69AD03-B9AA-4AC4-8737-AAAAC545CE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8471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30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tm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D89335E-A121-8842-85AC-B83750E5CF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1138" y="1568237"/>
            <a:ext cx="9941731" cy="1702424"/>
          </a:xfrm>
        </p:spPr>
        <p:txBody>
          <a:bodyPr/>
          <a:lstStyle/>
          <a:p>
            <a:pPr algn="ctr"/>
            <a:r>
              <a:rPr lang="pt-BR" sz="4400" dirty="0"/>
              <a:t>Banco de Dados Não Relacional</a:t>
            </a:r>
          </a:p>
          <a:p>
            <a:pPr algn="ctr"/>
            <a:r>
              <a:rPr lang="pt-BR" sz="4400" dirty="0" err="1"/>
              <a:t>Find</a:t>
            </a:r>
            <a:endParaRPr lang="pt-BR" sz="44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1D7575F-7300-F345-9C32-8CED948BD2B9}"/>
              </a:ext>
            </a:extLst>
          </p:cNvPr>
          <p:cNvSpPr txBox="1"/>
          <p:nvPr/>
        </p:nvSpPr>
        <p:spPr>
          <a:xfrm>
            <a:off x="3632198" y="4406030"/>
            <a:ext cx="5359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Prof. Thiago </a:t>
            </a:r>
            <a:r>
              <a:rPr lang="pt-BR" sz="4000" dirty="0" err="1"/>
              <a:t>Salhab</a:t>
            </a:r>
            <a:r>
              <a:rPr lang="pt-BR" sz="4000" dirty="0"/>
              <a:t> Alves</a:t>
            </a:r>
          </a:p>
        </p:txBody>
      </p:sp>
    </p:spTree>
    <p:extLst>
      <p:ext uri="{BB962C8B-B14F-4D97-AF65-F5344CB8AC3E}">
        <p14:creationId xmlns:p14="http://schemas.microsoft.com/office/powerpoint/2010/main" val="2776732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Para exibirmos os documentos gravados devemos utilizar os comandos </a:t>
            </a:r>
            <a:r>
              <a:rPr lang="pt-BR" sz="2800" dirty="0" err="1"/>
              <a:t>find</a:t>
            </a:r>
            <a:r>
              <a:rPr lang="pt-BR" sz="2800" dirty="0"/>
              <a:t> ou </a:t>
            </a:r>
            <a:r>
              <a:rPr lang="pt-BR" sz="2800" dirty="0" err="1"/>
              <a:t>findOne</a:t>
            </a:r>
            <a:r>
              <a:rPr lang="pt-BR" sz="2800" dirty="0"/>
              <a:t>, ambos tem praticamente a mesma estrutura, a diferença é que o </a:t>
            </a:r>
            <a:r>
              <a:rPr lang="pt-BR" sz="2800" dirty="0" err="1"/>
              <a:t>find</a:t>
            </a:r>
            <a:r>
              <a:rPr lang="pt-BR" sz="2800" dirty="0"/>
              <a:t> retorna todos os documentos que atendam o filtro informado e o </a:t>
            </a:r>
            <a:r>
              <a:rPr lang="pt-BR" sz="2800" dirty="0" err="1"/>
              <a:t>findOne</a:t>
            </a:r>
            <a:r>
              <a:rPr lang="pt-BR" sz="2800" dirty="0"/>
              <a:t> retorna apenas o primeiro documento encontrado.</a:t>
            </a:r>
          </a:p>
          <a:p>
            <a:pPr>
              <a:lnSpc>
                <a:spcPct val="100000"/>
              </a:lnSpc>
            </a:pPr>
            <a:r>
              <a:rPr lang="pt-BR" sz="2800" dirty="0"/>
              <a:t>Estrutura:</a:t>
            </a:r>
          </a:p>
          <a:p>
            <a:pPr lvl="1">
              <a:lnSpc>
                <a:spcPct val="100000"/>
              </a:lnSpc>
            </a:pPr>
            <a:r>
              <a:rPr lang="pt-BR" sz="2200" dirty="0" err="1"/>
              <a:t>Find</a:t>
            </a:r>
            <a:r>
              <a:rPr lang="pt-BR" sz="2200" dirty="0"/>
              <a:t>( {</a:t>
            </a:r>
            <a:r>
              <a:rPr lang="pt-BR" sz="22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filtro</a:t>
            </a:r>
            <a:r>
              <a:rPr lang="pt-BR" sz="2200" dirty="0"/>
              <a:t>}, {</a:t>
            </a:r>
            <a:r>
              <a:rPr lang="pt-BR" sz="22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campos</a:t>
            </a:r>
            <a:r>
              <a:rPr lang="pt-BR" sz="2200" dirty="0"/>
              <a:t>} )</a:t>
            </a:r>
          </a:p>
          <a:p>
            <a:pPr>
              <a:lnSpc>
                <a:spcPct val="100000"/>
              </a:lnSpc>
            </a:pPr>
            <a:r>
              <a:rPr lang="pt-BR" sz="2600" dirty="0"/>
              <a:t>Os campos devem ser seguidos do numero 1 indicando que é para exibir o mesmo, por padrão não precisamos colocar 0 nos campos que não desejamos exibir, a única exceção é o _id que sempre é exibido, a não ser que seja colocado um 0 na frente dele.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</a:t>
            </a:r>
            <a:r>
              <a:rPr lang="pt-BR" dirty="0" err="1"/>
              <a:t>Find</a:t>
            </a:r>
            <a:r>
              <a:rPr lang="pt-BR" dirty="0"/>
              <a:t> e </a:t>
            </a:r>
            <a:r>
              <a:rPr lang="pt-BR" dirty="0" err="1"/>
              <a:t>FindOne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49284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pt-BR" sz="2600" dirty="0"/>
              <a:t>Exibe  todos os campos do documento com _id igual a 7:</a:t>
            </a:r>
          </a:p>
          <a:p>
            <a:pPr>
              <a:lnSpc>
                <a:spcPct val="100000"/>
              </a:lnSpc>
            </a:pPr>
            <a:endParaRPr lang="pt-BR" sz="2600" dirty="0"/>
          </a:p>
          <a:p>
            <a:pPr>
              <a:lnSpc>
                <a:spcPct val="100000"/>
              </a:lnSpc>
            </a:pPr>
            <a:endParaRPr lang="pt-BR" sz="2600" dirty="0"/>
          </a:p>
          <a:p>
            <a:pPr>
              <a:lnSpc>
                <a:spcPct val="100000"/>
              </a:lnSpc>
            </a:pPr>
            <a:endParaRPr lang="pt-BR" sz="2600" dirty="0"/>
          </a:p>
          <a:p>
            <a:pPr>
              <a:lnSpc>
                <a:spcPct val="100000"/>
              </a:lnSpc>
            </a:pPr>
            <a:endParaRPr lang="pt-BR" sz="1200" dirty="0"/>
          </a:p>
          <a:p>
            <a:pPr>
              <a:lnSpc>
                <a:spcPct val="100000"/>
              </a:lnSpc>
            </a:pPr>
            <a:r>
              <a:rPr lang="pt-BR" sz="2600" dirty="0"/>
              <a:t>Exibe apenas o nome e o celular do documento com _id igual a 7</a:t>
            </a:r>
          </a:p>
          <a:p>
            <a:pPr lvl="1">
              <a:lnSpc>
                <a:spcPct val="100000"/>
              </a:lnSpc>
            </a:pPr>
            <a:r>
              <a:rPr lang="pt-BR" sz="2200" dirty="0"/>
              <a:t>Note que para não exibir o _id foi necessário colocar 0 na frente dele: </a:t>
            </a:r>
          </a:p>
          <a:p>
            <a:pPr lvl="1">
              <a:lnSpc>
                <a:spcPct val="100000"/>
              </a:lnSpc>
            </a:pPr>
            <a:endParaRPr lang="pt-BR" sz="2200" dirty="0"/>
          </a:p>
          <a:p>
            <a:pPr lvl="1">
              <a:lnSpc>
                <a:spcPct val="100000"/>
              </a:lnSpc>
            </a:pPr>
            <a:endParaRPr lang="pt-BR" dirty="0"/>
          </a:p>
          <a:p>
            <a:pPr lvl="1">
              <a:lnSpc>
                <a:spcPct val="100000"/>
              </a:lnSpc>
            </a:pPr>
            <a:r>
              <a:rPr lang="pt-BR" sz="2200" dirty="0"/>
              <a:t>Se não colocar _id: 0 ele aparece no resultado: 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</a:t>
            </a:r>
            <a:r>
              <a:rPr lang="pt-BR" dirty="0" err="1"/>
              <a:t>Find</a:t>
            </a:r>
            <a:r>
              <a:rPr lang="pt-BR" dirty="0"/>
              <a:t> e </a:t>
            </a:r>
            <a:r>
              <a:rPr lang="pt-BR" dirty="0" err="1"/>
              <a:t>FindOne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2270EF0-90EB-43D3-9999-63AE943BCF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45" r="1"/>
          <a:stretch/>
        </p:blipFill>
        <p:spPr>
          <a:xfrm>
            <a:off x="3843866" y="1917972"/>
            <a:ext cx="3032340" cy="179889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76CE0DD-F490-4839-9A3B-FF122ED3C2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8"/>
          <a:stretch/>
        </p:blipFill>
        <p:spPr>
          <a:xfrm>
            <a:off x="2937933" y="4692064"/>
            <a:ext cx="5808133" cy="58672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617DFC5-0F8B-4DD4-99E3-C8341CBD49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933" y="5878953"/>
            <a:ext cx="5808132" cy="62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975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Para retornar campos específicos de todos os documentos, basta deixar o filtro em branco:</a:t>
            </a:r>
            <a:endParaRPr lang="pt-BR" sz="26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</a:t>
            </a:r>
            <a:r>
              <a:rPr lang="pt-BR" dirty="0" err="1"/>
              <a:t>Find</a:t>
            </a:r>
            <a:r>
              <a:rPr lang="pt-BR" dirty="0"/>
              <a:t> e </a:t>
            </a:r>
            <a:r>
              <a:rPr lang="pt-BR" dirty="0" err="1"/>
              <a:t>FindOne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486D27F-C9F7-4892-BF72-D117DC6EC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671" y="2732516"/>
            <a:ext cx="6405056" cy="1805616"/>
          </a:xfrm>
          <a:prstGeom prst="rect">
            <a:avLst/>
          </a:prstGeom>
        </p:spPr>
      </p:pic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1D4B967D-B8B6-4ED6-8CB0-F64E71110ADA}"/>
              </a:ext>
            </a:extLst>
          </p:cNvPr>
          <p:cNvSpPr/>
          <p:nvPr/>
        </p:nvSpPr>
        <p:spPr>
          <a:xfrm rot="6896607">
            <a:off x="5337352" y="2145211"/>
            <a:ext cx="662417" cy="48260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5081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Se na busca estivermos trazendo apenas campos que não existem em todos os registros, os registros que não possuem o campo virão em branco, pois a única coisa que omite registros do resultado é o parâmetro de filtros:</a:t>
            </a:r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r>
              <a:rPr lang="pt-BR" sz="2800" dirty="0"/>
              <a:t>Para não exibir os registros que não contem o campo, podemos utilizar o operador $</a:t>
            </a:r>
            <a:r>
              <a:rPr lang="pt-BR" sz="2800" dirty="0" err="1"/>
              <a:t>exists</a:t>
            </a:r>
            <a:endParaRPr lang="pt-BR" sz="26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</a:t>
            </a:r>
            <a:r>
              <a:rPr lang="pt-BR" dirty="0" err="1"/>
              <a:t>Find</a:t>
            </a:r>
            <a:r>
              <a:rPr lang="pt-BR" dirty="0"/>
              <a:t> e </a:t>
            </a:r>
            <a:r>
              <a:rPr lang="pt-BR" dirty="0" err="1"/>
              <a:t>FindOne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373A88C-87A5-4C67-BA77-4BCF184F6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144" y="3303279"/>
            <a:ext cx="7013484" cy="719667"/>
          </a:xfrm>
          <a:prstGeom prst="rect">
            <a:avLst/>
          </a:prstGeom>
        </p:spPr>
      </p:pic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1D4B967D-B8B6-4ED6-8CB0-F64E71110ADA}"/>
              </a:ext>
            </a:extLst>
          </p:cNvPr>
          <p:cNvSpPr/>
          <p:nvPr/>
        </p:nvSpPr>
        <p:spPr>
          <a:xfrm rot="13871694">
            <a:off x="3433586" y="3781646"/>
            <a:ext cx="662417" cy="48260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1153BE2-848B-461C-9889-BD55C9343D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38"/>
          <a:stretch/>
        </p:blipFill>
        <p:spPr>
          <a:xfrm>
            <a:off x="1516020" y="5448649"/>
            <a:ext cx="8289576" cy="71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203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>
          <a:xfrm>
            <a:off x="966559" y="1343915"/>
            <a:ext cx="4725816" cy="413684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600" dirty="0"/>
              <a:t>O documento ao lado, contém um atributo “</a:t>
            </a:r>
            <a:r>
              <a:rPr lang="pt-BR" sz="2600" dirty="0" err="1"/>
              <a:t>materias</a:t>
            </a:r>
            <a:r>
              <a:rPr lang="pt-BR" sz="2600" dirty="0"/>
              <a:t>” que contem um objeto com disciplinas como atributos, e essas disciplinas contem um </a:t>
            </a:r>
            <a:r>
              <a:rPr lang="pt-BR" sz="2600" dirty="0" err="1"/>
              <a:t>array</a:t>
            </a:r>
            <a:r>
              <a:rPr lang="pt-BR" sz="2600" dirty="0"/>
              <a:t> de notas.			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7D6F6BEA-70F2-DB80-0FE3-44B31E514F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84259" y="1364120"/>
            <a:ext cx="4725816" cy="4129759"/>
          </a:xfrm>
        </p:spPr>
        <p:txBody>
          <a:bodyPr/>
          <a:lstStyle/>
          <a:p>
            <a:r>
              <a:rPr lang="pt-BR" dirty="0"/>
              <a:t>Para exibir apenas as matérias, utilizamos a seguinte query:</a:t>
            </a:r>
            <a:endParaRPr lang="pt-BR" sz="2200" dirty="0"/>
          </a:p>
          <a:p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</a:t>
            </a:r>
            <a:r>
              <a:rPr lang="pt-BR" dirty="0" err="1"/>
              <a:t>Find</a:t>
            </a:r>
            <a:r>
              <a:rPr lang="pt-BR" dirty="0"/>
              <a:t> e </a:t>
            </a:r>
            <a:r>
              <a:rPr lang="pt-BR" dirty="0" err="1"/>
              <a:t>FindOne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DDB4449-2419-462B-B197-961A17FC1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748" y="3891649"/>
            <a:ext cx="3810843" cy="244224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D649384A-B5BB-46EA-BC9B-5B50A09E0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620" y="2458844"/>
            <a:ext cx="4275667" cy="217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246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E se desejarmos exibir apenas uma das matérias?</a:t>
            </a:r>
          </a:p>
          <a:p>
            <a:pPr>
              <a:lnSpc>
                <a:spcPct val="100000"/>
              </a:lnSpc>
            </a:pPr>
            <a:r>
              <a:rPr lang="pt-BR" sz="2800" dirty="0"/>
              <a:t>Para isso devemos utilizar o nome do campo “pai” seguido do nome do campo “filho” separados com . e devemos obrigatoriamente utilizar as aspas:</a:t>
            </a:r>
            <a:endParaRPr lang="pt-BR" sz="26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</a:t>
            </a:r>
            <a:r>
              <a:rPr lang="pt-BR" dirty="0" err="1"/>
              <a:t>Find</a:t>
            </a:r>
            <a:r>
              <a:rPr lang="pt-BR" dirty="0"/>
              <a:t> e </a:t>
            </a:r>
            <a:r>
              <a:rPr lang="pt-BR" dirty="0" err="1"/>
              <a:t>FindOne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3D689E6-85B2-4506-A0EE-7A9272B3BA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2"/>
          <a:stretch/>
        </p:blipFill>
        <p:spPr>
          <a:xfrm>
            <a:off x="2565399" y="3666066"/>
            <a:ext cx="6786905" cy="121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643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Todo filtro nos comandos </a:t>
            </a:r>
            <a:r>
              <a:rPr lang="pt-BR" sz="2800" dirty="0" err="1"/>
              <a:t>find</a:t>
            </a:r>
            <a:r>
              <a:rPr lang="pt-BR" sz="2800" dirty="0"/>
              <a:t> e </a:t>
            </a:r>
            <a:r>
              <a:rPr lang="pt-BR" sz="2800" dirty="0" err="1"/>
              <a:t>findOne</a:t>
            </a:r>
            <a:r>
              <a:rPr lang="pt-BR" sz="2800" dirty="0"/>
              <a:t> devem conter um operador matemático (</a:t>
            </a:r>
            <a:r>
              <a:rPr lang="pt-BR" sz="2800" dirty="0" err="1"/>
              <a:t>ex</a:t>
            </a:r>
            <a:r>
              <a:rPr lang="pt-BR" sz="2800" dirty="0"/>
              <a:t>: = &gt; &lt;), mas no </a:t>
            </a:r>
            <a:r>
              <a:rPr lang="pt-BR" sz="2800" dirty="0" err="1"/>
              <a:t>MongoDB</a:t>
            </a:r>
            <a:r>
              <a:rPr lang="pt-BR" sz="2800" dirty="0"/>
              <a:t> não utilizamos o símbolo matemático mas sim um nome que foi atribuído ao operador.</a:t>
            </a:r>
          </a:p>
          <a:p>
            <a:pPr>
              <a:lnSpc>
                <a:spcPct val="100000"/>
              </a:lnSpc>
            </a:pPr>
            <a:r>
              <a:rPr lang="pt-BR" sz="2800" dirty="0"/>
              <a:t>Operador </a:t>
            </a:r>
            <a:r>
              <a:rPr lang="pt-BR" sz="2800" b="1" dirty="0"/>
              <a:t>igual a é </a:t>
            </a:r>
            <a:r>
              <a:rPr lang="pt-BR" sz="2800" dirty="0"/>
              <a:t>representado por </a:t>
            </a:r>
            <a:r>
              <a:rPr lang="pt-BR" sz="2800" b="1" dirty="0"/>
              <a:t>$</a:t>
            </a:r>
            <a:r>
              <a:rPr lang="pt-BR" sz="2800" b="1" dirty="0" err="1"/>
              <a:t>eq</a:t>
            </a:r>
            <a:r>
              <a:rPr lang="pt-BR" sz="2800" b="1" dirty="0"/>
              <a:t> </a:t>
            </a:r>
            <a:r>
              <a:rPr lang="pt-BR" sz="2800" dirty="0"/>
              <a:t>mas como a maioria das operações são de igualdade, esse operador é opcional, nós já fizemos buscas sem utilizar ele:</a:t>
            </a:r>
            <a:endParaRPr lang="pt-BR" sz="26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lógicos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74F0655-4A81-4125-9A69-E31C0FAC5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515" y="4666151"/>
            <a:ext cx="7143454" cy="78249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5B623C1-E4E8-4A11-A1A5-03439FEE2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515" y="5609129"/>
            <a:ext cx="7143454" cy="698138"/>
          </a:xfrm>
          <a:prstGeom prst="rect">
            <a:avLst/>
          </a:prstGeom>
        </p:spPr>
      </p:pic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1EDBEE4E-740E-42B3-B6DB-67B4012E8D58}"/>
              </a:ext>
            </a:extLst>
          </p:cNvPr>
          <p:cNvSpPr/>
          <p:nvPr/>
        </p:nvSpPr>
        <p:spPr>
          <a:xfrm rot="8656333">
            <a:off x="6145503" y="4342138"/>
            <a:ext cx="488725" cy="32706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88BCF2CC-123E-4415-AE4D-F60E5255161F}"/>
              </a:ext>
            </a:extLst>
          </p:cNvPr>
          <p:cNvSpPr/>
          <p:nvPr/>
        </p:nvSpPr>
        <p:spPr>
          <a:xfrm rot="7812942">
            <a:off x="6383533" y="5209450"/>
            <a:ext cx="488725" cy="32706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7223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Maior do que é representado pelo operador $</a:t>
            </a:r>
            <a:r>
              <a:rPr lang="pt-BR" sz="2800" dirty="0" err="1"/>
              <a:t>gt</a:t>
            </a:r>
            <a:r>
              <a:rPr lang="pt-BR" sz="2800" dirty="0"/>
              <a:t> </a:t>
            </a:r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r>
              <a:rPr lang="pt-BR" sz="2800" dirty="0"/>
              <a:t>Sem o filtro:</a:t>
            </a:r>
            <a:endParaRPr lang="pt-BR" sz="26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lógicos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A4B4A0F-C86A-4D02-9B7C-33CA367C2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705" y="2195446"/>
            <a:ext cx="6304829" cy="1233554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73B5802-05F0-406E-900D-E6F8B2617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705" y="4324776"/>
            <a:ext cx="6389495" cy="197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073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Menor do que é representado pelo operador $</a:t>
            </a:r>
            <a:r>
              <a:rPr lang="pt-BR" sz="2800" dirty="0" err="1"/>
              <a:t>lt</a:t>
            </a:r>
            <a:r>
              <a:rPr lang="pt-BR" sz="2800" dirty="0"/>
              <a:t> </a:t>
            </a:r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r>
              <a:rPr lang="pt-BR" sz="2800" dirty="0"/>
              <a:t>Note que os registros com idade igual a 23 não apareceram em nenhum dos dois filtros, afinal 23 não é maior que 23, e também não é menor que 23.</a:t>
            </a:r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lógicos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37D34EE-E5DC-4A4E-A224-27DBC5DE6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364" y="2114505"/>
            <a:ext cx="6455215" cy="94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42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Para filtrar valores que são “maiores ou iguais” ou “menores ou iguais” a um determinado valor, devemos utilizar os operadores $</a:t>
            </a:r>
            <a:r>
              <a:rPr lang="pt-BR" sz="2800" dirty="0" err="1"/>
              <a:t>qte</a:t>
            </a:r>
            <a:r>
              <a:rPr lang="pt-BR" sz="2800" dirty="0"/>
              <a:t> ou $</a:t>
            </a:r>
            <a:r>
              <a:rPr lang="pt-BR" sz="2800" dirty="0" err="1"/>
              <a:t>lte</a:t>
            </a:r>
            <a:r>
              <a:rPr lang="pt-BR" sz="2800" dirty="0"/>
              <a:t> respectivamente:</a:t>
            </a:r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lógicos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23CF89D-3966-4CC4-8115-AF4FD539B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602" y="2871699"/>
            <a:ext cx="5941662" cy="156483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BD9A712-A66B-4529-92DB-880C8CEDA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1602" y="4765248"/>
            <a:ext cx="5663173" cy="144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402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Selecionar valores que estão em um conjunto de valores utilizamos o operador $in, os valores que não estão nesse conjunto utilizamos o $</a:t>
            </a:r>
            <a:r>
              <a:rPr lang="pt-BR" sz="2800" dirty="0" err="1"/>
              <a:t>nin</a:t>
            </a: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lógicos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9E905D6-0497-4C40-B690-1DB70346C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775" y="2942229"/>
            <a:ext cx="6142508" cy="142657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6DD524D-F4DD-4A80-B678-74BD18CA9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775" y="4866843"/>
            <a:ext cx="6142508" cy="665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493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Não igual (diferente) representado por $ne funciona igual o </a:t>
            </a:r>
            <a:r>
              <a:rPr lang="pt-BR" sz="2800" dirty="0" err="1"/>
              <a:t>not</a:t>
            </a:r>
            <a:r>
              <a:rPr lang="pt-BR" sz="2800" dirty="0"/>
              <a:t> in, mas recebendo apenas um valor para comparação</a:t>
            </a:r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lógicos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0252A14-A00C-4A1B-8FB2-90773860F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119" y="2861123"/>
            <a:ext cx="7055762" cy="169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35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Operador $</a:t>
            </a:r>
            <a:r>
              <a:rPr lang="pt-BR" sz="2800" dirty="0" err="1"/>
              <a:t>and</a:t>
            </a:r>
            <a:r>
              <a:rPr lang="pt-BR" sz="2800" dirty="0"/>
              <a:t> (e) todas as expressões precisam ser verdadeiras para retornar o documento</a:t>
            </a:r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lógicos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4AD2718-CEBB-4008-94DE-25247CC6F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291" y="2464228"/>
            <a:ext cx="5234000" cy="157437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4683DF1-F163-4D12-A7B0-6F8B51438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469" y="4711027"/>
            <a:ext cx="9267999" cy="76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114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Operador $</a:t>
            </a:r>
            <a:r>
              <a:rPr lang="pt-BR" sz="2800" dirty="0" err="1"/>
              <a:t>or</a:t>
            </a:r>
            <a:r>
              <a:rPr lang="pt-BR" sz="2800" dirty="0"/>
              <a:t> (ou) pelo menos uma das expressões precisa ser verdadeira para retornar o documento</a:t>
            </a:r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lógicos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7AB9FB4-CE9D-4728-B839-755BA83F0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608" y="3053780"/>
            <a:ext cx="7986764" cy="1275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951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Operador $</a:t>
            </a:r>
            <a:r>
              <a:rPr lang="pt-BR" sz="2800" dirty="0" err="1"/>
              <a:t>not</a:t>
            </a:r>
            <a:r>
              <a:rPr lang="pt-BR" sz="2800" dirty="0"/>
              <a:t> (não) inverte o resultado de parte das expressões, se tinha retornado </a:t>
            </a:r>
            <a:r>
              <a:rPr lang="pt-BR" sz="2800" dirty="0" err="1"/>
              <a:t>true</a:t>
            </a:r>
            <a:r>
              <a:rPr lang="pt-BR" sz="2800" dirty="0"/>
              <a:t> vira false e vice-versa</a:t>
            </a:r>
          </a:p>
          <a:p>
            <a:pPr>
              <a:lnSpc>
                <a:spcPct val="100000"/>
              </a:lnSpc>
            </a:pPr>
            <a:r>
              <a:rPr lang="pt-BR" sz="2800" dirty="0"/>
              <a:t>Vamos utilizar ele na idade no slide anterior, fazendo com que ele pegue todos que não são maiores que 23</a:t>
            </a:r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lógicos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38269D9-B3F1-4929-A8C8-886B89E9C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559" y="3844315"/>
            <a:ext cx="9576174" cy="137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923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Operador $</a:t>
            </a:r>
            <a:r>
              <a:rPr lang="pt-BR" sz="2800" dirty="0" err="1"/>
              <a:t>nor</a:t>
            </a:r>
            <a:r>
              <a:rPr lang="pt-BR" sz="2800" dirty="0"/>
              <a:t> (não ou) inverte o resultado de um $</a:t>
            </a:r>
            <a:r>
              <a:rPr lang="pt-BR" sz="2800" dirty="0" err="1"/>
              <a:t>or</a:t>
            </a:r>
            <a:r>
              <a:rPr lang="pt-BR" sz="2800" dirty="0"/>
              <a:t> retornando apenas os registros que são falsos em todas as expressões do comando.</a:t>
            </a:r>
          </a:p>
          <a:p>
            <a:pPr>
              <a:lnSpc>
                <a:spcPct val="100000"/>
              </a:lnSpc>
            </a:pPr>
            <a:r>
              <a:rPr lang="pt-BR" sz="2800" dirty="0"/>
              <a:t>Também serve para inverter o resultado de uma expressão completa, independente dos comandos que existem nela, vamos inverter a expressão que fizemos com o comando $</a:t>
            </a:r>
            <a:r>
              <a:rPr lang="pt-BR" sz="2800" dirty="0" err="1"/>
              <a:t>and</a:t>
            </a:r>
            <a:r>
              <a:rPr lang="pt-BR" sz="2800" dirty="0"/>
              <a:t>:</a:t>
            </a:r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lógicos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B1C13CE-1755-4876-B70B-D6B6402AE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216" y="4452846"/>
            <a:ext cx="9693946" cy="166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421359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1345</TotalTime>
  <Words>712</Words>
  <Application>Microsoft Macintosh PowerPoint</Application>
  <PresentationFormat>Widescreen</PresentationFormat>
  <Paragraphs>85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1_Tema do Office</vt:lpstr>
      <vt:lpstr>Apresentação do PowerPoint</vt:lpstr>
      <vt:lpstr>Método Find e FindOne</vt:lpstr>
      <vt:lpstr>Método Find e FindOne</vt:lpstr>
      <vt:lpstr>Método Find e FindOne</vt:lpstr>
      <vt:lpstr>Método Find e FindOne</vt:lpstr>
      <vt:lpstr>Método Find e FindOne</vt:lpstr>
      <vt:lpstr>Método Find e FindOne</vt:lpstr>
      <vt:lpstr>Operadores lógicos</vt:lpstr>
      <vt:lpstr>Operadores lógicos</vt:lpstr>
      <vt:lpstr>Operadores lógicos</vt:lpstr>
      <vt:lpstr>Operadores lógicos</vt:lpstr>
      <vt:lpstr>Operadores lógicos</vt:lpstr>
      <vt:lpstr>Operadores lógicos</vt:lpstr>
      <vt:lpstr>Operadores lógicos</vt:lpstr>
      <vt:lpstr>Operadores lógicos</vt:lpstr>
      <vt:lpstr>Operadores lógicos</vt:lpstr>
      <vt:lpstr>Operadores lógicos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Thiago Salhab Alves</dc:creator>
  <cp:lastModifiedBy>THIAGO</cp:lastModifiedBy>
  <cp:revision>31</cp:revision>
  <dcterms:created xsi:type="dcterms:W3CDTF">2019-06-26T14:54:25Z</dcterms:created>
  <dcterms:modified xsi:type="dcterms:W3CDTF">2026-03-12T16:52:22Z</dcterms:modified>
</cp:coreProperties>
</file>